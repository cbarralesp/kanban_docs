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Lst>
  <p:notesMasterIdLst>
    <p:notesMasterId r:id="rId1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485fd667-2ca0-6498-36e2-7d23a6b8278b}">
          <p14:sldIdLst>
            <p14:sldId id="256"/>
            <p14:sldId id="257"/>
          </p14:sldIdLst>
        </p14:section>
        <p14:section name="1 · Fundamentos" id="{46daced4-999a-c5fb-d26e-a7a052ceba4a}">
          <p14:sldIdLst>
            <p14:sldId id="258"/>
            <p14:sldId id="259"/>
            <p14:sldId id="260"/>
            <p14:sldId id="261"/>
          </p14:sldIdLst>
        </p14:section>
        <p14:section name="2 · Requisitos" id="{809c673e-6dca-a0bb-9d69-0128005ec21e}">
          <p14:sldIdLst>
            <p14:sldId id="262"/>
            <p14:sldId id="263"/>
            <p14:sldId id="264"/>
            <p14:sldId id="265"/>
            <p14:sldId id="266"/>
          </p14:sldIdLst>
        </p14:section>
        <p14:section name="3 · Metodologías" id="{5fd3d6c9-9544-8c89-643c-b54c05cf5fd1}">
          <p14:sldIdLst>
            <p14:sldId id="267"/>
            <p14:sldId id="268"/>
            <p14:sldId id="269"/>
            <p14:sldId id="270"/>
            <p14:sldId id="271"/>
            <p14:sldId id="272"/>
            <p14:sldId id="273"/>
            <p14:sldId id="274"/>
          </p14:sldIdLst>
        </p14:section>
        <p14:section name="4 · Modelado" id="{41a4c8f9-ed73-8c87-3989-a569e6a8b38a}">
          <p14:sldIdLst>
            <p14:sldId id="275"/>
            <p14:sldId id="276"/>
            <p14:sldId id="277"/>
            <p14:sldId id="278"/>
            <p14:sldId id="279"/>
          </p14:sldIdLst>
        </p14:section>
        <p14:section name="5 · Arquitectura" id="{b5ad22ab-26c5-fdbf-9669-a116d3ec2c45}">
          <p14:sldIdLst>
            <p14:sldId id="280"/>
            <p14:sldId id="281"/>
            <p14:sldId id="282"/>
            <p14:sldId id="283"/>
            <p14:sldId id="284"/>
            <p14:sldId id="285"/>
            <p14:sldId id="286"/>
          </p14:sldIdLst>
        </p14:section>
        <p14:section name="6 · Diseño y clean code" id="{c64f2497-95a2-86aa-f29a-c7dbc3e85658}">
          <p14:sldIdLst>
            <p14:sldId id="287"/>
            <p14:sldId id="288"/>
            <p14:sldId id="289"/>
            <p14:sldId id="290"/>
            <p14:sldId id="291"/>
            <p14:sldId id="292"/>
          </p14:sldIdLst>
        </p14:section>
        <p14:section name="7 · Pruebas" id="{f5bdbafa-5ece-8212-10af-bc96dcbf0006}">
          <p14:sldIdLst>
            <p14:sldId id="293"/>
            <p14:sldId id="294"/>
            <p14:sldId id="295"/>
            <p14:sldId id="296"/>
          </p14:sldIdLst>
        </p14:section>
        <p14:section name="8 · Git" id="{cecb220f-5a79-5a10-3cd9-470629d74089}">
          <p14:sldIdLst>
            <p14:sldId id="297"/>
            <p14:sldId id="298"/>
            <p14:sldId id="299"/>
            <p14:sldId id="300"/>
            <p14:sldId id="301"/>
          </p14:sldIdLst>
        </p14:section>
        <p14:section name="9 · DevOps" id="{7e9e821c-39b7-fed1-c4bc-2b8c2e7879f7}">
          <p14:sldIdLst>
            <p14:sldId id="302"/>
            <p14:sldId id="303"/>
            <p14:sldId id="304"/>
            <p14:sldId id="305"/>
            <p14:sldId id="306"/>
          </p14:sldIdLst>
        </p14:section>
        <p14:section name="10 · Despliegue" id="{dd31fb6b-38f5-f5a9-e36b-a6044b4f6ee2}">
          <p14:sldIdLst>
            <p14:sldId id="307"/>
            <p14:sldId id="308"/>
            <p14:sldId id="309"/>
            <p14:sldId id="310"/>
          </p14:sldIdLst>
        </p14:section>
        <p14:section name="11 · Seguridad" id="{44692df8-27af-5e9d-cff1-d1991af3031b}">
          <p14:sldIdLst>
            <p14:sldId id="311"/>
            <p14:sldId id="312"/>
            <p14:sldId id="313"/>
            <p14:sldId id="314"/>
          </p14:sldIdLst>
        </p14:section>
        <p14:section name="12 · Datos y operación" id="{a491adcc-87f9-f220-3935-5b6390359ce6}">
          <p14:sldIdLst>
            <p14:sldId id="315"/>
            <p14:sldId id="316"/>
            <p14:sldId id="317"/>
            <p14:sldId id="318"/>
          </p14:sldIdLst>
        </p14:section>
        <p14:section name="13 · Lo que suele olvidarse" id="{ba2ac9d5-1ccb-0712-54ff-04fae1d09cbb}">
          <p14:sldIdLst>
            <p14:sldId id="319"/>
            <p14:sldId id="320"/>
            <p14:sldId id="321"/>
            <p14:sldId id="322"/>
            <p14:sldId id="323"/>
            <p14:sldId id="324"/>
          </p14:sldIdLst>
        </p14:section>
        <p14:section name="Parte II" id="{a6d16d24-8f37-2b1e-1ca1-b4b21f966052}">
          <p14:sldIdLst>
            <p14:sldId id="325"/>
          </p14:sldIdLst>
        </p14:section>
        <p14:section name="14 · El proyecto" id="{232b58ea-7bbe-447a-cb96-a6f3f3d3141b}">
          <p14:sldIdLst>
            <p14:sldId id="326"/>
            <p14:sldId id="327"/>
            <p14:sldId id="328"/>
            <p14:sldId id="329"/>
            <p14:sldId id="330"/>
          </p14:sldIdLst>
        </p14:section>
        <p14:section name="15 · Del requisito al código" id="{baed48eb-f24b-3c1a-099c-bbd87d033ee4}">
          <p14:sldIdLst>
            <p14:sldId id="331"/>
            <p14:sldId id="332"/>
            <p14:sldId id="333"/>
            <p14:sldId id="334"/>
            <p14:sldId id="335"/>
          </p14:sldIdLst>
        </p14:section>
        <p14:section name="16 · Backend" id="{bb1b6025-5432-7824-2f16-8f896c8c0a4a}">
          <p14:sldIdLst>
            <p14:sldId id="336"/>
            <p14:sldId id="337"/>
            <p14:sldId id="338"/>
            <p14:sldId id="339"/>
            <p14:sldId id="340"/>
            <p14:sldId id="341"/>
            <p14:sldId id="342"/>
            <p14:sldId id="343"/>
          </p14:sldIdLst>
        </p14:section>
        <p14:section name="17 · Base de datos" id="{577dae59-a7cb-d51d-1db8-3359fe210747}">
          <p14:sldIdLst>
            <p14:sldId id="344"/>
            <p14:sldId id="345"/>
            <p14:sldId id="346"/>
            <p14:sldId id="347"/>
          </p14:sldIdLst>
        </p14:section>
        <p14:section name="18 · Frontend" id="{2ee07246-cadd-6ffe-1e06-eab3e5b161fd}">
          <p14:sldIdLst>
            <p14:sldId id="348"/>
            <p14:sldId id="349"/>
            <p14:sldId id="350"/>
            <p14:sldId id="351"/>
            <p14:sldId id="352"/>
          </p14:sldIdLst>
        </p14:section>
        <p14:section name="19 · Calidad" id="{c95af009-611f-bcbb-df66-85b8c18573b2}">
          <p14:sldIdLst>
            <p14:sldId id="353"/>
            <p14:sldId id="354"/>
            <p14:sldId id="355"/>
            <p14:sldId id="356"/>
          </p14:sldIdLst>
        </p14:section>
        <p14:section name="20 · Trabajo en equipo" id="{b2bb156d-739d-46c5-e6e9-ecf72cc09c82}">
          <p14:sldIdLst>
            <p14:sldId id="357"/>
            <p14:sldId id="358"/>
            <p14:sldId id="359"/>
            <p14:sldId id="360"/>
          </p14:sldIdLst>
        </p14:section>
        <p14:section name="21 · Producción y ruta" id="{a84b87ce-5232-3c12-060b-87e3b03c10ab}">
          <p14:sldIdLst>
            <p14:sldId id="361"/>
            <p14:sldId id="362"/>
            <p14:sldId id="363"/>
            <p14:sldId id="364"/>
            <p14:sldId id="365"/>
            <p14:sldId id="366"/>
            <p14:sldId id="367"/>
            <p14:sldId id="368"/>
            <p14:sldId id="369"/>
            <p14:sldId id="370"/>
          </p14:sldIdLst>
        </p14:section>
        <p14:section name="Fuentes" id="{51fa97c5-6a5b-ce36-0e48-9fb921075a72}">
          <p14:sldIdLst>
            <p14:sldId id="37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notesMaster" Target="notesMasters/notesMaster1.xml"/><Relationship Id="rId120" Type="http://schemas.openxmlformats.org/officeDocument/2006/relationships/presProps" Target="presProps.xml"/><Relationship Id="rId121" Type="http://schemas.openxmlformats.org/officeDocument/2006/relationships/viewProps" Target="viewProps.xml"/><Relationship Id="rId122" Type="http://schemas.openxmlformats.org/officeDocument/2006/relationships/theme" Target="theme/theme1.xml"/><Relationship Id="rId1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única que reúne la ruta docente, la clase 3 del Kanban y la ingeniería de software con diagramas. Parte I: el desarrollo de software en general, sección por sección. Parte II: cómo cada tema se aplica al proyecto Kanban que construimos. No es necesario dictarla completa en una sesión: cada sección funciona como bloque independiente.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Parte I explica la teoría de cada área del desarrollo de software. La Parte II aplica esa misma teoría al tablero Kanban (backend Spring Boot, base PostgreSQL y frontend Angular). Cada sección abre con una diapositiva oscura con su número.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software no se evalúa solo porque compila. Separar la calidad funcional (hace lo pedido) de los atributos de calidad (cómo lo hace). Ejemplo del Kanban: impedir la cuarta tarea en curso es una regla (corrección); explicar el 409 con un mensaje claro es una cualidad del contrato; poder restaurar la base es una capacidad operativa.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metodologías recorren estas fases. Lo que cambia es cuántas veces se da la vuelta: una sola vez y larga (cascada) o muchas vueltas cortas (ágil). El ciclo es iterativo: lo aprendido en operación genera nuevos requisitos.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Basado en las áreas de conocimiento de SWEBOK (IEEE Computer Society). Sirve como mapa: un desarrollador profesional necesita al menos nociones de todas, aunque se especialice en una o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la necesidad de la solución técnica. "Usar Java 21" es una restricción del curso, no una necesidad del usuario. Declarar explícitamente lo que queda fuera de alcance evita malentendidos: cambiar esas fronteras exige historias nuevas.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historia comunica la necesidad y el beneficio. El criterio de aceptación la convierte en un comportamiento verificable. El formato Dado-Cuando-Entonces (Gherkin) precisa contexto, acción y resultado y se traduce casi directo a una prueba automatizada. No todas las historias necesitan ese formato.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"Debe ser rápido" no es un requisito. Hay que definir escenario, carga, entorno, medida y umbral, y acordarlos con los interesados: no se deducen del framework. Un atributo de calidad puede cambiar la arquitectura: una regla global (como un cupo) bajo concurrencia exige coordinar transacciones aunque el endpoint sea pequeño.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Seguir un requisito hasta su verificación evita que el diseño quede desconectado y permite saber qué pruebas cambiar cuando cambia una regla. En la Parte II aplicamos esta cadena a la regla del límite de 3 tareas en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Cascada recorre las fases una vez, en orden, con requisitos fijos. Funciona cuando el problema es estable y conocido (por ejemplo, obras con normas). Ágil trabaja en iteraciones cortas y entrega incrementos usables para descubrir errores temprano. La agilidad no equivale a improvisar ni a eliminar la documentación.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Publicado en 2001. Valora más lo de la izquierda, sin negar el valor de lo de la derecha. Además define 12 principios, como entregar software funcionando frecuentemente, aceptar cambios y mantener un ritmo sostenible. Fuente: agilemanifesto.org/iso/es/manifesto.html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es un marco ligero para problemas complejos (Scrum Guide 2020). El Scrum Master no es un jefe que asigna tareas: ayuda al equipo a ser efectivo. Cada artefacto tiene un compromiso: Product Backlog → Product Goal; Sprint Backlog → Sprint Goal; Incremento → Definition of Done. Fuente: scrumguides.org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Sprint dura un mes o menos y contiene todos los eventos. La Daily dura 15 minutos y la hacen los Developers para inspeccionar el avance hacia el objetivo. La Review mira el producto con los interesados; la Retrospectiva mira el proceso. En el curso se puede simular un Sprint de una semana: si se omiten eventos, llamarlo adaptación didáctica.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Kanban (Kanban Guide 2025) gestiona el flujo de valor. WIP = trabajo en progreso. Tiempo de ciclo: desde que se inicia hasta que termina una tarea. Throughput: tareas terminadas por unidad de tiempo. Antigüedad: cuánto lleva abierta una tarea iniciada. El límite de 3 del proyecto es una política del ejercicio, no una regla universal de Kanban.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son alternativas equivalentes: Agile expresa valores, Scrum es un marco, Kanban una estrategia de flujo y XP un conjunto de prácticas técnicas. Se combinan: muchos equipos usan Scrum con un tablero Kanban y prácticas de XP. Un tablero visual por sí solo no demuestra agilidad.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Definition of Done es un estándar de calidad común a todas las historias; los criterios de aceptación son específicos de cada historia. Para estimar se usan puntos de historia (esfuerzo relativo) y Planning Poker. La velocidad sirve para planificar, no para comparar equipos. Nunca medir productividad por líneas de código o cantidad de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trata de dibujar por cumplir. UML ofrece notaciones de estructura y comportamiento; C4 ofrece niveles de zoom para la arquitectura. Escoger el mínimo modelo que aclare una decisión y mantenerlo coherente con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 qué necesita poder hacer el usuario. El actor es un rol externo. Cada óvalo es un objetivo, nombrado con un verbo. «include» incorpora el comportamiento de otro caso; «extend» añade comportamiento bajo una condición en un punto de extensión definido. Frecuencia u opcionalidad por sí solas no deciden la relación, y un error no es automáticamente una extensión: suele documentarse como flujo alternativo. Fuente: OMG UML 2.5.1.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(Simon Brown) describe la arquitectura con cuatro niveles, como un mapa con zoom. Un "contenedor" C4 es una unidad ejecutable o un almacén de datos (una app web, una API, una base de datos); no significa necesariamente Docker. Fuente: c4model.com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Clases: estructura estática; atributos, métodos y relaciones (asociación, herencia, realización de interfaces). Secuencia: mensajes entre participantes en orden temporal; muestra también los caminos de error. Estados: los estados de un objeto y las transiciones permitidas, con guardas entre corchetes, por ejemplo [hay cupo].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es el conjunto de decisiones estructurales que son costosas de revertir. Se elige por requisitos, riesgos, capacidad del equipo y reversibilidad, no por prestigio ni por plantilla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Capas (MVC): el punto de partida correcto para CRUD y negocio simple o mediano. Hexagonal (Alistair Cockburn): el dominio en el centro; HTTP y base de datos son adaptadores intercambiables. Clean Architecture (Robert C. Martin): círculos concéntricos con dependencias hacia adentro. DDD (Eric Evans): modelar con el lenguaje del negocio y dividir en contextos delimitados.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capas, el service depende directamente del repository JPA. En hexagonal, el núcleo define un puerto (interfaz) y la infraestructura lo implementa: las dependencias de código apuntan hacia el núcleo, aunque la ejecución vaya hacia afuera. Una figura hexagonal no demuestra desacoplamiento: las importaciones y las pruebas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Empieza con un monolito bien modularizado. Separa en microservicios solo con un motivo medible: un equipo grande que necesita desplegar de forma independiente o una parte que debe escalar sola. Los microservicios distribuyen las transacciones y exigen observabilidad madura.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modela recursos (sustantivos) manipulados con verbos HTTP. Un buen contrato es predecible: mismos formatos, códigos correctos y errores uniformes. Versionar evita romper a los clientes existentes. Alternativas a REST: GraphQL (el cliente elige campos) y gRPC (binario y rápido entre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Architecture Decision Record es un documento breve (una página) que registra por qué se tomó una decisión: fecha, estado, contexto, decisión, alternativas y consecuencias. Se guarda en el repositorio (docs/adr/0001-...md). No hace falta uno por cada detalle: solo para decisiones costosas de revertir.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DRY no significa eliminar toda repetición de código parecido: significa no duplicar conocimiento (una regla en un solo lugar). KISS y YAGNI combaten la sobreingeniería. Cohesión: lo que cambia junto, vive junto. Acoplamiento: cuánto depende un módulo de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SRP trata de razones de cambio, no de que una clase tenga un solo método. OCP se evalúa ante cambios previsibles, no significa nunca modificar código. LSP exige respetar el contrato de comportamiento. ISP evita depender de métodos innecesarios. DIP orienta dependencias hacia abstracciones adecuadas; la inyección por constructor es un mecanismo, no la prueba del principio.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Basado en Clean Code (Robert C. Martin) y Refactoring (Martin Fowler). Lo importante es la intención visible, no reglas absolutas de longitud: no extraer métodos que escondan la lógica ni imponer números arbitrarios de líneas.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code smell es una señal de un problema de diseño, no un error. Refactorizar es cambiar la estructura sin cambiar el comportamiento, en pasos pequeños y siempre protegido por pruebas. Sin pruebas, refactorizar es adivinar.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patrones GoF (Gamma, Helm, Johnson, Vlissides, 1994) son soluciones probadas a problemas recurrentes. Un patrón se justifica por el problema que resuelve, no por cuántos aparecen. Antes de agregar Strategy o State, preguntar qué variación concreta resuelven. Además existen patrones de aplicación empresarial (Fowler): Service Layer, Repository, DTO, Data Mapper.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pruebas unitarias (rápidas, aisladas), algunas de integración (con base de datos y HTTP reales) y pocas de extremo a extremo (lentas y frágiles). La forma de pirámide equilibra velocidad, costo y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prueba de contrato o web verifica rutas, JSON, validaciones y códigos HTTP sin lógica real (en Spring: @WebMvcTest). Las de regresión aseguran que lo que funcionaba siga funcionando: normalmente es la suite automática completa ejecutada en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TDD: escribir primero una prueba que falla (rojo), luego el código mínimo que la pasa (verde) y después refactorizar. La cobertura (JaCoCo) es un indicador parcial: 100 % de líneas ejecutadas con aserciones débiles no demuestra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es un control de versiones distribuido: cada copia tiene la historia completa. Merge conserva la historia real con un commit de unión; rebase reescribe los commits para dejar una historia lineal. Regla: nunca hacer rebase de commits ya compartidos con otras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Flow es la más usada y la recomendada para el curso: main siempre desplegable, ramas cortas y PR. Git Flow sirve para productos con versiones formales, pero es más pesada. Trunk-based exige mucha automatización y feature flags para esconder lo incompleto.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code review es una de las prácticas que más mejora la calidad: detecta errores, difunde el conocimiento y mantiene un estilo común. Un buen PR es pequeño y explica qué cambia, por qué y cómo se probó. Una aprobación automática no reemplaza revisar reglas ni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Conventional Commits (conventionalcommits.org) da un formato que permite generar changelogs y versiones automáticamente. SemVer (semver.org): subir MAYOR al romper compatibilidad, MENOR al agregar funciones compatibles y PARCHE al corregir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DevOps busca derribar el muro entre quien desarrolla y quien opera. El modelo CALMS resume sus pilares. Comprar herramientas no hace DevOps si el equipo sigue trabajando en silos. Métricas DORA para medir la entrega: frecuencia de despliegue, tiempo de entrega de cambios, tasa de fallos de cambios y tiempo de recuperación.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integrar cambios con frecuencia y verificar cada uno automáticamente. Entrega continua: cada versión que pasa queda lista para desplegar con un clic (aprobación manual). Despliegue continuo: se publica sola a producción si pasa todo. Para una primera experiencia docente conviene la entrega continua con aprobación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imagen empaqueta la aplicación con su entorno (por ejemplo, el JDK 21 y el JAR). Un contenedor es una imagen en ejecución. Detalle clave: dentro de un contenedor, localhost apunta al propio contenedor, no a la base del host; en Compose se usa el nombre del servicio (db). Ejecutar sin root y pasar la configuración por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Twelve-Factor App (12factor.net): la configuración vive en el entorno, no en el código; la misma imagen pasa por todos los ambientes. Infraestructura como código (Terraform, Ansible): servidores, redes y bases definidos en archivos versionados y revisables, en vez de configurarlos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IaaS: tú administras el sistema operativo. PaaS: subes el código y ellos lo ejecutan. Contenedores gestionados: subes una imagen. Para el frontend compilado basta un hosting estático con CDN. Una base de datos gestionada (respaldos, actualizaciones) casi siempre conviene más que instalarla en un servidor propio. Revisar precios y límites vigentes antes de cada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DNS traduce el dominio a una IP. El proxy inverso (Nginx, Traefik o el del proveedor) termina HTTPS y reparte el tráfico. El balanceador permite varias instancias, lo que exige que la aplicación no guarde estado en memoria (stateless). La base de datos queda en red privada: el navegador nunca recibe credenciales de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Desplegar sin cortar el servicio requiere una estrategia. Siempre conservar la imagen anterior para volver atrás. Ojo: revertir la aplicación no revierte una migración destructiva de datos; por eso los cambios de esquema se hacen en dos fases (expandir primero, retirar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del proyecto OWASP (owasp.org/Top10), edición 2021. Revisar la edición vigente al dictar la clase. Los dos más frecuentes en proyectos reales: control de acceso roto (un usuario ve datos de otro) e inyección (concatenar entradas en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Autenticación: quién eres. Autorización: qué puedes hacer. Un login no basta: hay que verificar en cada operación que el usuario A no accede a los recursos del usuario B (propiedad del recurso). Contraseñas siempre con hash lento (bcrypt, Argon2), nunca en texto plano. En Spring: Spring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CORS es una política del navegador: no impide que otro cliente (curl, Postman, un script) llame a una API pública, así que no reemplaza la autenticación. Si un secreto llega al repositorio, hay que rotarlo: borrar el commit no basta porque el historial y las copias lo conservan.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restricciones (NOT NULL, CHECK, UNIQUE, claves foráneas) protegen los datos incluso fuera de la API. Una transacción agrupa cambios que se confirman juntos; el nivel de aislamiento determina qué ve cada transacción de las demás. Un respaldo que nunca se restauró no es un respaldo. En Chile, los datos personales se rigen por la Ley 19.628 y la Ley 21.719, que la moderniza.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estructurados y centralizados (ELK, Grafana Loki), métricas (Prometheus, Grafana; en Spring Boot: Actuator con Micrometer), trazas distribuidas (OpenTelemetry) y alertas que avisan antes que el usuario. Los endpoints de salud deben exponerse y protegerse de forma intencional. Cada incidente genera requisitos y pruebas nuevas.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Medir antes de optimizar: usar percentiles (p95, p99) y no solo promedios. Escalar verticalmente es usar una máquina más grande (simple pero con techo). Escalar horizontalmente es agregar instancias, lo que exige que la app sea stateless y que la base soporte la 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Accesibilidad (pautas WCAG del W3C): navegación con teclado, lectores de pantalla, contraste suficiente y alternativas a interacciones como arrastrar y soltar. Internacionalización (i18n): idiomas, formatos de fecha y moneda. Un buen mensaje de error dice qué pasó y qué puede hacer el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deuda técnica son los atajos que se toman hoy y cuestan después: hay que reconocerla, registrarla y pagarla de a poco. El análisis estático (SonarQube o SonarCloud, Checkstyle, ESLint) encuentra problemas sin ejecutar el código y puede ser una puerta de calidad en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Licencias: MIT y Apache 2.0 son permisivas; GPL obliga a liberar el código derivado bajo GPL. Revisar las licencias de las dependencias antes de distribuir. Con asistentes de IA: quien entrega el código es responsable de él; debe poder explicarlo, validarlo y corregirlo. No pegar secretos ni datos personales en herramientas externas.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habilidades blandas son técnicas de trabajo: un proyecto falla más por mala comunicación que por un mal algoritmo. Revisar código de otros con respeto, estimar con honestidad y documentar para el siguiente son parte del trabajo profesional.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toda la Parte I. Ninguna capa es opcional en un producto real, aunque en un curso se aborden por etapas.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partir de aquí, cada sección toma la teoría de la Parte I y la muestra en el código del proyecto clase-03-crud. Tener abierto el repositorio para seguir los ejemplos.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un ejemplo cercano: estudiar para varias evaluaciones a la vez. El estado describe el avance; la prioridad indica importancia. Una prioridad ALTA no permite saltarse reglas. Alcance: un tablero compartido sin autenticación, adecuado para laboratorio con datos ficticios. Fuera de alcance: login, varios tableros y orden manual de tarjetas.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Transiciones permitidas: POR_HACER → EN_CURSO, EN_CURSO → POR_HACER o HECHA, HECHA → EN_CURSO. Toda entrada a EN_CURSO verifica el cupo, incluso desde HECHA. Mover a la misma columna o saltar dos columnas devuelve 409. El número 3 es una política de esta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Angular se ejecuta en el navegador; en desarrollo, su proxy reenvía /api al backend en el puerto 8083, por eso no depende de CORS. Spring Boot expone la API REST y PostgreSQL persiste. Puertos elegidos para poder tener la clase 02 y la 03 corriendo a la vez. La ubicación productiva todavía no está definida.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kanban-backend-base trae pom.xml, application.yml, migraciones, la clase principal y un package-info.java con TODO por paquete: arranca tal cual con Swagger vacío. La guía paso a paso se genera desde los archivos reales, por lo que sus bloques de código coinciden con el proyecto terminado.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objetivos del usuario: ver, crear, editar, mover y eliminar. Las validaciones y los rechazos (cupo, salto, tarea hecha) se documentan como flujos alternativos de cada caso, no como óvalos separados. Confirmar la eliminación es una interacción de la interfaz dentro del caso de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al grupo que transforme una frase vaga ("el tablero debe funcionar") en ejemplos observables. Escenario adicional para trabajar en parejas: editar una tarea HECHA devuelve 409 sin modificar título, prioridad, descripción ni fecha límite.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Seguir la regla hasta su verificación. El test existente comprueba la regla de forma secuencial usando mocks. La garantía con solicitudes simultáneas sigue pendiente y necesita otra prueba, contra una base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esta clase el riesgo más concreto es la integridad concurrente del cupo. Para uso público falta autorización. Los objetivos de rendimiento no se inventan: se acuerdan con los interesados y se miden en un entorno definido.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controller usa TareaService (interfaz), implementado por TareaServiceImpl. El service coordina repository y mapper y concentra las reglas. La Entity es un objeto persistente, no una capa de ejecución. Es una arquitectura por capas sobre Spring MVC; todavía no es hexagonal porque la lógica depende de JPA y de DTO concretos.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Paquete raíz cl.ipss.kanban. Cada paquete corresponde a un paso de la guía. Java puro: entidades con constructor vacío y getters/setters escritos a mano; el id y las fechas no tienen setter porque las maneja JPA; los logs se declaran con LoggerFactory, sin @Slf4j.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@NotBlank rechaza nulo, vacío y solo espacios; @Size limita la longitud; @NotNull exige la prioridad. Un enum desconocido falla al leer el JSON (400). En cambio, el cupo y el estado actual exigen consultar datos: corresponden al service (409). La fecha límite acepta valores pasados porque no existe @FutureOrPresent: no enseñar esa prohibición como requisito.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Vista simplificada: se omite el mapper y el proxy transaccional. El service obtiene la tarea, valida la transición, consulta el cupo, cambia el estado y guarda. La infraestructura transaccional confirma (commit) antes de la respuesta exitosa, aunque save no ejecute el SQL en ese instante.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countByEstado devuelve 3, el service lanza LimiteEnCursoExcedidoException sin llamar a save. Spring MVC resuelve la excepción mediante GlobalExceptionHandler, que construye el ApiError y la respuesta 409: el controller no llama al handler manualmente. El cliente muestra la causa y conserva el estado del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Fragmento de TareaServiceImpl.mover. ordinal() devuelve la posición de la constante en el enum y permite expresar "contigua" de forma breve. Su costo: si alguien reordena las constantes o agrega BLOQUEADA en medio, la regla cambia en silencio. En la sección 19 se propone una versión con transiciones explícitas.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errores (400, 404, 409, 500) se documentan una sola vez con @ResponseStatus en el @RestControllerAdvice; en el controller solo hay @Operation y @ApiResponse para 201 y 204. Logs: formato --- texto: {} ---, en inglés y sin datos sensibles. El controller registra start/response/end; el service info al recibir y terminar, y warn al rechazar. Revisar: el log de la respuesta completa incluye títulos y descripciones.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sola tabla de negocio. NOT NULL y CHECK protegen los valores incluso fuera de la API, pero un CHECK no garantiza que el total de filas EN_CURSO sea como máximo 3: eso requiere coordinar filas distintas. Los timestamps no son un historial de cambios: para medir tiempo de ciclo haría falta una tabla de transiciones.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Flyway guarda en flyway_schema_history lo aplicado con un checksum de cada archivo. Si se edita una migración ya aplicada, el arranque falla. Los cambios van en archivos nuevos. En producción: expandir primero y retirar después, para que la versión anterior de la app siga funcionando durante el despliegue. No actualizar checksums para ocultar divergencias.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Riesgo inferido del código y del aislamiento por defecto (READ COMMITTED), no reproducido aún en una prueba. A y B cuentan 2 antes de que ninguna confirme; ambas admiten y se llega a 4. @Transactional no convierte las operaciones en una cola. @Version protege conflictos sobre una misma fila, no un máximo entre filas distintas. Fuente: postgresql.org/docs/current/transaction-iso.html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Misma organización que la clase 02: core (lo que conoce la API), shared (componentes reutilizables) y features (pantallas del dominio). Componentes standalone, zoneless, signals y pruebas con Vitest y HttpTestingController.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páginas leen signals y llaman métodos; nunca hablan con la API. computed se recalcula solo cuando cambian las tareas. Cada operación devuelve Observable&lt;void&gt; que emite solo si salió bien: así la página cierra el formulario únicamente en caso de éxito. Si el servidor responde 409, el toast muestra el mensaje y el tablero queda como estaba.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Angular CDK ni otra dependencia. La tarjeta es draggable y en dragstart guarda su id en dataTransfer. La columna escucha dragover y llama preventDefault(): sin esto el navegador no permite soltar. En drop se lee el id y se llama al store. Los botones ← → son la alternativa accesible (teclado y celular). La API aplica las reglas aunque se omita Angular.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Verificado en el navegador a 1366, 1024, 800 y 375 px sin scroll lateral. El truco: grid-template-columns: repeat(3, minmax(0, 1fr)); el minmax(0, …) permite que las columnas se encojan. Bajo 800 px se apilan en una columna.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Ejecutadas con Java 21.0.10: 20 pruebas del backend sin fallos y 8 del store Angular. Las pruebas web reemplazan el service y las del service reemplazan el repository: por eso no prueban las migraciones, el motor SQL ni las carreras. No presentar este resultado como validación de punta a punta.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propuesta expresa las transiciones permitidas y no depende del orden del enum. Debe conservar exactamente el comportamiento y venir con pruebas parametrizadas de los 9 pares posibles: 4 válidos y 5 inválidos. El cupo se prueba por separado. Esta refactorización es un ejercicio propuesto; no se aplicó al backend de referencia.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15 minutos. Uno escribe la prueba y el otro revisa el escenario; luego intercambian. Solución esperada: findById devuelve una tarea HECHA, countByEstado devuelve 3L, assertThrows valida la excepción y verify(repository, never()).save(any()) asegura que no hubo escritura. No hace falta cambiar el código de producción si la prueba confirma la regla.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una propuesta de proceso, distinta de los tres estados del producto Kanban. Definir cómo entra y sale una tarea de cada columna, sus límites y cómo se tratan los bloqueos. La columna de revisión necesita capacidad y responsable. Una tarea con código pero sin pruebas o sin revisión no cumple la Definition of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Equipos de 3 o 4 alumnos. Rotar quién implementa, revisa y demuestra, sin convertirlo en silos permanentes. El PR debe explicar qué cambia y cómo se probó. Los desarrolladores siguen siendo responsables del código generado con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Propuesta didáctica: Sprint de una semana con un objetivo concreto, por ejemplo "mover tareas con rechazos comprensibles". El docente puede representar al interesado y orientar el rol de Product Owner. Cerrar la sesión con una revisión del producto y luego una retrospectiva del proceso, distinguiendo ambas conversaciones.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backend actual no incluye Spring Security. Antes de un uso real: autorización por tablero y no solo login (verificar que el usuario A no acceda al tablero del usuario B). Separar perfil local y de producción; en producción, fallar claramente si falta un secreto en vez de usar las claves de laboratorio. Reducir el log de SQL en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Propuesta, todavía no incluida en el repositorio. Cada push y PR prepara un JDK 21, usa Maven Wrapper y ejecuta verify. En un repositorio con varias carpetas se define working-directory. Verificar el permiso de ejecución de mvnw en Linux. El proyecto no tiene configuradas pruebas de integración con Failsafe: verify no las inventa. Fuente: docs.github.com (Java con Maven).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Propuesta para una clase siguiente. Evita instalar PostgreSQL y crear usuarios a mano. Detalle clave: dentro del contenedor del backend, DB_HOST es "db" (el nombre del servicio), no localhost. Requiere además un Dockerfile para el backend (build del JAR con Java 21 y ejecución sin root). Un volumen conserva los datos de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Vista futura, no recursos creados. Angular puede publicarse en Vercel. Spring Boot necesita un host Java, como un Droplet de DigitalOcean: Vercel no ofrece Java entre sus runtimes oficiales de Functions. PostgreSQL puede estar en Supabase, conectado por JDBC con TLS. Supabase Free puede pausar proyectos inactivos; DigitalOcean tiene costo. Revisar precios y condiciones vigentes. Fuentes: vercel.com/docs, supabase.com/docs, digitalocean.com/pricing.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prometer un despliegue público completo gratuito solo con Vercel y Supabase: falta alojar el backend Java. Para conectar Java a Supabase: copiar la conexión desde el panel Connect, elegir conexión directa o pooler de sesión según la red (IPv4), configurar JDBC con TLS y un pool de conexiones acotado, y mantener credenciales y migraciones en el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Supuesto: sesiones de 120 minutos con trabajo autónomo entre clases; ajustar al calendario. Clase 3: API con estados. Clase 4: PR revisado. Clase 5: integración SQL. Clase 6: refactorización con pruebas. Clase 7: proteger el acceso. Clase 8: CI y Docker. Clase 9: desplegar y restaurar. Clase 10: demostrar una historia completa. El aprendizaje se evidencia por entregas, no por cantidad de herramientas.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Prioridad según el aprendizaje: primero lo que da más evidencia con menos complejidad. El control de concurrencia se resuelve con un bloqueo de fila común o con SERIALIZABLE y reintentos; @Version por sí solo no protege el máximo global entre tareas distintas.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Rúbrica propuesta, ajustable a la pauta oficial del curso. Solicitar una defensa individual breve para distinguir comprensión de copia: pedir al alumno que cambie una condición pequeña y explique qué pruebas deben variar. Una ayuda de IA debe poder ser explicada, validada y corregida por quien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salida: una respuesta de dos frases por tema. Respuestas clave: la validación comprueba forma y restricciones locales, la regla considera el estado del negocio; el service decide; un mock verifica la lógica aislada pero no la base real; el criterio aporta contexto, acción y resultado que guían la preparación, la ejecución y las aserciones de la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verificadas al preparar el material (25-10-2026). Revisar versiones, precios y condiciones de las plataformas antes de cada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Recordar el repositorio, las guías paso a paso (GUIA-COMPLETA-PASO-A-PASO.md y 08-guia-angular-paso-a-paso.md) y la ruta de clases.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11094415" cy="411480"/>
          </a:xfrm>
          <a:prstGeom prst="rect">
            <a:avLst/>
          </a:prstGeom>
          <a:noFill/>
          <a:ln/>
        </p:spPr>
        <p:txBody>
          <a:bodyPr wrap="square" rtlCol="0"/>
          <a:lstStyle>
            <a:lvl1pPr indent="0" marL="0">
              <a:buNone/>
              <a:defRPr lang="en-US" sz="1600" b="1" spc="2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548640" y="1874520"/>
            <a:ext cx="8595360" cy="17373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548640" y="3749040"/>
            <a:ext cx="9601200" cy="1463040"/>
          </a:xfrm>
          <a:prstGeom prst="rect">
            <a:avLst/>
          </a:prstGeom>
          <a:noFill/>
          <a:ln/>
        </p:spPr>
        <p:txBody>
          <a:bodyPr wrap="square" rtlCol="0"/>
          <a:lstStyle>
            <a:lvl1pPr indent="0" marL="0">
              <a:buNone/>
              <a:defRPr lang="en-US" sz="2200" dirty="0">
                <a:solidFill>
                  <a:srgbClr val="D6DEEA"/>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lvl1pPr indent="0" marL="0">
              <a:buNone/>
              <a:defRPr lang="en-US" sz="8000" b="1" dirty="0">
                <a:solidFill>
                  <a:schemeClr val="accent1"/>
                </a:solidFill>
              </a:defRPr>
            </a:lvl1pPr>
          </a:lstStyle>
          <a:p>
            <a:pPr indent="0" marL="0">
              <a:buNone/>
            </a:pP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lstStyle>
            <a:lvl1pPr indent="0" marL="0">
              <a:buNone/>
              <a:defRPr lang="en-US" sz="2000" dirty="0">
                <a:solidFill>
                  <a:srgbClr val="D6DEEA"/>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6B7385"/>
                </a:solidFill>
              </a:rPr>
              <a:t>Desarrollo de Software II · IPSS</a:t>
            </a:r>
            <a:endParaRPr lang="en-US" sz="1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11094415" cy="411480"/>
          </a:xfrm>
          <a:prstGeom prst="rect">
            <a:avLst/>
          </a:prstGeom>
          <a:noFill/>
          <a:ln/>
        </p:spPr>
        <p:txBody>
          <a:bodyPr wrap="square" rtlCol="0"/>
          <a:lstStyle/>
          <a:p>
            <a:pPr indent="0" marL="0">
              <a:buNone/>
            </a:pPr>
            <a:r>
              <a:rPr lang="en-US" sz="1600" b="1" spc="200" kern="0" dirty="0">
                <a:solidFill>
                  <a:schemeClr val="accent1"/>
                </a:solidFill>
              </a:rPr>
              <a:t>IPSS · DESARROLLO DE SOFTWARE II</a:t>
            </a:r>
            <a:endParaRPr lang="en-US" sz="1600" dirty="0"/>
          </a:p>
        </p:txBody>
      </p:sp>
      <p:sp>
        <p:nvSpPr>
          <p:cNvPr id="3" name="Text 0"/>
          <p:cNvSpPr/>
          <p:nvPr>
            <p:ph idx="101" type="title" hasCustomPrompt="1"/>
          </p:nvPr>
        </p:nvSpPr>
        <p:spPr>
          <a:xfrm>
            <a:off x="548640" y="1874520"/>
            <a:ext cx="8595360" cy="1737360"/>
          </a:xfrm>
          <a:prstGeom prst="rect">
            <a:avLst/>
          </a:prstGeom>
          <a:noFill/>
          <a:ln/>
        </p:spPr>
        <p:txBody>
          <a:bodyPr wrap="square" rtlCol="0" anchor="t"/>
          <a:lstStyle/>
          <a:p>
            <a:pPr algn="l" indent="0" marL="0">
              <a:buNone/>
            </a:pPr>
            <a:r>
              <a:rPr lang="en-US" sz="5400" b="1" dirty="0">
                <a:solidFill>
                  <a:schemeClr val="bg1"/>
                </a:solidFill>
              </a:rPr>
              <a:t>Desarrollo de software</a:t>
            </a:r>
            <a:endParaRPr lang="en-US" sz="5400" dirty="0"/>
          </a:p>
        </p:txBody>
      </p:sp>
      <p:sp>
        <p:nvSpPr>
          <p:cNvPr id="4" name="Text 0"/>
          <p:cNvSpPr/>
          <p:nvPr>
            <p:ph idx="102" type="body" hasCustomPrompt="1"/>
          </p:nvPr>
        </p:nvSpPr>
        <p:spPr>
          <a:xfrm>
            <a:off x="548640" y="3749040"/>
            <a:ext cx="9601200" cy="1463040"/>
          </a:xfrm>
          <a:prstGeom prst="rect">
            <a:avLst/>
          </a:prstGeom>
          <a:noFill/>
          <a:ln/>
        </p:spPr>
        <p:txBody>
          <a:bodyPr wrap="square" rtlCol="0" anchor="t"/>
          <a:lstStyle/>
          <a:p>
            <a:pPr indent="0" marL="0">
              <a:buNone/>
            </a:pPr>
            <a:r>
              <a:rPr lang="en-US" sz="2200" dirty="0">
                <a:solidFill>
                  <a:srgbClr val="D6DEEA"/>
                </a:solidFill>
              </a:rPr>
              <a:t>Teoría, buenas prácticas y su aplicación al proyecto Kanban</a:t>
            </a:r>
            <a:endParaRPr lang="en-US" sz="2200" dirty="0"/>
          </a:p>
          <a:p>
            <a:pPr indent="0" marL="0">
              <a:buNone/>
            </a:pPr>
            <a:r>
              <a:rPr lang="en-US" sz="2200" dirty="0">
                <a:solidFill>
                  <a:srgbClr val="D6DEEA"/>
                </a:solidFill>
              </a:rPr>
              <a:t>Java 21 · Spring Boot 3.5 · PostgreSQL 18 · Angular 21</a:t>
            </a:r>
            <a:endParaRPr lang="en-US" sz="2200" dirty="0"/>
          </a:p>
        </p:txBody>
      </p:sp>
      <p:sp>
        <p:nvSpPr>
          <p:cNvPr id="5" name="motivo-1"/>
          <p:cNvSpPr/>
          <p:nvPr/>
        </p:nvSpPr>
        <p:spPr>
          <a:xfrm>
            <a:off x="9464040" y="548640"/>
            <a:ext cx="640080" cy="1737360"/>
          </a:xfrm>
          <a:prstGeom prst="roundRect">
            <a:avLst>
              <a:gd name="adj" fmla="val 11429"/>
            </a:avLst>
          </a:prstGeom>
          <a:solidFill>
            <a:schemeClr val="accent1"/>
          </a:solidFill>
          <a:ln/>
        </p:spPr>
      </p:sp>
      <p:sp>
        <p:nvSpPr>
          <p:cNvPr id="6" name="motivo-2"/>
          <p:cNvSpPr/>
          <p:nvPr/>
        </p:nvSpPr>
        <p:spPr>
          <a:xfrm>
            <a:off x="10241280" y="548640"/>
            <a:ext cx="640080" cy="1325880"/>
          </a:xfrm>
          <a:prstGeom prst="roundRect">
            <a:avLst>
              <a:gd name="adj" fmla="val 11429"/>
            </a:avLst>
          </a:prstGeom>
          <a:solidFill>
            <a:schemeClr val="accent2"/>
          </a:solidFill>
          <a:ln/>
        </p:spPr>
      </p:sp>
      <p:sp>
        <p:nvSpPr>
          <p:cNvPr id="7" name="motivo-3"/>
          <p:cNvSpPr/>
          <p:nvPr/>
        </p:nvSpPr>
        <p:spPr>
          <a:xfrm>
            <a:off x="11018520" y="548640"/>
            <a:ext cx="640080" cy="914400"/>
          </a:xfrm>
          <a:prstGeom prst="roundRect">
            <a:avLst>
              <a:gd name="adj" fmla="val 11429"/>
            </a:avLst>
          </a:prstGeom>
          <a:solidFill>
            <a:schemeClr val="accent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CÓMO LEER ESTA PRESENTACIÓN</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Primero lo general, luego el proyecto</a:t>
            </a:r>
            <a:endParaRPr lang="en-US" sz="3400" dirty="0"/>
          </a:p>
        </p:txBody>
      </p:sp>
      <p:sp>
        <p:nvSpPr>
          <p:cNvPr id="5" name="panel-4"/>
          <p:cNvSpPr/>
          <p:nvPr/>
        </p:nvSpPr>
        <p:spPr>
          <a:xfrm>
            <a:off x="548640" y="1481328"/>
            <a:ext cx="5394960" cy="4690872"/>
          </a:xfrm>
          <a:prstGeom prst="roundRect">
            <a:avLst>
              <a:gd name="adj" fmla="val 1949"/>
            </a:avLst>
          </a:prstGeom>
          <a:solidFill>
            <a:schemeClr val="bg2"/>
          </a:solidFill>
          <a:ln/>
        </p:spPr>
      </p:sp>
      <p:sp>
        <p:nvSpPr>
          <p:cNvPr id="6" name="panel-cab-5"/>
          <p:cNvSpPr/>
          <p:nvPr/>
        </p:nvSpPr>
        <p:spPr>
          <a:xfrm>
            <a:off x="777240" y="1709928"/>
            <a:ext cx="4937760" cy="548640"/>
          </a:xfrm>
          <a:prstGeom prst="roundRect">
            <a:avLst>
              <a:gd name="adj" fmla="val 13333"/>
            </a:avLst>
          </a:prstGeom>
          <a:solidFill>
            <a:schemeClr val="tx2"/>
          </a:solidFill>
          <a:ln/>
        </p:spPr>
      </p:sp>
      <p:sp>
        <p:nvSpPr>
          <p:cNvPr id="7" name="panel-t-6"/>
          <p:cNvSpPr txBox="1"/>
          <p:nvPr/>
        </p:nvSpPr>
        <p:spPr>
          <a:xfrm>
            <a:off x="868680" y="1709928"/>
            <a:ext cx="4754880" cy="548640"/>
          </a:xfrm>
          <a:prstGeom prst="rect">
            <a:avLst/>
          </a:prstGeom>
          <a:noFill/>
          <a:ln/>
        </p:spPr>
        <p:txBody>
          <a:bodyPr wrap="square" lIns="0" tIns="0" rIns="0" bIns="0" rtlCol="0" anchor="ctr"/>
          <a:lstStyle/>
          <a:p>
            <a:pPr indent="0" marL="0">
              <a:buNone/>
            </a:pPr>
            <a:r>
              <a:rPr lang="en-US" sz="1800" b="1" dirty="0">
                <a:solidFill>
                  <a:schemeClr val="bg1"/>
                </a:solidFill>
              </a:rPr>
              <a:t>Parte I · General</a:t>
            </a:r>
            <a:endParaRPr lang="en-US" sz="1800" dirty="0"/>
          </a:p>
        </p:txBody>
      </p:sp>
      <p:sp>
        <p:nvSpPr>
          <p:cNvPr id="8" name="lista-7"/>
          <p:cNvSpPr txBox="1"/>
          <p:nvPr/>
        </p:nvSpPr>
        <p:spPr>
          <a:xfrm>
            <a:off x="868680" y="2441448"/>
            <a:ext cx="4754880" cy="3547872"/>
          </a:xfrm>
          <a:prstGeom prst="rect">
            <a:avLst/>
          </a:prstGeom>
          <a:noFill/>
          <a:ln/>
        </p:spPr>
        <p:txBody>
          <a:bodyPr wrap="square" lIns="0" tIns="0" rIns="0" bIns="0" rtlCol="0" anchor="t"/>
          <a:lstStyle/>
          <a:p>
            <a:pPr marL="228600" indent="-228600">
              <a:spcAft>
                <a:spcPts val="200"/>
              </a:spcAft>
              <a:buSzPct val="100000"/>
              <a:buChar char="•"/>
            </a:pPr>
            <a:r>
              <a:rPr lang="en-US" sz="1400" dirty="0">
                <a:solidFill>
                  <a:schemeClr val="tx1"/>
                </a:solidFill>
              </a:rPr>
              <a:t>1 · Fundamentos y ciclo de vida</a:t>
            </a:r>
            <a:endParaRPr lang="en-US" sz="1400" dirty="0"/>
          </a:p>
          <a:p>
            <a:pPr marL="228600" indent="-228600">
              <a:spcAft>
                <a:spcPts val="200"/>
              </a:spcAft>
              <a:buSzPct val="100000"/>
              <a:buChar char="•"/>
            </a:pPr>
            <a:r>
              <a:rPr lang="en-US" sz="1400" dirty="0">
                <a:solidFill>
                  <a:schemeClr val="tx1"/>
                </a:solidFill>
              </a:rPr>
              <a:t>2 · Requisitos</a:t>
            </a:r>
            <a:endParaRPr lang="en-US" sz="1400" dirty="0"/>
          </a:p>
          <a:p>
            <a:pPr marL="228600" indent="-228600">
              <a:spcAft>
                <a:spcPts val="200"/>
              </a:spcAft>
              <a:buSzPct val="100000"/>
              <a:buChar char="•"/>
            </a:pPr>
            <a:r>
              <a:rPr lang="en-US" sz="1400" dirty="0">
                <a:solidFill>
                  <a:schemeClr val="tx1"/>
                </a:solidFill>
              </a:rPr>
              <a:t>3 · Metodologías de trabajo</a:t>
            </a:r>
            <a:endParaRPr lang="en-US" sz="1400" dirty="0"/>
          </a:p>
          <a:p>
            <a:pPr marL="228600" indent="-228600">
              <a:spcAft>
                <a:spcPts val="200"/>
              </a:spcAft>
              <a:buSzPct val="100000"/>
              <a:buChar char="•"/>
            </a:pPr>
            <a:r>
              <a:rPr lang="en-US" sz="1400" dirty="0">
                <a:solidFill>
                  <a:schemeClr val="tx1"/>
                </a:solidFill>
              </a:rPr>
              <a:t>4 · Modelado y diagramas</a:t>
            </a:r>
            <a:endParaRPr lang="en-US" sz="1400" dirty="0"/>
          </a:p>
          <a:p>
            <a:pPr marL="228600" indent="-228600">
              <a:spcAft>
                <a:spcPts val="200"/>
              </a:spcAft>
              <a:buSzPct val="100000"/>
              <a:buChar char="•"/>
            </a:pPr>
            <a:r>
              <a:rPr lang="en-US" sz="1400" dirty="0">
                <a:solidFill>
                  <a:schemeClr val="tx1"/>
                </a:solidFill>
              </a:rPr>
              <a:t>5 · Arquitectura</a:t>
            </a:r>
            <a:endParaRPr lang="en-US" sz="1400" dirty="0"/>
          </a:p>
          <a:p>
            <a:pPr marL="228600" indent="-228600">
              <a:spcAft>
                <a:spcPts val="200"/>
              </a:spcAft>
              <a:buSzPct val="100000"/>
              <a:buChar char="•"/>
            </a:pPr>
            <a:r>
              <a:rPr lang="en-US" sz="1400" dirty="0">
                <a:solidFill>
                  <a:schemeClr val="tx1"/>
                </a:solidFill>
              </a:rPr>
              <a:t>6 · Diseño y clean code</a:t>
            </a:r>
            <a:endParaRPr lang="en-US" sz="1400" dirty="0"/>
          </a:p>
          <a:p>
            <a:pPr marL="228600" indent="-228600">
              <a:spcAft>
                <a:spcPts val="200"/>
              </a:spcAft>
              <a:buSzPct val="100000"/>
              <a:buChar char="•"/>
            </a:pPr>
            <a:r>
              <a:rPr lang="en-US" sz="1400" dirty="0">
                <a:solidFill>
                  <a:schemeClr val="tx1"/>
                </a:solidFill>
              </a:rPr>
              <a:t>7 · Pruebas</a:t>
            </a:r>
            <a:endParaRPr lang="en-US" sz="1400" dirty="0"/>
          </a:p>
          <a:p>
            <a:pPr marL="228600" indent="-228600">
              <a:spcAft>
                <a:spcPts val="200"/>
              </a:spcAft>
              <a:buSzPct val="100000"/>
              <a:buChar char="•"/>
            </a:pPr>
            <a:r>
              <a:rPr lang="en-US" sz="1400" dirty="0">
                <a:solidFill>
                  <a:schemeClr val="tx1"/>
                </a:solidFill>
              </a:rPr>
              <a:t>8 · Git y control de versiones</a:t>
            </a:r>
            <a:endParaRPr lang="en-US" sz="1400" dirty="0"/>
          </a:p>
          <a:p>
            <a:pPr marL="228600" indent="-228600">
              <a:spcAft>
                <a:spcPts val="200"/>
              </a:spcAft>
              <a:buSzPct val="100000"/>
              <a:buChar char="•"/>
            </a:pPr>
            <a:r>
              <a:rPr lang="en-US" sz="1400" dirty="0">
                <a:solidFill>
                  <a:schemeClr val="tx1"/>
                </a:solidFill>
              </a:rPr>
              <a:t>9 · DevOps</a:t>
            </a:r>
            <a:endParaRPr lang="en-US" sz="1400" dirty="0"/>
          </a:p>
          <a:p>
            <a:pPr marL="228600" indent="-228600">
              <a:spcAft>
                <a:spcPts val="200"/>
              </a:spcAft>
              <a:buSzPct val="100000"/>
              <a:buChar char="•"/>
            </a:pPr>
            <a:r>
              <a:rPr lang="en-US" sz="1400" dirty="0">
                <a:solidFill>
                  <a:schemeClr val="tx1"/>
                </a:solidFill>
              </a:rPr>
              <a:t>10 · Servidores y despliegue</a:t>
            </a:r>
            <a:endParaRPr lang="en-US" sz="1400" dirty="0"/>
          </a:p>
          <a:p>
            <a:pPr marL="228600" indent="-228600">
              <a:spcAft>
                <a:spcPts val="200"/>
              </a:spcAft>
              <a:buSzPct val="100000"/>
              <a:buChar char="•"/>
            </a:pPr>
            <a:r>
              <a:rPr lang="en-US" sz="1400" dirty="0">
                <a:solidFill>
                  <a:schemeClr val="tx1"/>
                </a:solidFill>
              </a:rPr>
              <a:t>11 · Seguridad</a:t>
            </a:r>
            <a:endParaRPr lang="en-US" sz="1400" dirty="0"/>
          </a:p>
          <a:p>
            <a:pPr marL="228600" indent="-228600">
              <a:spcAft>
                <a:spcPts val="200"/>
              </a:spcAft>
              <a:buSzPct val="100000"/>
              <a:buChar char="•"/>
            </a:pPr>
            <a:r>
              <a:rPr lang="en-US" sz="1400" dirty="0">
                <a:solidFill>
                  <a:schemeClr val="tx1"/>
                </a:solidFill>
              </a:rPr>
              <a:t>12 · Datos y operación</a:t>
            </a:r>
            <a:endParaRPr lang="en-US" sz="1400" dirty="0"/>
          </a:p>
          <a:p>
            <a:pPr marL="228600" indent="-228600">
              <a:spcAft>
                <a:spcPts val="200"/>
              </a:spcAft>
              <a:buSzPct val="100000"/>
              <a:buChar char="•"/>
            </a:pPr>
            <a:r>
              <a:rPr lang="en-US" sz="1400" dirty="0">
                <a:solidFill>
                  <a:schemeClr val="tx1"/>
                </a:solidFill>
              </a:rPr>
              <a:t>13 · Lo que suele olvidarse</a:t>
            </a:r>
            <a:endParaRPr lang="en-US" sz="1400" dirty="0"/>
          </a:p>
        </p:txBody>
      </p:sp>
      <p:sp>
        <p:nvSpPr>
          <p:cNvPr id="9" name="panel-8"/>
          <p:cNvSpPr/>
          <p:nvPr/>
        </p:nvSpPr>
        <p:spPr>
          <a:xfrm>
            <a:off x="6245352" y="1481328"/>
            <a:ext cx="5394960" cy="4690872"/>
          </a:xfrm>
          <a:prstGeom prst="roundRect">
            <a:avLst>
              <a:gd name="adj" fmla="val 1949"/>
            </a:avLst>
          </a:prstGeom>
          <a:solidFill>
            <a:schemeClr val="bg2"/>
          </a:solidFill>
          <a:ln/>
        </p:spPr>
      </p:sp>
      <p:sp>
        <p:nvSpPr>
          <p:cNvPr id="10" name="panel-cab-9"/>
          <p:cNvSpPr/>
          <p:nvPr/>
        </p:nvSpPr>
        <p:spPr>
          <a:xfrm>
            <a:off x="6473952" y="1709928"/>
            <a:ext cx="4937760" cy="548640"/>
          </a:xfrm>
          <a:prstGeom prst="roundRect">
            <a:avLst>
              <a:gd name="adj" fmla="val 13333"/>
            </a:avLst>
          </a:prstGeom>
          <a:solidFill>
            <a:schemeClr val="accent1"/>
          </a:solidFill>
          <a:ln/>
        </p:spPr>
      </p:sp>
      <p:sp>
        <p:nvSpPr>
          <p:cNvPr id="11" name="panel-t-10"/>
          <p:cNvSpPr txBox="1"/>
          <p:nvPr/>
        </p:nvSpPr>
        <p:spPr>
          <a:xfrm>
            <a:off x="6565392" y="1709928"/>
            <a:ext cx="4754880" cy="548640"/>
          </a:xfrm>
          <a:prstGeom prst="rect">
            <a:avLst/>
          </a:prstGeom>
          <a:noFill/>
          <a:ln/>
        </p:spPr>
        <p:txBody>
          <a:bodyPr wrap="square" lIns="0" tIns="0" rIns="0" bIns="0" rtlCol="0" anchor="ctr"/>
          <a:lstStyle/>
          <a:p>
            <a:pPr indent="0" marL="0">
              <a:buNone/>
            </a:pPr>
            <a:r>
              <a:rPr lang="en-US" sz="1800" b="1" dirty="0">
                <a:solidFill>
                  <a:schemeClr val="bg1"/>
                </a:solidFill>
              </a:rPr>
              <a:t>Parte II · Proyecto Kanban</a:t>
            </a:r>
            <a:endParaRPr lang="en-US" sz="1800" dirty="0"/>
          </a:p>
        </p:txBody>
      </p:sp>
      <p:sp>
        <p:nvSpPr>
          <p:cNvPr id="12" name="lista-11"/>
          <p:cNvSpPr txBox="1"/>
          <p:nvPr/>
        </p:nvSpPr>
        <p:spPr>
          <a:xfrm>
            <a:off x="6565392" y="2441448"/>
            <a:ext cx="4754880" cy="3547872"/>
          </a:xfrm>
          <a:prstGeom prst="rect">
            <a:avLst/>
          </a:prstGeom>
          <a:noFill/>
          <a:ln/>
        </p:spPr>
        <p:txBody>
          <a:bodyPr wrap="square" lIns="0" tIns="0" rIns="0" bIns="0" rtlCol="0" anchor="t"/>
          <a:lstStyle/>
          <a:p>
            <a:pPr marL="228600" indent="-228600">
              <a:spcAft>
                <a:spcPts val="200"/>
              </a:spcAft>
              <a:buSzPct val="100000"/>
              <a:buChar char="•"/>
            </a:pPr>
            <a:r>
              <a:rPr lang="en-US" sz="1400" dirty="0">
                <a:solidFill>
                  <a:schemeClr val="tx1"/>
                </a:solidFill>
              </a:rPr>
              <a:t>14 · El proyecto y sus reglas</a:t>
            </a:r>
            <a:endParaRPr lang="en-US" sz="1400" dirty="0"/>
          </a:p>
          <a:p>
            <a:pPr marL="228600" indent="-228600">
              <a:spcAft>
                <a:spcPts val="200"/>
              </a:spcAft>
              <a:buSzPct val="100000"/>
              <a:buChar char="•"/>
            </a:pPr>
            <a:r>
              <a:rPr lang="en-US" sz="1400" dirty="0">
                <a:solidFill>
                  <a:schemeClr val="tx1"/>
                </a:solidFill>
              </a:rPr>
              <a:t>15 · Del requisito al código</a:t>
            </a:r>
            <a:endParaRPr lang="en-US" sz="1400" dirty="0"/>
          </a:p>
          <a:p>
            <a:pPr marL="228600" indent="-228600">
              <a:spcAft>
                <a:spcPts val="200"/>
              </a:spcAft>
              <a:buSzPct val="100000"/>
              <a:buChar char="•"/>
            </a:pPr>
            <a:r>
              <a:rPr lang="en-US" sz="1400" dirty="0">
                <a:solidFill>
                  <a:schemeClr val="tx1"/>
                </a:solidFill>
              </a:rPr>
              <a:t>16 · Backend en capas</a:t>
            </a:r>
            <a:endParaRPr lang="en-US" sz="1400" dirty="0"/>
          </a:p>
          <a:p>
            <a:pPr marL="228600" indent="-228600">
              <a:spcAft>
                <a:spcPts val="200"/>
              </a:spcAft>
              <a:buSzPct val="100000"/>
              <a:buChar char="•"/>
            </a:pPr>
            <a:r>
              <a:rPr lang="en-US" sz="1400" dirty="0">
                <a:solidFill>
                  <a:schemeClr val="tx1"/>
                </a:solidFill>
              </a:rPr>
              <a:t>17 · Base de datos y concurrencia</a:t>
            </a:r>
            <a:endParaRPr lang="en-US" sz="1400" dirty="0"/>
          </a:p>
          <a:p>
            <a:pPr marL="228600" indent="-228600">
              <a:spcAft>
                <a:spcPts val="200"/>
              </a:spcAft>
              <a:buSzPct val="100000"/>
              <a:buChar char="•"/>
            </a:pPr>
            <a:r>
              <a:rPr lang="en-US" sz="1400" dirty="0">
                <a:solidFill>
                  <a:schemeClr val="tx1"/>
                </a:solidFill>
              </a:rPr>
              <a:t>18 · Frontend Angular</a:t>
            </a:r>
            <a:endParaRPr lang="en-US" sz="1400" dirty="0"/>
          </a:p>
          <a:p>
            <a:pPr marL="228600" indent="-228600">
              <a:spcAft>
                <a:spcPts val="200"/>
              </a:spcAft>
              <a:buSzPct val="100000"/>
              <a:buChar char="•"/>
            </a:pPr>
            <a:r>
              <a:rPr lang="en-US" sz="1400" dirty="0">
                <a:solidFill>
                  <a:schemeClr val="tx1"/>
                </a:solidFill>
              </a:rPr>
              <a:t>19 · Calidad y pruebas</a:t>
            </a:r>
            <a:endParaRPr lang="en-US" sz="1400" dirty="0"/>
          </a:p>
          <a:p>
            <a:pPr marL="228600" indent="-228600">
              <a:spcAft>
                <a:spcPts val="200"/>
              </a:spcAft>
              <a:buSzPct val="100000"/>
              <a:buChar char="•"/>
            </a:pPr>
            <a:r>
              <a:rPr lang="en-US" sz="1400" dirty="0">
                <a:solidFill>
                  <a:schemeClr val="tx1"/>
                </a:solidFill>
              </a:rPr>
              <a:t>20 · Trabajo en equipo</a:t>
            </a:r>
            <a:endParaRPr lang="en-US" sz="1400" dirty="0"/>
          </a:p>
          <a:p>
            <a:pPr marL="228600" indent="-228600">
              <a:spcAft>
                <a:spcPts val="200"/>
              </a:spcAft>
              <a:buSzPct val="100000"/>
              <a:buChar char="•"/>
            </a:pPr>
            <a:r>
              <a:rPr lang="en-US" sz="1400" dirty="0">
                <a:solidFill>
                  <a:schemeClr val="tx1"/>
                </a:solidFill>
              </a:rPr>
              <a:t>21 · Producción y ruta del curso</a:t>
            </a:r>
            <a:endParaRPr lang="en-US" sz="14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01</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Fundamentos</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Qué es un buen resultado en software y cuál es el ciclo que siguen todos los proyectos, sin importar la metodología.</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FUNDAMENTOS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Qué significa un buen resultado</a:t>
            </a:r>
            <a:endParaRPr lang="en-US" sz="3400" dirty="0"/>
          </a:p>
        </p:txBody>
      </p:sp>
      <p:sp>
        <p:nvSpPr>
          <p:cNvPr id="5" name="tarjeta-12"/>
          <p:cNvSpPr/>
          <p:nvPr/>
        </p:nvSpPr>
        <p:spPr>
          <a:xfrm>
            <a:off x="548640" y="1481328"/>
            <a:ext cx="2567864" cy="2926080"/>
          </a:xfrm>
          <a:prstGeom prst="roundRect">
            <a:avLst>
              <a:gd name="adj" fmla="val 3561"/>
            </a:avLst>
          </a:prstGeom>
          <a:solidFill>
            <a:schemeClr val="bg2"/>
          </a:solidFill>
          <a:ln/>
        </p:spPr>
      </p:sp>
      <p:sp>
        <p:nvSpPr>
          <p:cNvPr id="6" name="circulo-13"/>
          <p:cNvSpPr/>
          <p:nvPr/>
        </p:nvSpPr>
        <p:spPr>
          <a:xfrm>
            <a:off x="749808" y="1682496"/>
            <a:ext cx="438912" cy="438912"/>
          </a:xfrm>
          <a:prstGeom prst="ellipse">
            <a:avLst/>
          </a:prstGeom>
          <a:solidFill>
            <a:schemeClr val="accent1"/>
          </a:solidFill>
          <a:ln/>
        </p:spPr>
      </p:sp>
      <p:sp>
        <p:nvSpPr>
          <p:cNvPr id="7" name="num-14"/>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15"/>
          <p:cNvSpPr txBox="1"/>
          <p:nvPr/>
        </p:nvSpPr>
        <p:spPr>
          <a:xfrm>
            <a:off x="1325880"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Valor</a:t>
            </a:r>
            <a:endParaRPr lang="en-US" sz="1700" dirty="0"/>
          </a:p>
        </p:txBody>
      </p:sp>
      <p:sp>
        <p:nvSpPr>
          <p:cNvPr id="9" name="desc-16"/>
          <p:cNvSpPr txBox="1"/>
          <p:nvPr/>
        </p:nvSpPr>
        <p:spPr>
          <a:xfrm>
            <a:off x="777240"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Resuelve una necesidad real y verificable de un usuario. Si nadie lo usa, no importa lo bien escrito que esté.</a:t>
            </a:r>
            <a:endParaRPr lang="en-US" sz="1500" dirty="0"/>
          </a:p>
        </p:txBody>
      </p:sp>
      <p:sp>
        <p:nvSpPr>
          <p:cNvPr id="10" name="tarjeta-17"/>
          <p:cNvSpPr/>
          <p:nvPr/>
        </p:nvSpPr>
        <p:spPr>
          <a:xfrm>
            <a:off x="3390824" y="1481328"/>
            <a:ext cx="2567864" cy="2926080"/>
          </a:xfrm>
          <a:prstGeom prst="roundRect">
            <a:avLst>
              <a:gd name="adj" fmla="val 3561"/>
            </a:avLst>
          </a:prstGeom>
          <a:solidFill>
            <a:schemeClr val="bg2"/>
          </a:solidFill>
          <a:ln/>
        </p:spPr>
      </p:sp>
      <p:sp>
        <p:nvSpPr>
          <p:cNvPr id="11" name="circulo-18"/>
          <p:cNvSpPr/>
          <p:nvPr/>
        </p:nvSpPr>
        <p:spPr>
          <a:xfrm>
            <a:off x="3591992" y="1682496"/>
            <a:ext cx="438912" cy="438912"/>
          </a:xfrm>
          <a:prstGeom prst="ellipse">
            <a:avLst/>
          </a:prstGeom>
          <a:solidFill>
            <a:schemeClr val="accent2"/>
          </a:solidFill>
          <a:ln/>
        </p:spPr>
      </p:sp>
      <p:sp>
        <p:nvSpPr>
          <p:cNvPr id="12" name="num-19"/>
          <p:cNvSpPr txBox="1"/>
          <p:nvPr/>
        </p:nvSpPr>
        <p:spPr>
          <a:xfrm>
            <a:off x="359199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20"/>
          <p:cNvSpPr txBox="1"/>
          <p:nvPr/>
        </p:nvSpPr>
        <p:spPr>
          <a:xfrm>
            <a:off x="4168064"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Corrección</a:t>
            </a:r>
            <a:endParaRPr lang="en-US" sz="1700" dirty="0"/>
          </a:p>
        </p:txBody>
      </p:sp>
      <p:sp>
        <p:nvSpPr>
          <p:cNvPr id="14" name="desc-21"/>
          <p:cNvSpPr txBox="1"/>
          <p:nvPr/>
        </p:nvSpPr>
        <p:spPr>
          <a:xfrm>
            <a:off x="3619424"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Cumple las reglas del negocio, también cuando la entrada es inválida o algo falla.</a:t>
            </a:r>
            <a:endParaRPr lang="en-US" sz="1500" dirty="0"/>
          </a:p>
        </p:txBody>
      </p:sp>
      <p:sp>
        <p:nvSpPr>
          <p:cNvPr id="15" name="tarjeta-22"/>
          <p:cNvSpPr/>
          <p:nvPr/>
        </p:nvSpPr>
        <p:spPr>
          <a:xfrm>
            <a:off x="6233008" y="1481328"/>
            <a:ext cx="2567864" cy="2926080"/>
          </a:xfrm>
          <a:prstGeom prst="roundRect">
            <a:avLst>
              <a:gd name="adj" fmla="val 3561"/>
            </a:avLst>
          </a:prstGeom>
          <a:solidFill>
            <a:schemeClr val="bg2"/>
          </a:solidFill>
          <a:ln/>
        </p:spPr>
      </p:sp>
      <p:sp>
        <p:nvSpPr>
          <p:cNvPr id="16" name="circulo-23"/>
          <p:cNvSpPr/>
          <p:nvPr/>
        </p:nvSpPr>
        <p:spPr>
          <a:xfrm>
            <a:off x="6434176" y="1682496"/>
            <a:ext cx="438912" cy="438912"/>
          </a:xfrm>
          <a:prstGeom prst="ellipse">
            <a:avLst/>
          </a:prstGeom>
          <a:solidFill>
            <a:schemeClr val="accent3"/>
          </a:solidFill>
          <a:ln/>
        </p:spPr>
      </p:sp>
      <p:sp>
        <p:nvSpPr>
          <p:cNvPr id="17" name="num-24"/>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25"/>
          <p:cNvSpPr txBox="1"/>
          <p:nvPr/>
        </p:nvSpPr>
        <p:spPr>
          <a:xfrm>
            <a:off x="7010248"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Mantenibilidad</a:t>
            </a:r>
            <a:endParaRPr lang="en-US" sz="1700" dirty="0"/>
          </a:p>
        </p:txBody>
      </p:sp>
      <p:sp>
        <p:nvSpPr>
          <p:cNvPr id="19" name="desc-26"/>
          <p:cNvSpPr txBox="1"/>
          <p:nvPr/>
        </p:nvSpPr>
        <p:spPr>
          <a:xfrm>
            <a:off x="6461608"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Se puede cambiar una regla con impacto acotado y con pruebas que avisan si algo se rompe.</a:t>
            </a:r>
            <a:endParaRPr lang="en-US" sz="1500" dirty="0"/>
          </a:p>
        </p:txBody>
      </p:sp>
      <p:sp>
        <p:nvSpPr>
          <p:cNvPr id="20" name="tarjeta-27"/>
          <p:cNvSpPr/>
          <p:nvPr/>
        </p:nvSpPr>
        <p:spPr>
          <a:xfrm>
            <a:off x="9075191" y="1481328"/>
            <a:ext cx="2567864" cy="2926080"/>
          </a:xfrm>
          <a:prstGeom prst="roundRect">
            <a:avLst>
              <a:gd name="adj" fmla="val 3561"/>
            </a:avLst>
          </a:prstGeom>
          <a:solidFill>
            <a:schemeClr val="bg2"/>
          </a:solidFill>
          <a:ln/>
        </p:spPr>
      </p:sp>
      <p:sp>
        <p:nvSpPr>
          <p:cNvPr id="21" name="circulo-28"/>
          <p:cNvSpPr/>
          <p:nvPr/>
        </p:nvSpPr>
        <p:spPr>
          <a:xfrm>
            <a:off x="9276359" y="1682496"/>
            <a:ext cx="438912" cy="438912"/>
          </a:xfrm>
          <a:prstGeom prst="ellipse">
            <a:avLst/>
          </a:prstGeom>
          <a:solidFill>
            <a:schemeClr val="accent4"/>
          </a:solidFill>
          <a:ln/>
        </p:spPr>
      </p:sp>
      <p:sp>
        <p:nvSpPr>
          <p:cNvPr id="22" name="num-29"/>
          <p:cNvSpPr txBox="1"/>
          <p:nvPr/>
        </p:nvSpPr>
        <p:spPr>
          <a:xfrm>
            <a:off x="927635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30"/>
          <p:cNvSpPr txBox="1"/>
          <p:nvPr/>
        </p:nvSpPr>
        <p:spPr>
          <a:xfrm>
            <a:off x="9852431"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Operación</a:t>
            </a:r>
            <a:endParaRPr lang="en-US" sz="1700" dirty="0"/>
          </a:p>
        </p:txBody>
      </p:sp>
      <p:sp>
        <p:nvSpPr>
          <p:cNvPr id="24" name="desc-31"/>
          <p:cNvSpPr txBox="1"/>
          <p:nvPr/>
        </p:nvSpPr>
        <p:spPr>
          <a:xfrm>
            <a:off x="9303791"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Se puede desplegar, observar, escalar y recuperar cuando ocurre un incidente.</a:t>
            </a:r>
            <a:endParaRPr lang="en-US" sz="1500" dirty="0"/>
          </a:p>
        </p:txBody>
      </p:sp>
      <p:sp>
        <p:nvSpPr>
          <p:cNvPr id="25" name="destacado-32"/>
          <p:cNvSpPr/>
          <p:nvPr/>
        </p:nvSpPr>
        <p:spPr>
          <a:xfrm>
            <a:off x="548640" y="4846320"/>
            <a:ext cx="11094415" cy="566928"/>
          </a:xfrm>
          <a:prstGeom prst="roundRect">
            <a:avLst>
              <a:gd name="adj" fmla="val 12903"/>
            </a:avLst>
          </a:prstGeom>
          <a:solidFill>
            <a:schemeClr val="tx2"/>
          </a:solidFill>
          <a:ln/>
        </p:spPr>
      </p:sp>
      <p:sp>
        <p:nvSpPr>
          <p:cNvPr id="26" name="destacado-t-33"/>
          <p:cNvSpPr txBox="1"/>
          <p:nvPr/>
        </p:nvSpPr>
        <p:spPr>
          <a:xfrm>
            <a:off x="822960" y="4846320"/>
            <a:ext cx="10545775" cy="566928"/>
          </a:xfrm>
          <a:prstGeom prst="rect">
            <a:avLst/>
          </a:prstGeom>
          <a:noFill/>
          <a:ln/>
        </p:spPr>
        <p:txBody>
          <a:bodyPr wrap="square" lIns="0" tIns="0" rIns="0" bIns="0" rtlCol="0" anchor="ctr"/>
          <a:lstStyle/>
          <a:p>
            <a:pPr indent="0" marL="0">
              <a:buNone/>
            </a:pPr>
            <a:r>
              <a:rPr lang="en-US" sz="1600" dirty="0">
                <a:solidFill>
                  <a:schemeClr val="bg1"/>
                </a:solidFill>
              </a:rPr>
              <a:t>Un proyecto profesional se juzga por las cuatro dimensiones, no solo por "funciona en mi máquina".</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FUNDAMENTOS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El ciclo de vida del software</a:t>
            </a:r>
            <a:endParaRPr lang="en-US" sz="3400" dirty="0"/>
          </a:p>
        </p:txBody>
      </p:sp>
      <p:sp>
        <p:nvSpPr>
          <p:cNvPr id="5" name="paso-34"/>
          <p:cNvSpPr/>
          <p:nvPr/>
        </p:nvSpPr>
        <p:spPr>
          <a:xfrm>
            <a:off x="548640" y="1847088"/>
            <a:ext cx="1529029" cy="822960"/>
          </a:xfrm>
          <a:prstGeom prst="roundRect">
            <a:avLst>
              <a:gd name="adj" fmla="val 11111"/>
            </a:avLst>
          </a:prstGeom>
          <a:solidFill>
            <a:schemeClr val="tx2"/>
          </a:solidFill>
          <a:ln/>
        </p:spPr>
      </p:sp>
      <p:sp>
        <p:nvSpPr>
          <p:cNvPr id="6" name="paso-t-35"/>
          <p:cNvSpPr txBox="1"/>
          <p:nvPr/>
        </p:nvSpPr>
        <p:spPr>
          <a:xfrm>
            <a:off x="621792"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Requisitos</a:t>
            </a:r>
            <a:endParaRPr lang="en-US" sz="1500" dirty="0"/>
          </a:p>
        </p:txBody>
      </p:sp>
      <p:sp>
        <p:nvSpPr>
          <p:cNvPr id="7" name="flecha-36"/>
          <p:cNvSpPr/>
          <p:nvPr/>
        </p:nvSpPr>
        <p:spPr>
          <a:xfrm>
            <a:off x="2141677" y="2139696"/>
            <a:ext cx="256032" cy="237744"/>
          </a:xfrm>
          <a:prstGeom prst="rightArrow">
            <a:avLst/>
          </a:prstGeom>
          <a:solidFill>
            <a:schemeClr val="accent5"/>
          </a:solidFill>
          <a:ln/>
        </p:spPr>
      </p:sp>
      <p:sp>
        <p:nvSpPr>
          <p:cNvPr id="8" name="paso-d-37"/>
          <p:cNvSpPr txBox="1"/>
          <p:nvPr/>
        </p:nvSpPr>
        <p:spPr>
          <a:xfrm>
            <a:off x="548640" y="2852928"/>
            <a:ext cx="1529029" cy="1097280"/>
          </a:xfrm>
          <a:prstGeom prst="rect">
            <a:avLst/>
          </a:prstGeom>
          <a:noFill/>
          <a:ln/>
        </p:spPr>
        <p:txBody>
          <a:bodyPr wrap="square" lIns="0" tIns="0" rIns="0" bIns="0" rtlCol="0" anchor="t"/>
          <a:lstStyle/>
          <a:p>
            <a:pPr indent="0" marL="0">
              <a:buNone/>
            </a:pPr>
            <a:r>
              <a:rPr lang="en-US" sz="1400" dirty="0">
                <a:solidFill>
                  <a:schemeClr val="tx1"/>
                </a:solidFill>
              </a:rPr>
              <a:t>Qué se construye y para quién</a:t>
            </a:r>
            <a:endParaRPr lang="en-US" sz="1400" dirty="0"/>
          </a:p>
        </p:txBody>
      </p:sp>
      <p:sp>
        <p:nvSpPr>
          <p:cNvPr id="9" name="paso-38"/>
          <p:cNvSpPr/>
          <p:nvPr/>
        </p:nvSpPr>
        <p:spPr>
          <a:xfrm>
            <a:off x="2461717" y="1847088"/>
            <a:ext cx="1529029" cy="822960"/>
          </a:xfrm>
          <a:prstGeom prst="roundRect">
            <a:avLst>
              <a:gd name="adj" fmla="val 11111"/>
            </a:avLst>
          </a:prstGeom>
          <a:solidFill>
            <a:schemeClr val="tx2"/>
          </a:solidFill>
          <a:ln/>
        </p:spPr>
      </p:sp>
      <p:sp>
        <p:nvSpPr>
          <p:cNvPr id="10" name="paso-t-39"/>
          <p:cNvSpPr txBox="1"/>
          <p:nvPr/>
        </p:nvSpPr>
        <p:spPr>
          <a:xfrm>
            <a:off x="2534869"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Análisis y diseño</a:t>
            </a:r>
            <a:endParaRPr lang="en-US" sz="1500" dirty="0"/>
          </a:p>
        </p:txBody>
      </p:sp>
      <p:sp>
        <p:nvSpPr>
          <p:cNvPr id="11" name="flecha-40"/>
          <p:cNvSpPr/>
          <p:nvPr/>
        </p:nvSpPr>
        <p:spPr>
          <a:xfrm>
            <a:off x="4054754" y="2139696"/>
            <a:ext cx="256032" cy="237744"/>
          </a:xfrm>
          <a:prstGeom prst="rightArrow">
            <a:avLst/>
          </a:prstGeom>
          <a:solidFill>
            <a:schemeClr val="accent5"/>
          </a:solidFill>
          <a:ln/>
        </p:spPr>
      </p:sp>
      <p:sp>
        <p:nvSpPr>
          <p:cNvPr id="12" name="paso-d-41"/>
          <p:cNvSpPr txBox="1"/>
          <p:nvPr/>
        </p:nvSpPr>
        <p:spPr>
          <a:xfrm>
            <a:off x="2461717" y="2852928"/>
            <a:ext cx="1529029" cy="1097280"/>
          </a:xfrm>
          <a:prstGeom prst="rect">
            <a:avLst/>
          </a:prstGeom>
          <a:noFill/>
          <a:ln/>
        </p:spPr>
        <p:txBody>
          <a:bodyPr wrap="square" lIns="0" tIns="0" rIns="0" bIns="0" rtlCol="0" anchor="t"/>
          <a:lstStyle/>
          <a:p>
            <a:pPr indent="0" marL="0">
              <a:buNone/>
            </a:pPr>
            <a:r>
              <a:rPr lang="en-US" sz="1400" dirty="0">
                <a:solidFill>
                  <a:schemeClr val="tx1"/>
                </a:solidFill>
              </a:rPr>
              <a:t>Modelos, arquitectura y decisiones</a:t>
            </a:r>
            <a:endParaRPr lang="en-US" sz="1400" dirty="0"/>
          </a:p>
        </p:txBody>
      </p:sp>
      <p:sp>
        <p:nvSpPr>
          <p:cNvPr id="13" name="paso-42"/>
          <p:cNvSpPr/>
          <p:nvPr/>
        </p:nvSpPr>
        <p:spPr>
          <a:xfrm>
            <a:off x="4374794" y="1847088"/>
            <a:ext cx="1529029" cy="822960"/>
          </a:xfrm>
          <a:prstGeom prst="roundRect">
            <a:avLst>
              <a:gd name="adj" fmla="val 11111"/>
            </a:avLst>
          </a:prstGeom>
          <a:solidFill>
            <a:schemeClr val="tx2"/>
          </a:solidFill>
          <a:ln/>
        </p:spPr>
      </p:sp>
      <p:sp>
        <p:nvSpPr>
          <p:cNvPr id="14" name="paso-t-43"/>
          <p:cNvSpPr txBox="1"/>
          <p:nvPr/>
        </p:nvSpPr>
        <p:spPr>
          <a:xfrm>
            <a:off x="4447946"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Construcción</a:t>
            </a:r>
            <a:endParaRPr lang="en-US" sz="1500" dirty="0"/>
          </a:p>
        </p:txBody>
      </p:sp>
      <p:sp>
        <p:nvSpPr>
          <p:cNvPr id="15" name="flecha-44"/>
          <p:cNvSpPr/>
          <p:nvPr/>
        </p:nvSpPr>
        <p:spPr>
          <a:xfrm>
            <a:off x="5967832" y="2139696"/>
            <a:ext cx="256032" cy="237744"/>
          </a:xfrm>
          <a:prstGeom prst="rightArrow">
            <a:avLst/>
          </a:prstGeom>
          <a:solidFill>
            <a:schemeClr val="accent5"/>
          </a:solidFill>
          <a:ln/>
        </p:spPr>
      </p:sp>
      <p:sp>
        <p:nvSpPr>
          <p:cNvPr id="16" name="paso-d-45"/>
          <p:cNvSpPr txBox="1"/>
          <p:nvPr/>
        </p:nvSpPr>
        <p:spPr>
          <a:xfrm>
            <a:off x="4374794" y="2852928"/>
            <a:ext cx="1529029" cy="1097280"/>
          </a:xfrm>
          <a:prstGeom prst="rect">
            <a:avLst/>
          </a:prstGeom>
          <a:noFill/>
          <a:ln/>
        </p:spPr>
        <p:txBody>
          <a:bodyPr wrap="square" lIns="0" tIns="0" rIns="0" bIns="0" rtlCol="0" anchor="t"/>
          <a:lstStyle/>
          <a:p>
            <a:pPr indent="0" marL="0">
              <a:buNone/>
            </a:pPr>
            <a:r>
              <a:rPr lang="en-US" sz="1400" dirty="0">
                <a:solidFill>
                  <a:schemeClr val="tx1"/>
                </a:solidFill>
              </a:rPr>
              <a:t>Código, revisiones y control de versiones</a:t>
            </a:r>
            <a:endParaRPr lang="en-US" sz="1400" dirty="0"/>
          </a:p>
        </p:txBody>
      </p:sp>
      <p:sp>
        <p:nvSpPr>
          <p:cNvPr id="17" name="paso-46"/>
          <p:cNvSpPr/>
          <p:nvPr/>
        </p:nvSpPr>
        <p:spPr>
          <a:xfrm>
            <a:off x="6287872" y="1847088"/>
            <a:ext cx="1529029" cy="822960"/>
          </a:xfrm>
          <a:prstGeom prst="roundRect">
            <a:avLst>
              <a:gd name="adj" fmla="val 11111"/>
            </a:avLst>
          </a:prstGeom>
          <a:solidFill>
            <a:schemeClr val="tx2"/>
          </a:solidFill>
          <a:ln/>
        </p:spPr>
      </p:sp>
      <p:sp>
        <p:nvSpPr>
          <p:cNvPr id="18" name="paso-t-47"/>
          <p:cNvSpPr txBox="1"/>
          <p:nvPr/>
        </p:nvSpPr>
        <p:spPr>
          <a:xfrm>
            <a:off x="6361024"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Pruebas</a:t>
            </a:r>
            <a:endParaRPr lang="en-US" sz="1500" dirty="0"/>
          </a:p>
        </p:txBody>
      </p:sp>
      <p:sp>
        <p:nvSpPr>
          <p:cNvPr id="19" name="flecha-48"/>
          <p:cNvSpPr/>
          <p:nvPr/>
        </p:nvSpPr>
        <p:spPr>
          <a:xfrm>
            <a:off x="7880909" y="2139696"/>
            <a:ext cx="256032" cy="237744"/>
          </a:xfrm>
          <a:prstGeom prst="rightArrow">
            <a:avLst/>
          </a:prstGeom>
          <a:solidFill>
            <a:schemeClr val="accent5"/>
          </a:solidFill>
          <a:ln/>
        </p:spPr>
      </p:sp>
      <p:sp>
        <p:nvSpPr>
          <p:cNvPr id="20" name="paso-d-49"/>
          <p:cNvSpPr txBox="1"/>
          <p:nvPr/>
        </p:nvSpPr>
        <p:spPr>
          <a:xfrm>
            <a:off x="6287872" y="2852928"/>
            <a:ext cx="1529029" cy="1097280"/>
          </a:xfrm>
          <a:prstGeom prst="rect">
            <a:avLst/>
          </a:prstGeom>
          <a:noFill/>
          <a:ln/>
        </p:spPr>
        <p:txBody>
          <a:bodyPr wrap="square" lIns="0" tIns="0" rIns="0" bIns="0" rtlCol="0" anchor="t"/>
          <a:lstStyle/>
          <a:p>
            <a:pPr indent="0" marL="0">
              <a:buNone/>
            </a:pPr>
            <a:r>
              <a:rPr lang="en-US" sz="1400" dirty="0">
                <a:solidFill>
                  <a:schemeClr val="tx1"/>
                </a:solidFill>
              </a:rPr>
              <a:t>Evidencia de que funciona</a:t>
            </a:r>
            <a:endParaRPr lang="en-US" sz="1400" dirty="0"/>
          </a:p>
        </p:txBody>
      </p:sp>
      <p:sp>
        <p:nvSpPr>
          <p:cNvPr id="21" name="paso-50"/>
          <p:cNvSpPr/>
          <p:nvPr/>
        </p:nvSpPr>
        <p:spPr>
          <a:xfrm>
            <a:off x="8200949" y="1847088"/>
            <a:ext cx="1529029" cy="822960"/>
          </a:xfrm>
          <a:prstGeom prst="roundRect">
            <a:avLst>
              <a:gd name="adj" fmla="val 11111"/>
            </a:avLst>
          </a:prstGeom>
          <a:solidFill>
            <a:schemeClr val="tx2"/>
          </a:solidFill>
          <a:ln/>
        </p:spPr>
      </p:sp>
      <p:sp>
        <p:nvSpPr>
          <p:cNvPr id="22" name="paso-t-51"/>
          <p:cNvSpPr txBox="1"/>
          <p:nvPr/>
        </p:nvSpPr>
        <p:spPr>
          <a:xfrm>
            <a:off x="8274101"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Despliegue</a:t>
            </a:r>
            <a:endParaRPr lang="en-US" sz="1500" dirty="0"/>
          </a:p>
        </p:txBody>
      </p:sp>
      <p:sp>
        <p:nvSpPr>
          <p:cNvPr id="23" name="flecha-52"/>
          <p:cNvSpPr/>
          <p:nvPr/>
        </p:nvSpPr>
        <p:spPr>
          <a:xfrm>
            <a:off x="9793986" y="2139696"/>
            <a:ext cx="256032" cy="237744"/>
          </a:xfrm>
          <a:prstGeom prst="rightArrow">
            <a:avLst/>
          </a:prstGeom>
          <a:solidFill>
            <a:schemeClr val="accent5"/>
          </a:solidFill>
          <a:ln/>
        </p:spPr>
      </p:sp>
      <p:sp>
        <p:nvSpPr>
          <p:cNvPr id="24" name="paso-d-53"/>
          <p:cNvSpPr txBox="1"/>
          <p:nvPr/>
        </p:nvSpPr>
        <p:spPr>
          <a:xfrm>
            <a:off x="8200949" y="2852928"/>
            <a:ext cx="1529029" cy="1097280"/>
          </a:xfrm>
          <a:prstGeom prst="rect">
            <a:avLst/>
          </a:prstGeom>
          <a:noFill/>
          <a:ln/>
        </p:spPr>
        <p:txBody>
          <a:bodyPr wrap="square" lIns="0" tIns="0" rIns="0" bIns="0" rtlCol="0" anchor="t"/>
          <a:lstStyle/>
          <a:p>
            <a:pPr indent="0" marL="0">
              <a:buNone/>
            </a:pPr>
            <a:r>
              <a:rPr lang="en-US" sz="1400" dirty="0">
                <a:solidFill>
                  <a:schemeClr val="tx1"/>
                </a:solidFill>
              </a:rPr>
              <a:t>Llevarlo a los usuarios</a:t>
            </a:r>
            <a:endParaRPr lang="en-US" sz="1400" dirty="0"/>
          </a:p>
        </p:txBody>
      </p:sp>
      <p:sp>
        <p:nvSpPr>
          <p:cNvPr id="25" name="paso-54"/>
          <p:cNvSpPr/>
          <p:nvPr/>
        </p:nvSpPr>
        <p:spPr>
          <a:xfrm>
            <a:off x="10114026" y="1847088"/>
            <a:ext cx="1529029" cy="822960"/>
          </a:xfrm>
          <a:prstGeom prst="roundRect">
            <a:avLst>
              <a:gd name="adj" fmla="val 11111"/>
            </a:avLst>
          </a:prstGeom>
          <a:solidFill>
            <a:schemeClr val="accent1"/>
          </a:solidFill>
          <a:ln/>
        </p:spPr>
      </p:sp>
      <p:sp>
        <p:nvSpPr>
          <p:cNvPr id="26" name="paso-t-55"/>
          <p:cNvSpPr txBox="1"/>
          <p:nvPr/>
        </p:nvSpPr>
        <p:spPr>
          <a:xfrm>
            <a:off x="10187178"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Operación</a:t>
            </a:r>
            <a:endParaRPr lang="en-US" sz="1500" dirty="0"/>
          </a:p>
        </p:txBody>
      </p:sp>
      <p:sp>
        <p:nvSpPr>
          <p:cNvPr id="27" name="paso-d-56"/>
          <p:cNvSpPr txBox="1"/>
          <p:nvPr/>
        </p:nvSpPr>
        <p:spPr>
          <a:xfrm>
            <a:off x="10114026" y="2852928"/>
            <a:ext cx="1529029" cy="1097280"/>
          </a:xfrm>
          <a:prstGeom prst="rect">
            <a:avLst/>
          </a:prstGeom>
          <a:noFill/>
          <a:ln/>
        </p:spPr>
        <p:txBody>
          <a:bodyPr wrap="square" lIns="0" tIns="0" rIns="0" bIns="0" rtlCol="0" anchor="t"/>
          <a:lstStyle/>
          <a:p>
            <a:pPr indent="0" marL="0">
              <a:buNone/>
            </a:pPr>
            <a:r>
              <a:rPr lang="en-US" sz="1400" dirty="0">
                <a:solidFill>
                  <a:schemeClr val="tx1"/>
                </a:solidFill>
              </a:rPr>
              <a:t>Monitorear, corregir y mejorar</a:t>
            </a:r>
            <a:endParaRPr lang="en-US" sz="1400" dirty="0"/>
          </a:p>
        </p:txBody>
      </p:sp>
      <p:sp>
        <p:nvSpPr>
          <p:cNvPr id="28" name="linea-57"/>
          <p:cNvSpPr/>
          <p:nvPr/>
        </p:nvSpPr>
        <p:spPr>
          <a:xfrm flipH="1">
            <a:off x="1280160" y="4160520"/>
            <a:ext cx="9692640" cy="0"/>
          </a:xfrm>
          <a:prstGeom prst="line">
            <a:avLst/>
          </a:prstGeom>
          <a:noFill/>
          <a:ln w="22225">
            <a:solidFill>
              <a:schemeClr val="accent1"/>
            </a:solidFill>
            <a:prstDash val="dash"/>
            <a:tailEnd type="triangle"/>
          </a:ln>
        </p:spPr>
      </p:sp>
      <p:sp>
        <p:nvSpPr>
          <p:cNvPr id="29" name="etq-58"/>
          <p:cNvSpPr txBox="1"/>
          <p:nvPr/>
        </p:nvSpPr>
        <p:spPr>
          <a:xfrm>
            <a:off x="548640" y="4297680"/>
            <a:ext cx="11094415" cy="320040"/>
          </a:xfrm>
          <a:prstGeom prst="rect">
            <a:avLst/>
          </a:prstGeom>
          <a:noFill/>
          <a:ln/>
        </p:spPr>
        <p:txBody>
          <a:bodyPr wrap="square" lIns="0" tIns="0" rIns="0" bIns="0" rtlCol="0" anchor="ctr"/>
          <a:lstStyle/>
          <a:p>
            <a:pPr algn="ctr" indent="0" marL="0">
              <a:buNone/>
            </a:pPr>
            <a:r>
              <a:rPr lang="en-US" sz="1400" b="1" dirty="0">
                <a:solidFill>
                  <a:schemeClr val="accent1"/>
                </a:solidFill>
              </a:rPr>
              <a:t>Retroalimentación: la operación y los usuarios generan nuevos requisitos</a:t>
            </a:r>
            <a:endParaRPr lang="en-US" sz="1400" dirty="0"/>
          </a:p>
        </p:txBody>
      </p:sp>
      <p:sp>
        <p:nvSpPr>
          <p:cNvPr id="30" name="destacado-59"/>
          <p:cNvSpPr/>
          <p:nvPr/>
        </p:nvSpPr>
        <p:spPr>
          <a:xfrm>
            <a:off x="548640" y="5120640"/>
            <a:ext cx="11094415" cy="566928"/>
          </a:xfrm>
          <a:prstGeom prst="roundRect">
            <a:avLst>
              <a:gd name="adj" fmla="val 12903"/>
            </a:avLst>
          </a:prstGeom>
          <a:solidFill>
            <a:schemeClr val="tx2"/>
          </a:solidFill>
          <a:ln/>
        </p:spPr>
      </p:sp>
      <p:sp>
        <p:nvSpPr>
          <p:cNvPr id="31" name="destacado-t-60"/>
          <p:cNvSpPr txBox="1"/>
          <p:nvPr/>
        </p:nvSpPr>
        <p:spPr>
          <a:xfrm>
            <a:off x="822960" y="5120640"/>
            <a:ext cx="10545775" cy="566928"/>
          </a:xfrm>
          <a:prstGeom prst="rect">
            <a:avLst/>
          </a:prstGeom>
          <a:noFill/>
          <a:ln/>
        </p:spPr>
        <p:txBody>
          <a:bodyPr wrap="square" lIns="0" tIns="0" rIns="0" bIns="0" rtlCol="0" anchor="ctr"/>
          <a:lstStyle/>
          <a:p>
            <a:pPr indent="0" marL="0">
              <a:buNone/>
            </a:pPr>
            <a:r>
              <a:rPr lang="en-US" sz="1600" dirty="0">
                <a:solidFill>
                  <a:schemeClr val="bg1"/>
                </a:solidFill>
              </a:rPr>
              <a:t>No es una cascada rígida: un hallazgo en pruebas puede obligar a volver al diseño.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FUNDAMENTOS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Las áreas de la ingeniería de software</a:t>
            </a:r>
            <a:endParaRPr lang="en-US" sz="3400" dirty="0"/>
          </a:p>
        </p:txBody>
      </p:sp>
      <p:sp>
        <p:nvSpPr>
          <p:cNvPr id="5" name="tarjeta-61"/>
          <p:cNvSpPr/>
          <p:nvPr/>
        </p:nvSpPr>
        <p:spPr>
          <a:xfrm>
            <a:off x="548640" y="1481328"/>
            <a:ext cx="2567864" cy="2208276"/>
          </a:xfrm>
          <a:prstGeom prst="roundRect">
            <a:avLst>
              <a:gd name="adj" fmla="val 4141"/>
            </a:avLst>
          </a:prstGeom>
          <a:solidFill>
            <a:schemeClr val="bg2"/>
          </a:solidFill>
          <a:ln/>
        </p:spPr>
      </p:sp>
      <p:sp>
        <p:nvSpPr>
          <p:cNvPr id="6" name="circulo-62"/>
          <p:cNvSpPr/>
          <p:nvPr/>
        </p:nvSpPr>
        <p:spPr>
          <a:xfrm>
            <a:off x="749808" y="1682496"/>
            <a:ext cx="438912" cy="438912"/>
          </a:xfrm>
          <a:prstGeom prst="ellipse">
            <a:avLst/>
          </a:prstGeom>
          <a:solidFill>
            <a:schemeClr val="accent1"/>
          </a:solidFill>
          <a:ln/>
        </p:spPr>
      </p:sp>
      <p:sp>
        <p:nvSpPr>
          <p:cNvPr id="7" name="num-63"/>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64"/>
          <p:cNvSpPr txBox="1"/>
          <p:nvPr/>
        </p:nvSpPr>
        <p:spPr>
          <a:xfrm>
            <a:off x="1325880" y="1664208"/>
            <a:ext cx="1607744"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Requisitos</a:t>
            </a:r>
            <a:endParaRPr lang="en-US" sz="1500" dirty="0"/>
          </a:p>
        </p:txBody>
      </p:sp>
      <p:sp>
        <p:nvSpPr>
          <p:cNvPr id="9" name="desc-65"/>
          <p:cNvSpPr txBox="1"/>
          <p:nvPr/>
        </p:nvSpPr>
        <p:spPr>
          <a:xfrm>
            <a:off x="777240" y="2267712"/>
            <a:ext cx="2110664" cy="1293876"/>
          </a:xfrm>
          <a:prstGeom prst="rect">
            <a:avLst/>
          </a:prstGeom>
          <a:noFill/>
          <a:ln/>
        </p:spPr>
        <p:txBody>
          <a:bodyPr wrap="square" lIns="0" tIns="0" rIns="0" bIns="0" rtlCol="0" anchor="t"/>
          <a:lstStyle/>
          <a:p>
            <a:pPr indent="0" marL="0">
              <a:buNone/>
            </a:pPr>
            <a:r>
              <a:rPr lang="en-US" sz="1400" dirty="0">
                <a:solidFill>
                  <a:schemeClr val="tx1"/>
                </a:solidFill>
              </a:rPr>
              <a:t>Descubrir, acordar y documentar qué se necesita.</a:t>
            </a:r>
            <a:endParaRPr lang="en-US" sz="1400" dirty="0"/>
          </a:p>
        </p:txBody>
      </p:sp>
      <p:sp>
        <p:nvSpPr>
          <p:cNvPr id="10" name="tarjeta-66"/>
          <p:cNvSpPr/>
          <p:nvPr/>
        </p:nvSpPr>
        <p:spPr>
          <a:xfrm>
            <a:off x="3390824" y="1481328"/>
            <a:ext cx="2567864" cy="2208276"/>
          </a:xfrm>
          <a:prstGeom prst="roundRect">
            <a:avLst>
              <a:gd name="adj" fmla="val 4141"/>
            </a:avLst>
          </a:prstGeom>
          <a:solidFill>
            <a:schemeClr val="bg2"/>
          </a:solidFill>
          <a:ln/>
        </p:spPr>
      </p:sp>
      <p:sp>
        <p:nvSpPr>
          <p:cNvPr id="11" name="circulo-67"/>
          <p:cNvSpPr/>
          <p:nvPr/>
        </p:nvSpPr>
        <p:spPr>
          <a:xfrm>
            <a:off x="3591992" y="1682496"/>
            <a:ext cx="438912" cy="438912"/>
          </a:xfrm>
          <a:prstGeom prst="ellipse">
            <a:avLst/>
          </a:prstGeom>
          <a:solidFill>
            <a:schemeClr val="accent2"/>
          </a:solidFill>
          <a:ln/>
        </p:spPr>
      </p:sp>
      <p:sp>
        <p:nvSpPr>
          <p:cNvPr id="12" name="num-68"/>
          <p:cNvSpPr txBox="1"/>
          <p:nvPr/>
        </p:nvSpPr>
        <p:spPr>
          <a:xfrm>
            <a:off x="359199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69"/>
          <p:cNvSpPr txBox="1"/>
          <p:nvPr/>
        </p:nvSpPr>
        <p:spPr>
          <a:xfrm>
            <a:off x="4168064" y="1664208"/>
            <a:ext cx="1607744"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Arquitectura y diseño</a:t>
            </a:r>
            <a:endParaRPr lang="en-US" sz="1500" dirty="0"/>
          </a:p>
        </p:txBody>
      </p:sp>
      <p:sp>
        <p:nvSpPr>
          <p:cNvPr id="14" name="desc-70"/>
          <p:cNvSpPr txBox="1"/>
          <p:nvPr/>
        </p:nvSpPr>
        <p:spPr>
          <a:xfrm>
            <a:off x="3619424" y="2267712"/>
            <a:ext cx="2110664" cy="1293876"/>
          </a:xfrm>
          <a:prstGeom prst="rect">
            <a:avLst/>
          </a:prstGeom>
          <a:noFill/>
          <a:ln/>
        </p:spPr>
        <p:txBody>
          <a:bodyPr wrap="square" lIns="0" tIns="0" rIns="0" bIns="0" rtlCol="0" anchor="t"/>
          <a:lstStyle/>
          <a:p>
            <a:pPr indent="0" marL="0">
              <a:buNone/>
            </a:pPr>
            <a:r>
              <a:rPr lang="en-US" sz="1400" dirty="0">
                <a:solidFill>
                  <a:schemeClr val="tx1"/>
                </a:solidFill>
              </a:rPr>
              <a:t>Estructura, responsabilidades y dependencias.</a:t>
            </a:r>
            <a:endParaRPr lang="en-US" sz="1400" dirty="0"/>
          </a:p>
        </p:txBody>
      </p:sp>
      <p:sp>
        <p:nvSpPr>
          <p:cNvPr id="15" name="tarjeta-71"/>
          <p:cNvSpPr/>
          <p:nvPr/>
        </p:nvSpPr>
        <p:spPr>
          <a:xfrm>
            <a:off x="6233008" y="1481328"/>
            <a:ext cx="2567864" cy="2208276"/>
          </a:xfrm>
          <a:prstGeom prst="roundRect">
            <a:avLst>
              <a:gd name="adj" fmla="val 4141"/>
            </a:avLst>
          </a:prstGeom>
          <a:solidFill>
            <a:schemeClr val="bg2"/>
          </a:solidFill>
          <a:ln/>
        </p:spPr>
      </p:sp>
      <p:sp>
        <p:nvSpPr>
          <p:cNvPr id="16" name="circulo-72"/>
          <p:cNvSpPr/>
          <p:nvPr/>
        </p:nvSpPr>
        <p:spPr>
          <a:xfrm>
            <a:off x="6434176" y="1682496"/>
            <a:ext cx="438912" cy="438912"/>
          </a:xfrm>
          <a:prstGeom prst="ellipse">
            <a:avLst/>
          </a:prstGeom>
          <a:solidFill>
            <a:schemeClr val="accent3"/>
          </a:solidFill>
          <a:ln/>
        </p:spPr>
      </p:sp>
      <p:sp>
        <p:nvSpPr>
          <p:cNvPr id="17" name="num-73"/>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74"/>
          <p:cNvSpPr txBox="1"/>
          <p:nvPr/>
        </p:nvSpPr>
        <p:spPr>
          <a:xfrm>
            <a:off x="7010248" y="1664208"/>
            <a:ext cx="1607744"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Construcción</a:t>
            </a:r>
            <a:endParaRPr lang="en-US" sz="1500" dirty="0"/>
          </a:p>
        </p:txBody>
      </p:sp>
      <p:sp>
        <p:nvSpPr>
          <p:cNvPr id="19" name="desc-75"/>
          <p:cNvSpPr txBox="1"/>
          <p:nvPr/>
        </p:nvSpPr>
        <p:spPr>
          <a:xfrm>
            <a:off x="6461608" y="2267712"/>
            <a:ext cx="2110664" cy="1293876"/>
          </a:xfrm>
          <a:prstGeom prst="rect">
            <a:avLst/>
          </a:prstGeom>
          <a:noFill/>
          <a:ln/>
        </p:spPr>
        <p:txBody>
          <a:bodyPr wrap="square" lIns="0" tIns="0" rIns="0" bIns="0" rtlCol="0" anchor="t"/>
          <a:lstStyle/>
          <a:p>
            <a:pPr indent="0" marL="0">
              <a:buNone/>
            </a:pPr>
            <a:r>
              <a:rPr lang="en-US" sz="1400" dirty="0">
                <a:solidFill>
                  <a:schemeClr val="tx1"/>
                </a:solidFill>
              </a:rPr>
              <a:t>Programar con calidad: clean code, revisiones.</a:t>
            </a:r>
            <a:endParaRPr lang="en-US" sz="1400" dirty="0"/>
          </a:p>
        </p:txBody>
      </p:sp>
      <p:sp>
        <p:nvSpPr>
          <p:cNvPr id="20" name="tarjeta-76"/>
          <p:cNvSpPr/>
          <p:nvPr/>
        </p:nvSpPr>
        <p:spPr>
          <a:xfrm>
            <a:off x="9075191" y="1481328"/>
            <a:ext cx="2567864" cy="2208276"/>
          </a:xfrm>
          <a:prstGeom prst="roundRect">
            <a:avLst>
              <a:gd name="adj" fmla="val 4141"/>
            </a:avLst>
          </a:prstGeom>
          <a:solidFill>
            <a:schemeClr val="bg2"/>
          </a:solidFill>
          <a:ln/>
        </p:spPr>
      </p:sp>
      <p:sp>
        <p:nvSpPr>
          <p:cNvPr id="21" name="circulo-77"/>
          <p:cNvSpPr/>
          <p:nvPr/>
        </p:nvSpPr>
        <p:spPr>
          <a:xfrm>
            <a:off x="9276359" y="1682496"/>
            <a:ext cx="438912" cy="438912"/>
          </a:xfrm>
          <a:prstGeom prst="ellipse">
            <a:avLst/>
          </a:prstGeom>
          <a:solidFill>
            <a:schemeClr val="accent4"/>
          </a:solidFill>
          <a:ln/>
        </p:spPr>
      </p:sp>
      <p:sp>
        <p:nvSpPr>
          <p:cNvPr id="22" name="num-78"/>
          <p:cNvSpPr txBox="1"/>
          <p:nvPr/>
        </p:nvSpPr>
        <p:spPr>
          <a:xfrm>
            <a:off x="927635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79"/>
          <p:cNvSpPr txBox="1"/>
          <p:nvPr/>
        </p:nvSpPr>
        <p:spPr>
          <a:xfrm>
            <a:off x="9852431" y="1664208"/>
            <a:ext cx="1607744"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Pruebas</a:t>
            </a:r>
            <a:endParaRPr lang="en-US" sz="1500" dirty="0"/>
          </a:p>
        </p:txBody>
      </p:sp>
      <p:sp>
        <p:nvSpPr>
          <p:cNvPr id="24" name="desc-80"/>
          <p:cNvSpPr txBox="1"/>
          <p:nvPr/>
        </p:nvSpPr>
        <p:spPr>
          <a:xfrm>
            <a:off x="9303791" y="2267712"/>
            <a:ext cx="2110664" cy="1293876"/>
          </a:xfrm>
          <a:prstGeom prst="rect">
            <a:avLst/>
          </a:prstGeom>
          <a:noFill/>
          <a:ln/>
        </p:spPr>
        <p:txBody>
          <a:bodyPr wrap="square" lIns="0" tIns="0" rIns="0" bIns="0" rtlCol="0" anchor="t"/>
          <a:lstStyle/>
          <a:p>
            <a:pPr indent="0" marL="0">
              <a:buNone/>
            </a:pPr>
            <a:r>
              <a:rPr lang="en-US" sz="1400" dirty="0">
                <a:solidFill>
                  <a:schemeClr val="tx1"/>
                </a:solidFill>
              </a:rPr>
              <a:t>Buscar diferencias entre lo esperado y lo obtenido.</a:t>
            </a:r>
            <a:endParaRPr lang="en-US" sz="1400" dirty="0"/>
          </a:p>
        </p:txBody>
      </p:sp>
      <p:sp>
        <p:nvSpPr>
          <p:cNvPr id="25" name="tarjeta-81"/>
          <p:cNvSpPr/>
          <p:nvPr/>
        </p:nvSpPr>
        <p:spPr>
          <a:xfrm>
            <a:off x="548640" y="3963924"/>
            <a:ext cx="2567864" cy="2208276"/>
          </a:xfrm>
          <a:prstGeom prst="roundRect">
            <a:avLst>
              <a:gd name="adj" fmla="val 4141"/>
            </a:avLst>
          </a:prstGeom>
          <a:solidFill>
            <a:schemeClr val="bg2"/>
          </a:solidFill>
          <a:ln/>
        </p:spPr>
      </p:sp>
      <p:sp>
        <p:nvSpPr>
          <p:cNvPr id="26" name="circulo-82"/>
          <p:cNvSpPr/>
          <p:nvPr/>
        </p:nvSpPr>
        <p:spPr>
          <a:xfrm>
            <a:off x="749808" y="4165092"/>
            <a:ext cx="438912" cy="438912"/>
          </a:xfrm>
          <a:prstGeom prst="ellipse">
            <a:avLst/>
          </a:prstGeom>
          <a:solidFill>
            <a:schemeClr val="accent4"/>
          </a:solidFill>
          <a:ln/>
        </p:spPr>
      </p:sp>
      <p:sp>
        <p:nvSpPr>
          <p:cNvPr id="27" name="num-83"/>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84"/>
          <p:cNvSpPr txBox="1"/>
          <p:nvPr/>
        </p:nvSpPr>
        <p:spPr>
          <a:xfrm>
            <a:off x="1325880" y="4146804"/>
            <a:ext cx="1607744"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Configuración</a:t>
            </a:r>
            <a:endParaRPr lang="en-US" sz="1500" dirty="0"/>
          </a:p>
        </p:txBody>
      </p:sp>
      <p:sp>
        <p:nvSpPr>
          <p:cNvPr id="29" name="desc-85"/>
          <p:cNvSpPr txBox="1"/>
          <p:nvPr/>
        </p:nvSpPr>
        <p:spPr>
          <a:xfrm>
            <a:off x="777240" y="4750308"/>
            <a:ext cx="2110664" cy="1293876"/>
          </a:xfrm>
          <a:prstGeom prst="rect">
            <a:avLst/>
          </a:prstGeom>
          <a:noFill/>
          <a:ln/>
        </p:spPr>
        <p:txBody>
          <a:bodyPr wrap="square" lIns="0" tIns="0" rIns="0" bIns="0" rtlCol="0" anchor="t"/>
          <a:lstStyle/>
          <a:p>
            <a:pPr indent="0" marL="0">
              <a:buNone/>
            </a:pPr>
            <a:r>
              <a:rPr lang="en-US" sz="1400" dirty="0">
                <a:solidFill>
                  <a:schemeClr val="tx1"/>
                </a:solidFill>
              </a:rPr>
              <a:t>Versiones, ramas, builds y entregas (Git, CI).</a:t>
            </a:r>
            <a:endParaRPr lang="en-US" sz="1400" dirty="0"/>
          </a:p>
        </p:txBody>
      </p:sp>
      <p:sp>
        <p:nvSpPr>
          <p:cNvPr id="30" name="tarjeta-86"/>
          <p:cNvSpPr/>
          <p:nvPr/>
        </p:nvSpPr>
        <p:spPr>
          <a:xfrm>
            <a:off x="3390824" y="3963924"/>
            <a:ext cx="2567864" cy="2208276"/>
          </a:xfrm>
          <a:prstGeom prst="roundRect">
            <a:avLst>
              <a:gd name="adj" fmla="val 4141"/>
            </a:avLst>
          </a:prstGeom>
          <a:solidFill>
            <a:schemeClr val="bg2"/>
          </a:solidFill>
          <a:ln/>
        </p:spPr>
      </p:sp>
      <p:sp>
        <p:nvSpPr>
          <p:cNvPr id="31" name="circulo-87"/>
          <p:cNvSpPr/>
          <p:nvPr/>
        </p:nvSpPr>
        <p:spPr>
          <a:xfrm>
            <a:off x="3591992" y="4165092"/>
            <a:ext cx="438912" cy="438912"/>
          </a:xfrm>
          <a:prstGeom prst="ellipse">
            <a:avLst/>
          </a:prstGeom>
          <a:solidFill>
            <a:schemeClr val="accent3"/>
          </a:solidFill>
          <a:ln/>
        </p:spPr>
      </p:sp>
      <p:sp>
        <p:nvSpPr>
          <p:cNvPr id="32" name="num-88"/>
          <p:cNvSpPr txBox="1"/>
          <p:nvPr/>
        </p:nvSpPr>
        <p:spPr>
          <a:xfrm>
            <a:off x="3591992"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89"/>
          <p:cNvSpPr txBox="1"/>
          <p:nvPr/>
        </p:nvSpPr>
        <p:spPr>
          <a:xfrm>
            <a:off x="4168064" y="4146804"/>
            <a:ext cx="1607744"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Operación y mantenimiento</a:t>
            </a:r>
            <a:endParaRPr lang="en-US" sz="1500" dirty="0"/>
          </a:p>
        </p:txBody>
      </p:sp>
      <p:sp>
        <p:nvSpPr>
          <p:cNvPr id="34" name="desc-90"/>
          <p:cNvSpPr txBox="1"/>
          <p:nvPr/>
        </p:nvSpPr>
        <p:spPr>
          <a:xfrm>
            <a:off x="3619424" y="4750308"/>
            <a:ext cx="2110664" cy="1293876"/>
          </a:xfrm>
          <a:prstGeom prst="rect">
            <a:avLst/>
          </a:prstGeom>
          <a:noFill/>
          <a:ln/>
        </p:spPr>
        <p:txBody>
          <a:bodyPr wrap="square" lIns="0" tIns="0" rIns="0" bIns="0" rtlCol="0" anchor="t"/>
          <a:lstStyle/>
          <a:p>
            <a:pPr indent="0" marL="0">
              <a:buNone/>
            </a:pPr>
            <a:r>
              <a:rPr lang="en-US" sz="1400" dirty="0">
                <a:solidFill>
                  <a:schemeClr val="tx1"/>
                </a:solidFill>
              </a:rPr>
              <a:t>Desplegar, observar, corregir y evolucionar.</a:t>
            </a:r>
            <a:endParaRPr lang="en-US" sz="1400" dirty="0"/>
          </a:p>
        </p:txBody>
      </p:sp>
      <p:sp>
        <p:nvSpPr>
          <p:cNvPr id="35" name="tarjeta-91"/>
          <p:cNvSpPr/>
          <p:nvPr/>
        </p:nvSpPr>
        <p:spPr>
          <a:xfrm>
            <a:off x="6233008" y="3963924"/>
            <a:ext cx="2567864" cy="2208276"/>
          </a:xfrm>
          <a:prstGeom prst="roundRect">
            <a:avLst>
              <a:gd name="adj" fmla="val 4141"/>
            </a:avLst>
          </a:prstGeom>
          <a:solidFill>
            <a:schemeClr val="bg2"/>
          </a:solidFill>
          <a:ln/>
        </p:spPr>
      </p:sp>
      <p:sp>
        <p:nvSpPr>
          <p:cNvPr id="36" name="circulo-92"/>
          <p:cNvSpPr/>
          <p:nvPr/>
        </p:nvSpPr>
        <p:spPr>
          <a:xfrm>
            <a:off x="6434176" y="4165092"/>
            <a:ext cx="438912" cy="438912"/>
          </a:xfrm>
          <a:prstGeom prst="ellipse">
            <a:avLst/>
          </a:prstGeom>
          <a:solidFill>
            <a:schemeClr val="accent2"/>
          </a:solidFill>
          <a:ln/>
        </p:spPr>
      </p:sp>
      <p:sp>
        <p:nvSpPr>
          <p:cNvPr id="37" name="num-93"/>
          <p:cNvSpPr txBox="1"/>
          <p:nvPr/>
        </p:nvSpPr>
        <p:spPr>
          <a:xfrm>
            <a:off x="643417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8" name="titulo-94"/>
          <p:cNvSpPr txBox="1"/>
          <p:nvPr/>
        </p:nvSpPr>
        <p:spPr>
          <a:xfrm>
            <a:off x="7010248" y="4146804"/>
            <a:ext cx="1607744"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Gestión del proceso</a:t>
            </a:r>
            <a:endParaRPr lang="en-US" sz="1500" dirty="0"/>
          </a:p>
        </p:txBody>
      </p:sp>
      <p:sp>
        <p:nvSpPr>
          <p:cNvPr id="39" name="desc-95"/>
          <p:cNvSpPr txBox="1"/>
          <p:nvPr/>
        </p:nvSpPr>
        <p:spPr>
          <a:xfrm>
            <a:off x="6461608" y="4750308"/>
            <a:ext cx="2110664" cy="1293876"/>
          </a:xfrm>
          <a:prstGeom prst="rect">
            <a:avLst/>
          </a:prstGeom>
          <a:noFill/>
          <a:ln/>
        </p:spPr>
        <p:txBody>
          <a:bodyPr wrap="square" lIns="0" tIns="0" rIns="0" bIns="0" rtlCol="0" anchor="t"/>
          <a:lstStyle/>
          <a:p>
            <a:pPr indent="0" marL="0">
              <a:buNone/>
            </a:pPr>
            <a:r>
              <a:rPr lang="en-US" sz="1400" dirty="0">
                <a:solidFill>
                  <a:schemeClr val="tx1"/>
                </a:solidFill>
              </a:rPr>
              <a:t>Metodología, planificación, riesgos y equipo.</a:t>
            </a:r>
            <a:endParaRPr lang="en-US" sz="1400" dirty="0"/>
          </a:p>
        </p:txBody>
      </p:sp>
      <p:sp>
        <p:nvSpPr>
          <p:cNvPr id="40" name="tarjeta-96"/>
          <p:cNvSpPr/>
          <p:nvPr/>
        </p:nvSpPr>
        <p:spPr>
          <a:xfrm>
            <a:off x="9075191" y="3963924"/>
            <a:ext cx="2567864" cy="2208276"/>
          </a:xfrm>
          <a:prstGeom prst="roundRect">
            <a:avLst>
              <a:gd name="adj" fmla="val 4141"/>
            </a:avLst>
          </a:prstGeom>
          <a:solidFill>
            <a:schemeClr val="bg2"/>
          </a:solidFill>
          <a:ln/>
        </p:spPr>
      </p:sp>
      <p:sp>
        <p:nvSpPr>
          <p:cNvPr id="41" name="circulo-97"/>
          <p:cNvSpPr/>
          <p:nvPr/>
        </p:nvSpPr>
        <p:spPr>
          <a:xfrm>
            <a:off x="9276359" y="4165092"/>
            <a:ext cx="438912" cy="438912"/>
          </a:xfrm>
          <a:prstGeom prst="ellipse">
            <a:avLst/>
          </a:prstGeom>
          <a:solidFill>
            <a:schemeClr val="accent1"/>
          </a:solidFill>
          <a:ln/>
        </p:spPr>
      </p:sp>
      <p:sp>
        <p:nvSpPr>
          <p:cNvPr id="42" name="num-98"/>
          <p:cNvSpPr txBox="1"/>
          <p:nvPr/>
        </p:nvSpPr>
        <p:spPr>
          <a:xfrm>
            <a:off x="9276359"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3" name="titulo-99"/>
          <p:cNvSpPr txBox="1"/>
          <p:nvPr/>
        </p:nvSpPr>
        <p:spPr>
          <a:xfrm>
            <a:off x="9852431" y="4146804"/>
            <a:ext cx="1607744"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Calidad y seguridad</a:t>
            </a:r>
            <a:endParaRPr lang="en-US" sz="1500" dirty="0"/>
          </a:p>
        </p:txBody>
      </p:sp>
      <p:sp>
        <p:nvSpPr>
          <p:cNvPr id="44" name="desc-100"/>
          <p:cNvSpPr txBox="1"/>
          <p:nvPr/>
        </p:nvSpPr>
        <p:spPr>
          <a:xfrm>
            <a:off x="9303791" y="4750308"/>
            <a:ext cx="2110664" cy="1293876"/>
          </a:xfrm>
          <a:prstGeom prst="rect">
            <a:avLst/>
          </a:prstGeom>
          <a:noFill/>
          <a:ln/>
        </p:spPr>
        <p:txBody>
          <a:bodyPr wrap="square" lIns="0" tIns="0" rIns="0" bIns="0" rtlCol="0" anchor="t"/>
          <a:lstStyle/>
          <a:p>
            <a:pPr indent="0" marL="0">
              <a:buNone/>
            </a:pPr>
            <a:r>
              <a:rPr lang="en-US" sz="1400" dirty="0">
                <a:solidFill>
                  <a:schemeClr val="tx1"/>
                </a:solidFill>
              </a:rPr>
              <a:t>Atributos medibles y protección de datos.</a:t>
            </a:r>
            <a:endParaRPr lang="en-US" sz="14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02</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Requisitos</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Antes de la arquitectura hay que saber qué se construye y para quién. Los requisitos no funcionales son los que deciden la arquitectura.</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REQUISITOS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Tipos de requisitos</a:t>
            </a:r>
            <a:endParaRPr lang="en-US" sz="3400" dirty="0"/>
          </a:p>
        </p:txBody>
      </p:sp>
      <p:graphicFrame>
        <p:nvGraphicFramePr>
          <p:cNvPr id="9" name="tabla-101"/>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926080"/>
                <a:gridCol w="4572000"/>
                <a:gridCol w="3593592"/>
              </a:tblGrid>
              <a:tr h="566928">
                <a:tc>
                  <a:txBody>
                    <a:bodyPr/>
                    <a:lstStyle/>
                    <a:p>
                      <a:pPr indent="0" marL="0">
                        <a:buNone/>
                      </a:pPr>
                      <a:r>
                        <a:rPr lang="en-US" sz="1400" b="1" dirty="0">
                          <a:solidFill>
                            <a:schemeClr val="bg1"/>
                          </a:solidFill>
                        </a:rPr>
                        <a:t>Tipo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Qué 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Ejemplo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Funcional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 que el sistema hace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Crear y mover una tarea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No funcional (atributo de calidad)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Cómo lo hace: rendimiento, seguridad, disponibilidad, usabilidad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Responder en menos de 300 ms con 100 usuarios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Regla de negocio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Política que restringe lo permitido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Máximo 3 tareas en curso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Restricción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Condición impuesta al proyecto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Java 21 y PostgreSQL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Fuera de alcance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 que explícitamente no se hará ahora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Login y múltiples tableros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6" name="destacado-102"/>
          <p:cNvSpPr/>
          <p:nvPr/>
        </p:nvSpPr>
        <p:spPr>
          <a:xfrm>
            <a:off x="548640" y="5440680"/>
            <a:ext cx="11094415" cy="566928"/>
          </a:xfrm>
          <a:prstGeom prst="roundRect">
            <a:avLst>
              <a:gd name="adj" fmla="val 12903"/>
            </a:avLst>
          </a:prstGeom>
          <a:solidFill>
            <a:schemeClr val="tx2"/>
          </a:solidFill>
          <a:ln/>
        </p:spPr>
      </p:sp>
      <p:sp>
        <p:nvSpPr>
          <p:cNvPr id="7" name="destacado-t-103"/>
          <p:cNvSpPr txBox="1"/>
          <p:nvPr/>
        </p:nvSpPr>
        <p:spPr>
          <a:xfrm>
            <a:off x="822960" y="5440680"/>
            <a:ext cx="10545775" cy="566928"/>
          </a:xfrm>
          <a:prstGeom prst="rect">
            <a:avLst/>
          </a:prstGeom>
          <a:noFill/>
          <a:ln/>
        </p:spPr>
        <p:txBody>
          <a:bodyPr wrap="square" lIns="0" tIns="0" rIns="0" bIns="0" rtlCol="0" anchor="ctr"/>
          <a:lstStyle/>
          <a:p>
            <a:pPr indent="0" marL="0">
              <a:buNone/>
            </a:pPr>
            <a:r>
              <a:rPr lang="en-US" sz="1600" dirty="0">
                <a:solidFill>
                  <a:schemeClr val="bg1"/>
                </a:solidFill>
              </a:rPr>
              <a:t>Un requisito vale cuando se puede verificar: si no sabes cómo probarlo, todavía no está claro.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REQUISITOS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Historias de usuario y criterios de aceptación</a:t>
            </a:r>
            <a:endParaRPr lang="en-US" sz="3400" dirty="0"/>
          </a:p>
        </p:txBody>
      </p:sp>
      <p:sp>
        <p:nvSpPr>
          <p:cNvPr id="5" name="caja-104"/>
          <p:cNvSpPr/>
          <p:nvPr/>
        </p:nvSpPr>
        <p:spPr>
          <a:xfrm>
            <a:off x="548640" y="1481328"/>
            <a:ext cx="5120640" cy="502920"/>
          </a:xfrm>
          <a:prstGeom prst="roundRect">
            <a:avLst>
              <a:gd name="adj" fmla="val 14545"/>
            </a:avLst>
          </a:prstGeom>
          <a:solidFill>
            <a:schemeClr val="accent1"/>
          </a:solidFill>
          <a:ln/>
        </p:spPr>
      </p:sp>
      <p:sp>
        <p:nvSpPr>
          <p:cNvPr id="6" name="caja-t-105"/>
          <p:cNvSpPr txBox="1"/>
          <p:nvPr/>
        </p:nvSpPr>
        <p:spPr>
          <a:xfrm>
            <a:off x="640080" y="1481328"/>
            <a:ext cx="4937760" cy="502920"/>
          </a:xfrm>
          <a:prstGeom prst="rect">
            <a:avLst/>
          </a:prstGeom>
          <a:noFill/>
          <a:ln/>
        </p:spPr>
        <p:txBody>
          <a:bodyPr wrap="square" lIns="0" tIns="0" rIns="0" bIns="0" rtlCol="0" anchor="ctr"/>
          <a:lstStyle/>
          <a:p>
            <a:pPr algn="ctr" indent="0" marL="0">
              <a:buNone/>
            </a:pPr>
            <a:r>
              <a:rPr lang="en-US" sz="1400" b="1" dirty="0">
                <a:solidFill>
                  <a:schemeClr val="bg1"/>
                </a:solidFill>
              </a:rPr>
              <a:t>HISTORIA DE USUARIO</a:t>
            </a:r>
            <a:endParaRPr lang="en-US" sz="1400" dirty="0"/>
          </a:p>
        </p:txBody>
      </p:sp>
      <p:sp>
        <p:nvSpPr>
          <p:cNvPr id="7" name="texto-106"/>
          <p:cNvSpPr txBox="1"/>
          <p:nvPr/>
        </p:nvSpPr>
        <p:spPr>
          <a:xfrm>
            <a:off x="548640" y="2167128"/>
            <a:ext cx="5120640" cy="1371600"/>
          </a:xfrm>
          <a:prstGeom prst="rect">
            <a:avLst/>
          </a:prstGeom>
          <a:noFill/>
          <a:ln/>
        </p:spPr>
        <p:txBody>
          <a:bodyPr wrap="square" lIns="0" tIns="0" rIns="0" bIns="0" rtlCol="0" anchor="t"/>
          <a:lstStyle/>
          <a:p>
            <a:pPr indent="0" marL="0">
              <a:buNone/>
            </a:pPr>
            <a:r>
              <a:rPr lang="en-US" sz="2200" dirty="0">
                <a:solidFill>
                  <a:schemeClr val="tx1"/>
                </a:solidFill>
              </a:rPr>
              <a:t>Como </a:t>
            </a:r>
            <a:pPr indent="0" marL="0">
              <a:buNone/>
            </a:pPr>
            <a:r>
              <a:rPr lang="en-US" sz="2200" b="1" dirty="0">
                <a:solidFill>
                  <a:schemeClr val="accent1"/>
                </a:solidFill>
              </a:rPr>
              <a:t>&lt;rol&gt;</a:t>
            </a:r>
            <a:pPr indent="0" marL="0">
              <a:buNone/>
            </a:pPr>
            <a:r>
              <a:rPr lang="en-US" sz="2200" dirty="0">
                <a:solidFill>
                  <a:schemeClr val="tx1"/>
                </a:solidFill>
              </a:rPr>
              <a:t>,</a:t>
            </a:r>
            <a:endParaRPr lang="en-US" sz="2200" dirty="0"/>
          </a:p>
          <a:p>
            <a:pPr indent="0" marL="0">
              <a:buNone/>
            </a:pPr>
            <a:r>
              <a:rPr lang="en-US" sz="2200" dirty="0">
                <a:solidFill>
                  <a:schemeClr val="tx1"/>
                </a:solidFill>
              </a:rPr>
              <a:t>quiero </a:t>
            </a:r>
            <a:pPr indent="0" marL="0">
              <a:buNone/>
            </a:pPr>
            <a:r>
              <a:rPr lang="en-US" sz="2200" b="1" dirty="0">
                <a:solidFill>
                  <a:schemeClr val="accent1"/>
                </a:solidFill>
              </a:rPr>
              <a:t>&lt;acción&gt;</a:t>
            </a:r>
            <a:pPr indent="0" marL="0">
              <a:buNone/>
            </a:pPr>
            <a:r>
              <a:rPr lang="en-US" sz="2200" dirty="0">
                <a:solidFill>
                  <a:schemeClr val="tx1"/>
                </a:solidFill>
              </a:rPr>
              <a:t>,</a:t>
            </a:r>
            <a:endParaRPr lang="en-US" sz="2200" dirty="0"/>
          </a:p>
          <a:p>
            <a:pPr indent="0" marL="0">
              <a:buNone/>
            </a:pPr>
            <a:r>
              <a:rPr lang="en-US" sz="2200" dirty="0">
                <a:solidFill>
                  <a:schemeClr val="tx1"/>
                </a:solidFill>
              </a:rPr>
              <a:t>para </a:t>
            </a:r>
            <a:pPr indent="0" marL="0">
              <a:buNone/>
            </a:pPr>
            <a:r>
              <a:rPr lang="en-US" sz="2200" b="1" dirty="0">
                <a:solidFill>
                  <a:schemeClr val="accent1"/>
                </a:solidFill>
              </a:rPr>
              <a:t>&lt;beneficio&gt;</a:t>
            </a:r>
            <a:pPr indent="0" marL="0">
              <a:buNone/>
            </a:pPr>
            <a:r>
              <a:rPr lang="en-US" sz="2200" dirty="0">
                <a:solidFill>
                  <a:schemeClr val="tx1"/>
                </a:solidFill>
              </a:rPr>
              <a:t>.</a:t>
            </a:r>
            <a:endParaRPr lang="en-US" sz="2200" dirty="0"/>
          </a:p>
        </p:txBody>
      </p:sp>
      <p:sp>
        <p:nvSpPr>
          <p:cNvPr id="8" name="lista-107"/>
          <p:cNvSpPr txBox="1"/>
          <p:nvPr/>
        </p:nvSpPr>
        <p:spPr>
          <a:xfrm>
            <a:off x="548640" y="4160520"/>
            <a:ext cx="5120640" cy="19202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Pequeña: se termina en un Sprint</a:t>
            </a:r>
            <a:endParaRPr lang="en-US" sz="1600" dirty="0"/>
          </a:p>
          <a:p>
            <a:pPr marL="228600" indent="-228600">
              <a:spcAft>
                <a:spcPts val="800"/>
              </a:spcAft>
              <a:buSzPct val="100000"/>
              <a:buChar char="•"/>
            </a:pPr>
            <a:r>
              <a:rPr lang="en-US" sz="1600" dirty="0">
                <a:solidFill>
                  <a:schemeClr val="tx1"/>
                </a:solidFill>
              </a:rPr>
              <a:t>Independiente y negociable</a:t>
            </a:r>
            <a:endParaRPr lang="en-US" sz="1600" dirty="0"/>
          </a:p>
          <a:p>
            <a:pPr marL="228600" indent="-228600">
              <a:spcAft>
                <a:spcPts val="800"/>
              </a:spcAft>
              <a:buSzPct val="100000"/>
              <a:buChar char="•"/>
            </a:pPr>
            <a:r>
              <a:rPr lang="en-US" sz="1600" dirty="0">
                <a:solidFill>
                  <a:schemeClr val="tx1"/>
                </a:solidFill>
              </a:rPr>
              <a:t>Escrita desde el usuario, no desde la tecnología</a:t>
            </a:r>
            <a:endParaRPr lang="en-US" sz="1600" dirty="0"/>
          </a:p>
          <a:p>
            <a:pPr marL="228600" indent="-228600">
              <a:spcAft>
                <a:spcPts val="800"/>
              </a:spcAft>
              <a:buSzPct val="100000"/>
              <a:buChar char="•"/>
            </a:pPr>
            <a:r>
              <a:rPr lang="en-US" sz="1600" dirty="0">
                <a:solidFill>
                  <a:schemeClr val="tx1"/>
                </a:solidFill>
              </a:rPr>
              <a:t>Lleva sus criterios de aceptación</a:t>
            </a:r>
            <a:endParaRPr lang="en-US" sz="1600" dirty="0"/>
          </a:p>
        </p:txBody>
      </p:sp>
      <p:sp>
        <p:nvSpPr>
          <p:cNvPr id="9" name="caja-108"/>
          <p:cNvSpPr/>
          <p:nvPr/>
        </p:nvSpPr>
        <p:spPr>
          <a:xfrm>
            <a:off x="6217920" y="1481328"/>
            <a:ext cx="1737360" cy="1234440"/>
          </a:xfrm>
          <a:prstGeom prst="roundRect">
            <a:avLst>
              <a:gd name="adj" fmla="val 5926"/>
            </a:avLst>
          </a:prstGeom>
          <a:solidFill>
            <a:schemeClr val="tx2"/>
          </a:solidFill>
          <a:ln/>
        </p:spPr>
      </p:sp>
      <p:sp>
        <p:nvSpPr>
          <p:cNvPr id="10" name="caja-t-109"/>
          <p:cNvSpPr txBox="1"/>
          <p:nvPr/>
        </p:nvSpPr>
        <p:spPr>
          <a:xfrm>
            <a:off x="6309360" y="1481328"/>
            <a:ext cx="1554480" cy="1234440"/>
          </a:xfrm>
          <a:prstGeom prst="rect">
            <a:avLst/>
          </a:prstGeom>
          <a:noFill/>
          <a:ln/>
        </p:spPr>
        <p:txBody>
          <a:bodyPr wrap="square" lIns="0" tIns="0" rIns="0" bIns="0" rtlCol="0" anchor="ctr"/>
          <a:lstStyle/>
          <a:p>
            <a:pPr algn="ctr" indent="0" marL="0">
              <a:buNone/>
            </a:pPr>
            <a:r>
              <a:rPr lang="en-US" sz="1600" b="1" dirty="0">
                <a:solidFill>
                  <a:schemeClr val="bg1"/>
                </a:solidFill>
              </a:rPr>
              <a:t>DADO</a:t>
            </a:r>
            <a:endParaRPr lang="en-US" sz="1600" dirty="0"/>
          </a:p>
        </p:txBody>
      </p:sp>
      <p:sp>
        <p:nvSpPr>
          <p:cNvPr id="11" name="Shape 8"/>
          <p:cNvSpPr/>
          <p:nvPr/>
        </p:nvSpPr>
        <p:spPr>
          <a:xfrm>
            <a:off x="8092440" y="1481328"/>
            <a:ext cx="3547872" cy="1234440"/>
          </a:xfrm>
          <a:prstGeom prst="roundRect">
            <a:avLst>
              <a:gd name="adj" fmla="val 5926"/>
            </a:avLst>
          </a:prstGeom>
          <a:solidFill>
            <a:schemeClr val="bg2"/>
          </a:solidFill>
          <a:ln/>
        </p:spPr>
      </p:sp>
      <p:sp>
        <p:nvSpPr>
          <p:cNvPr id="12" name="texto-110"/>
          <p:cNvSpPr txBox="1"/>
          <p:nvPr/>
        </p:nvSpPr>
        <p:spPr>
          <a:xfrm>
            <a:off x="8275320" y="1618488"/>
            <a:ext cx="3200400" cy="1005840"/>
          </a:xfrm>
          <a:prstGeom prst="rect">
            <a:avLst/>
          </a:prstGeom>
          <a:noFill/>
          <a:ln/>
        </p:spPr>
        <p:txBody>
          <a:bodyPr wrap="square" lIns="0" tIns="0" rIns="0" bIns="0" rtlCol="0" anchor="ctr"/>
          <a:lstStyle/>
          <a:p>
            <a:pPr indent="0" marL="0">
              <a:buNone/>
            </a:pPr>
            <a:r>
              <a:rPr lang="en-US" sz="1300" dirty="0">
                <a:solidFill>
                  <a:schemeClr val="accent5"/>
                </a:solidFill>
              </a:rPr>
              <a:t>el contexto inicial</a:t>
            </a:r>
            <a:endParaRPr lang="en-US" sz="1600" dirty="0"/>
          </a:p>
          <a:p>
            <a:pPr indent="0" marL="0">
              <a:buNone/>
            </a:pPr>
            <a:r>
              <a:rPr lang="en-US" sz="1600" b="1" dirty="0">
                <a:solidFill>
                  <a:schemeClr val="tx2"/>
                </a:solidFill>
              </a:rPr>
              <a:t>que hay 3 tareas en curso</a:t>
            </a:r>
            <a:endParaRPr lang="en-US" sz="1600" dirty="0"/>
          </a:p>
        </p:txBody>
      </p:sp>
      <p:sp>
        <p:nvSpPr>
          <p:cNvPr id="13" name="caja-111"/>
          <p:cNvSpPr/>
          <p:nvPr/>
        </p:nvSpPr>
        <p:spPr>
          <a:xfrm>
            <a:off x="6217920" y="2990088"/>
            <a:ext cx="1737360" cy="1234440"/>
          </a:xfrm>
          <a:prstGeom prst="roundRect">
            <a:avLst>
              <a:gd name="adj" fmla="val 5926"/>
            </a:avLst>
          </a:prstGeom>
          <a:solidFill>
            <a:schemeClr val="accent4"/>
          </a:solidFill>
          <a:ln/>
        </p:spPr>
      </p:sp>
      <p:sp>
        <p:nvSpPr>
          <p:cNvPr id="14" name="caja-t-112"/>
          <p:cNvSpPr txBox="1"/>
          <p:nvPr/>
        </p:nvSpPr>
        <p:spPr>
          <a:xfrm>
            <a:off x="6309360" y="2990088"/>
            <a:ext cx="1554480" cy="1234440"/>
          </a:xfrm>
          <a:prstGeom prst="rect">
            <a:avLst/>
          </a:prstGeom>
          <a:noFill/>
          <a:ln/>
        </p:spPr>
        <p:txBody>
          <a:bodyPr wrap="square" lIns="0" tIns="0" rIns="0" bIns="0" rtlCol="0" anchor="ctr"/>
          <a:lstStyle/>
          <a:p>
            <a:pPr algn="ctr" indent="0" marL="0">
              <a:buNone/>
            </a:pPr>
            <a:r>
              <a:rPr lang="en-US" sz="1600" b="1" dirty="0">
                <a:solidFill>
                  <a:schemeClr val="bg1"/>
                </a:solidFill>
              </a:rPr>
              <a:t>CUANDO</a:t>
            </a:r>
            <a:endParaRPr lang="en-US" sz="1600" dirty="0"/>
          </a:p>
        </p:txBody>
      </p:sp>
      <p:sp>
        <p:nvSpPr>
          <p:cNvPr id="15" name="Shape 12"/>
          <p:cNvSpPr/>
          <p:nvPr/>
        </p:nvSpPr>
        <p:spPr>
          <a:xfrm>
            <a:off x="8092440" y="2990088"/>
            <a:ext cx="3547872" cy="1234440"/>
          </a:xfrm>
          <a:prstGeom prst="roundRect">
            <a:avLst>
              <a:gd name="adj" fmla="val 5926"/>
            </a:avLst>
          </a:prstGeom>
          <a:solidFill>
            <a:schemeClr val="bg2"/>
          </a:solidFill>
          <a:ln/>
        </p:spPr>
      </p:sp>
      <p:sp>
        <p:nvSpPr>
          <p:cNvPr id="16" name="texto-113"/>
          <p:cNvSpPr txBox="1"/>
          <p:nvPr/>
        </p:nvSpPr>
        <p:spPr>
          <a:xfrm>
            <a:off x="8275320" y="3127248"/>
            <a:ext cx="3200400" cy="1005840"/>
          </a:xfrm>
          <a:prstGeom prst="rect">
            <a:avLst/>
          </a:prstGeom>
          <a:noFill/>
          <a:ln/>
        </p:spPr>
        <p:txBody>
          <a:bodyPr wrap="square" lIns="0" tIns="0" rIns="0" bIns="0" rtlCol="0" anchor="ctr"/>
          <a:lstStyle/>
          <a:p>
            <a:pPr indent="0" marL="0">
              <a:buNone/>
            </a:pPr>
            <a:r>
              <a:rPr lang="en-US" sz="1300" dirty="0">
                <a:solidFill>
                  <a:schemeClr val="accent5"/>
                </a:solidFill>
              </a:rPr>
              <a:t>la acción del usuario</a:t>
            </a:r>
            <a:endParaRPr lang="en-US" sz="1600" dirty="0"/>
          </a:p>
          <a:p>
            <a:pPr indent="0" marL="0">
              <a:buNone/>
            </a:pPr>
            <a:r>
              <a:rPr lang="en-US" sz="1600" b="1" dirty="0">
                <a:solidFill>
                  <a:schemeClr val="tx2"/>
                </a:solidFill>
              </a:rPr>
              <a:t>intento iniciar otra tarea</a:t>
            </a:r>
            <a:endParaRPr lang="en-US" sz="1600" dirty="0"/>
          </a:p>
        </p:txBody>
      </p:sp>
      <p:sp>
        <p:nvSpPr>
          <p:cNvPr id="17" name="caja-114"/>
          <p:cNvSpPr/>
          <p:nvPr/>
        </p:nvSpPr>
        <p:spPr>
          <a:xfrm>
            <a:off x="6217920" y="4498848"/>
            <a:ext cx="1737360" cy="1234440"/>
          </a:xfrm>
          <a:prstGeom prst="roundRect">
            <a:avLst>
              <a:gd name="adj" fmla="val 5926"/>
            </a:avLst>
          </a:prstGeom>
          <a:solidFill>
            <a:schemeClr val="accent2"/>
          </a:solidFill>
          <a:ln/>
        </p:spPr>
      </p:sp>
      <p:sp>
        <p:nvSpPr>
          <p:cNvPr id="18" name="caja-t-115"/>
          <p:cNvSpPr txBox="1"/>
          <p:nvPr/>
        </p:nvSpPr>
        <p:spPr>
          <a:xfrm>
            <a:off x="6309360" y="4498848"/>
            <a:ext cx="1554480" cy="1234440"/>
          </a:xfrm>
          <a:prstGeom prst="rect">
            <a:avLst/>
          </a:prstGeom>
          <a:noFill/>
          <a:ln/>
        </p:spPr>
        <p:txBody>
          <a:bodyPr wrap="square" lIns="0" tIns="0" rIns="0" bIns="0" rtlCol="0" anchor="ctr"/>
          <a:lstStyle/>
          <a:p>
            <a:pPr algn="ctr" indent="0" marL="0">
              <a:buNone/>
            </a:pPr>
            <a:r>
              <a:rPr lang="en-US" sz="1600" b="1" dirty="0">
                <a:solidFill>
                  <a:schemeClr val="bg1"/>
                </a:solidFill>
              </a:rPr>
              <a:t>ENTONCES</a:t>
            </a:r>
            <a:endParaRPr lang="en-US" sz="1600" dirty="0"/>
          </a:p>
        </p:txBody>
      </p:sp>
      <p:sp>
        <p:nvSpPr>
          <p:cNvPr id="19" name="Shape 16"/>
          <p:cNvSpPr/>
          <p:nvPr/>
        </p:nvSpPr>
        <p:spPr>
          <a:xfrm>
            <a:off x="8092440" y="4498848"/>
            <a:ext cx="3547872" cy="1234440"/>
          </a:xfrm>
          <a:prstGeom prst="roundRect">
            <a:avLst>
              <a:gd name="adj" fmla="val 5926"/>
            </a:avLst>
          </a:prstGeom>
          <a:solidFill>
            <a:schemeClr val="bg2"/>
          </a:solidFill>
          <a:ln/>
        </p:spPr>
      </p:sp>
      <p:sp>
        <p:nvSpPr>
          <p:cNvPr id="20" name="texto-116"/>
          <p:cNvSpPr txBox="1"/>
          <p:nvPr/>
        </p:nvSpPr>
        <p:spPr>
          <a:xfrm>
            <a:off x="8275320" y="4636008"/>
            <a:ext cx="3200400" cy="1005840"/>
          </a:xfrm>
          <a:prstGeom prst="rect">
            <a:avLst/>
          </a:prstGeom>
          <a:noFill/>
          <a:ln/>
        </p:spPr>
        <p:txBody>
          <a:bodyPr wrap="square" lIns="0" tIns="0" rIns="0" bIns="0" rtlCol="0" anchor="ctr"/>
          <a:lstStyle/>
          <a:p>
            <a:pPr indent="0" marL="0">
              <a:buNone/>
            </a:pPr>
            <a:r>
              <a:rPr lang="en-US" sz="1300" dirty="0">
                <a:solidFill>
                  <a:schemeClr val="accent5"/>
                </a:solidFill>
              </a:rPr>
              <a:t>el resultado observable</a:t>
            </a:r>
            <a:endParaRPr lang="en-US" sz="1600" dirty="0"/>
          </a:p>
          <a:p>
            <a:pPr indent="0" marL="0">
              <a:buNone/>
            </a:pPr>
            <a:r>
              <a:rPr lang="en-US" sz="1600" b="1" dirty="0">
                <a:solidFill>
                  <a:schemeClr val="tx2"/>
                </a:solidFill>
              </a:rPr>
              <a:t>recibo 409 y la tarea no cambia</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REQUISITOS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Atributos de calidad medibles</a:t>
            </a:r>
            <a:endParaRPr lang="en-US" sz="3400" dirty="0"/>
          </a:p>
        </p:txBody>
      </p:sp>
      <p:graphicFrame>
        <p:nvGraphicFramePr>
          <p:cNvPr id="11" name="tabla-117"/>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743200"/>
                <a:gridCol w="4572000"/>
                <a:gridCol w="3776472"/>
              </a:tblGrid>
              <a:tr h="566928">
                <a:tc>
                  <a:txBody>
                    <a:bodyPr/>
                    <a:lstStyle/>
                    <a:p>
                      <a:pPr indent="0" marL="0">
                        <a:buNone/>
                      </a:pPr>
                      <a:r>
                        <a:rPr lang="en-US" sz="1400" b="1" dirty="0">
                          <a:solidFill>
                            <a:schemeClr val="bg1"/>
                          </a:solidFill>
                        </a:rPr>
                        <a:t>Atributo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Pregunta de diseño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Cómo comprobarlo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Rendimiento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¿Qué carga debe soportar y con qué tiempo de respuesta?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Prueba de carga y percentil 95 acordado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Disponibilidad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¿Cuánto tiempo puede estar caído?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Monitoreo y objetivo (ej. 99,5 %)</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Seguridad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¿Quién puede ver o cambiar cada dato?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Pruebas de autorización por recurso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Integridad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 respetan las reglas con accesos simultáneos?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Prueba concurrente contra la base real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Usabilidad y accesibilidad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 puede usar cualquier persona?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Pruebas con usuarios y pautas WCAG</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Recuperación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¿Podemos restaurar los datos y volver a operar?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Ensayo de restauración del respaldo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REQUISITOS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Trazabilidad: del requisito a la prueba</a:t>
            </a:r>
            <a:endParaRPr lang="en-US" sz="3400" dirty="0"/>
          </a:p>
        </p:txBody>
      </p:sp>
      <p:sp>
        <p:nvSpPr>
          <p:cNvPr id="5" name="paso-118"/>
          <p:cNvSpPr/>
          <p:nvPr/>
        </p:nvSpPr>
        <p:spPr>
          <a:xfrm>
            <a:off x="548640" y="1938528"/>
            <a:ext cx="1911645" cy="822960"/>
          </a:xfrm>
          <a:prstGeom prst="roundRect">
            <a:avLst>
              <a:gd name="adj" fmla="val 11111"/>
            </a:avLst>
          </a:prstGeom>
          <a:solidFill>
            <a:schemeClr val="tx2"/>
          </a:solidFill>
          <a:ln/>
        </p:spPr>
      </p:sp>
      <p:sp>
        <p:nvSpPr>
          <p:cNvPr id="6" name="paso-t-119"/>
          <p:cNvSpPr txBox="1"/>
          <p:nvPr/>
        </p:nvSpPr>
        <p:spPr>
          <a:xfrm>
            <a:off x="621792" y="193852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Requisito</a:t>
            </a:r>
            <a:endParaRPr lang="en-US" sz="1600" dirty="0"/>
          </a:p>
        </p:txBody>
      </p:sp>
      <p:sp>
        <p:nvSpPr>
          <p:cNvPr id="7" name="flecha-120"/>
          <p:cNvSpPr/>
          <p:nvPr/>
        </p:nvSpPr>
        <p:spPr>
          <a:xfrm>
            <a:off x="2524293" y="2231136"/>
            <a:ext cx="256032" cy="237744"/>
          </a:xfrm>
          <a:prstGeom prst="rightArrow">
            <a:avLst/>
          </a:prstGeom>
          <a:solidFill>
            <a:schemeClr val="accent5"/>
          </a:solidFill>
          <a:ln/>
        </p:spPr>
      </p:sp>
      <p:sp>
        <p:nvSpPr>
          <p:cNvPr id="8" name="paso-d-121"/>
          <p:cNvSpPr txBox="1"/>
          <p:nvPr/>
        </p:nvSpPr>
        <p:spPr>
          <a:xfrm>
            <a:off x="548640" y="2944368"/>
            <a:ext cx="1911645" cy="1280160"/>
          </a:xfrm>
          <a:prstGeom prst="rect">
            <a:avLst/>
          </a:prstGeom>
          <a:noFill/>
          <a:ln/>
        </p:spPr>
        <p:txBody>
          <a:bodyPr wrap="square" lIns="0" tIns="0" rIns="0" bIns="0" rtlCol="0" anchor="t"/>
          <a:lstStyle/>
          <a:p>
            <a:pPr indent="0" marL="0">
              <a:buNone/>
            </a:pPr>
            <a:r>
              <a:rPr lang="en-US" sz="1400" dirty="0">
                <a:solidFill>
                  <a:schemeClr val="tx1"/>
                </a:solidFill>
              </a:rPr>
              <a:t>La regla o necesidad, con un identificador (R-01, R-02…)</a:t>
            </a:r>
            <a:endParaRPr lang="en-US" sz="1400" dirty="0"/>
          </a:p>
        </p:txBody>
      </p:sp>
      <p:sp>
        <p:nvSpPr>
          <p:cNvPr id="9" name="paso-122"/>
          <p:cNvSpPr/>
          <p:nvPr/>
        </p:nvSpPr>
        <p:spPr>
          <a:xfrm>
            <a:off x="2844333" y="1938528"/>
            <a:ext cx="1911645" cy="822960"/>
          </a:xfrm>
          <a:prstGeom prst="roundRect">
            <a:avLst>
              <a:gd name="adj" fmla="val 11111"/>
            </a:avLst>
          </a:prstGeom>
          <a:solidFill>
            <a:schemeClr val="tx2"/>
          </a:solidFill>
          <a:ln/>
        </p:spPr>
      </p:sp>
      <p:sp>
        <p:nvSpPr>
          <p:cNvPr id="10" name="paso-t-123"/>
          <p:cNvSpPr txBox="1"/>
          <p:nvPr/>
        </p:nvSpPr>
        <p:spPr>
          <a:xfrm>
            <a:off x="2917485" y="193852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Criterio</a:t>
            </a:r>
            <a:endParaRPr lang="en-US" sz="1600" dirty="0"/>
          </a:p>
        </p:txBody>
      </p:sp>
      <p:sp>
        <p:nvSpPr>
          <p:cNvPr id="11" name="flecha-124"/>
          <p:cNvSpPr/>
          <p:nvPr/>
        </p:nvSpPr>
        <p:spPr>
          <a:xfrm>
            <a:off x="4819985" y="2231136"/>
            <a:ext cx="256032" cy="237744"/>
          </a:xfrm>
          <a:prstGeom prst="rightArrow">
            <a:avLst/>
          </a:prstGeom>
          <a:solidFill>
            <a:schemeClr val="accent5"/>
          </a:solidFill>
          <a:ln/>
        </p:spPr>
      </p:sp>
      <p:sp>
        <p:nvSpPr>
          <p:cNvPr id="12" name="paso-d-125"/>
          <p:cNvSpPr txBox="1"/>
          <p:nvPr/>
        </p:nvSpPr>
        <p:spPr>
          <a:xfrm>
            <a:off x="2844333" y="2944368"/>
            <a:ext cx="1911645" cy="1280160"/>
          </a:xfrm>
          <a:prstGeom prst="rect">
            <a:avLst/>
          </a:prstGeom>
          <a:noFill/>
          <a:ln/>
        </p:spPr>
        <p:txBody>
          <a:bodyPr wrap="square" lIns="0" tIns="0" rIns="0" bIns="0" rtlCol="0" anchor="t"/>
          <a:lstStyle/>
          <a:p>
            <a:pPr indent="0" marL="0">
              <a:buNone/>
            </a:pPr>
            <a:r>
              <a:rPr lang="en-US" sz="1400" dirty="0">
                <a:solidFill>
                  <a:schemeClr val="tx1"/>
                </a:solidFill>
              </a:rPr>
              <a:t>Dado-Cuando-Entonces verificable</a:t>
            </a:r>
            <a:endParaRPr lang="en-US" sz="1400" dirty="0"/>
          </a:p>
        </p:txBody>
      </p:sp>
      <p:sp>
        <p:nvSpPr>
          <p:cNvPr id="13" name="paso-126"/>
          <p:cNvSpPr/>
          <p:nvPr/>
        </p:nvSpPr>
        <p:spPr>
          <a:xfrm>
            <a:off x="5140025" y="1938528"/>
            <a:ext cx="1911645" cy="822960"/>
          </a:xfrm>
          <a:prstGeom prst="roundRect">
            <a:avLst>
              <a:gd name="adj" fmla="val 11111"/>
            </a:avLst>
          </a:prstGeom>
          <a:solidFill>
            <a:schemeClr val="tx2"/>
          </a:solidFill>
          <a:ln/>
        </p:spPr>
      </p:sp>
      <p:sp>
        <p:nvSpPr>
          <p:cNvPr id="14" name="paso-t-127"/>
          <p:cNvSpPr txBox="1"/>
          <p:nvPr/>
        </p:nvSpPr>
        <p:spPr>
          <a:xfrm>
            <a:off x="5213177" y="193852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Modelo</a:t>
            </a:r>
            <a:endParaRPr lang="en-US" sz="1600" dirty="0"/>
          </a:p>
        </p:txBody>
      </p:sp>
      <p:sp>
        <p:nvSpPr>
          <p:cNvPr id="15" name="flecha-128"/>
          <p:cNvSpPr/>
          <p:nvPr/>
        </p:nvSpPr>
        <p:spPr>
          <a:xfrm>
            <a:off x="7115678" y="2231136"/>
            <a:ext cx="256032" cy="237744"/>
          </a:xfrm>
          <a:prstGeom prst="rightArrow">
            <a:avLst/>
          </a:prstGeom>
          <a:solidFill>
            <a:schemeClr val="accent5"/>
          </a:solidFill>
          <a:ln/>
        </p:spPr>
      </p:sp>
      <p:sp>
        <p:nvSpPr>
          <p:cNvPr id="16" name="paso-d-129"/>
          <p:cNvSpPr txBox="1"/>
          <p:nvPr/>
        </p:nvSpPr>
        <p:spPr>
          <a:xfrm>
            <a:off x="5140025" y="2944368"/>
            <a:ext cx="1911645" cy="1280160"/>
          </a:xfrm>
          <a:prstGeom prst="rect">
            <a:avLst/>
          </a:prstGeom>
          <a:noFill/>
          <a:ln/>
        </p:spPr>
        <p:txBody>
          <a:bodyPr wrap="square" lIns="0" tIns="0" rIns="0" bIns="0" rtlCol="0" anchor="t"/>
          <a:lstStyle/>
          <a:p>
            <a:pPr indent="0" marL="0">
              <a:buNone/>
            </a:pPr>
            <a:r>
              <a:rPr lang="en-US" sz="1400" dirty="0">
                <a:solidFill>
                  <a:schemeClr val="tx1"/>
                </a:solidFill>
              </a:rPr>
              <a:t>Diagrama que muestra la regla (estado, secuencia)</a:t>
            </a:r>
            <a:endParaRPr lang="en-US" sz="1400" dirty="0"/>
          </a:p>
        </p:txBody>
      </p:sp>
      <p:sp>
        <p:nvSpPr>
          <p:cNvPr id="17" name="paso-130"/>
          <p:cNvSpPr/>
          <p:nvPr/>
        </p:nvSpPr>
        <p:spPr>
          <a:xfrm>
            <a:off x="7435718" y="1938528"/>
            <a:ext cx="1911645" cy="822960"/>
          </a:xfrm>
          <a:prstGeom prst="roundRect">
            <a:avLst>
              <a:gd name="adj" fmla="val 11111"/>
            </a:avLst>
          </a:prstGeom>
          <a:solidFill>
            <a:schemeClr val="tx2"/>
          </a:solidFill>
          <a:ln/>
        </p:spPr>
      </p:sp>
      <p:sp>
        <p:nvSpPr>
          <p:cNvPr id="18" name="paso-t-131"/>
          <p:cNvSpPr txBox="1"/>
          <p:nvPr/>
        </p:nvSpPr>
        <p:spPr>
          <a:xfrm>
            <a:off x="7508870" y="193852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Código</a:t>
            </a:r>
            <a:endParaRPr lang="en-US" sz="1600" dirty="0"/>
          </a:p>
        </p:txBody>
      </p:sp>
      <p:sp>
        <p:nvSpPr>
          <p:cNvPr id="19" name="flecha-132"/>
          <p:cNvSpPr/>
          <p:nvPr/>
        </p:nvSpPr>
        <p:spPr>
          <a:xfrm>
            <a:off x="9411371" y="2231136"/>
            <a:ext cx="256032" cy="237744"/>
          </a:xfrm>
          <a:prstGeom prst="rightArrow">
            <a:avLst/>
          </a:prstGeom>
          <a:solidFill>
            <a:schemeClr val="accent5"/>
          </a:solidFill>
          <a:ln/>
        </p:spPr>
      </p:sp>
      <p:sp>
        <p:nvSpPr>
          <p:cNvPr id="20" name="paso-d-133"/>
          <p:cNvSpPr txBox="1"/>
          <p:nvPr/>
        </p:nvSpPr>
        <p:spPr>
          <a:xfrm>
            <a:off x="7435718" y="2944368"/>
            <a:ext cx="1911645" cy="1280160"/>
          </a:xfrm>
          <a:prstGeom prst="rect">
            <a:avLst/>
          </a:prstGeom>
          <a:noFill/>
          <a:ln/>
        </p:spPr>
        <p:txBody>
          <a:bodyPr wrap="square" lIns="0" tIns="0" rIns="0" bIns="0" rtlCol="0" anchor="t"/>
          <a:lstStyle/>
          <a:p>
            <a:pPr indent="0" marL="0">
              <a:buNone/>
            </a:pPr>
            <a:r>
              <a:rPr lang="en-US" sz="1400" dirty="0">
                <a:solidFill>
                  <a:schemeClr val="tx1"/>
                </a:solidFill>
              </a:rPr>
              <a:t>El método que la implementa</a:t>
            </a:r>
            <a:endParaRPr lang="en-US" sz="1400" dirty="0"/>
          </a:p>
        </p:txBody>
      </p:sp>
      <p:sp>
        <p:nvSpPr>
          <p:cNvPr id="21" name="paso-134"/>
          <p:cNvSpPr/>
          <p:nvPr/>
        </p:nvSpPr>
        <p:spPr>
          <a:xfrm>
            <a:off x="9731411" y="1938528"/>
            <a:ext cx="1911645" cy="822960"/>
          </a:xfrm>
          <a:prstGeom prst="roundRect">
            <a:avLst>
              <a:gd name="adj" fmla="val 11111"/>
            </a:avLst>
          </a:prstGeom>
          <a:solidFill>
            <a:schemeClr val="accent1"/>
          </a:solidFill>
          <a:ln/>
        </p:spPr>
      </p:sp>
      <p:sp>
        <p:nvSpPr>
          <p:cNvPr id="22" name="paso-t-135"/>
          <p:cNvSpPr txBox="1"/>
          <p:nvPr/>
        </p:nvSpPr>
        <p:spPr>
          <a:xfrm>
            <a:off x="9804563" y="193852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Prueba</a:t>
            </a:r>
            <a:endParaRPr lang="en-US" sz="1600" dirty="0"/>
          </a:p>
        </p:txBody>
      </p:sp>
      <p:sp>
        <p:nvSpPr>
          <p:cNvPr id="23" name="paso-d-136"/>
          <p:cNvSpPr txBox="1"/>
          <p:nvPr/>
        </p:nvSpPr>
        <p:spPr>
          <a:xfrm>
            <a:off x="9731411" y="2944368"/>
            <a:ext cx="1911645" cy="1280160"/>
          </a:xfrm>
          <a:prstGeom prst="rect">
            <a:avLst/>
          </a:prstGeom>
          <a:noFill/>
          <a:ln/>
        </p:spPr>
        <p:txBody>
          <a:bodyPr wrap="square" lIns="0" tIns="0" rIns="0" bIns="0" rtlCol="0" anchor="t"/>
          <a:lstStyle/>
          <a:p>
            <a:pPr indent="0" marL="0">
              <a:buNone/>
            </a:pPr>
            <a:r>
              <a:rPr lang="en-US" sz="1400" dirty="0">
                <a:solidFill>
                  <a:schemeClr val="tx1"/>
                </a:solidFill>
              </a:rPr>
              <a:t>El test que la demuestra</a:t>
            </a:r>
            <a:endParaRPr lang="en-US" sz="1400" dirty="0"/>
          </a:p>
        </p:txBody>
      </p:sp>
      <p:sp>
        <p:nvSpPr>
          <p:cNvPr id="24" name="destacado-137"/>
          <p:cNvSpPr/>
          <p:nvPr/>
        </p:nvSpPr>
        <p:spPr>
          <a:xfrm>
            <a:off x="548640" y="4937760"/>
            <a:ext cx="11094415" cy="566928"/>
          </a:xfrm>
          <a:prstGeom prst="roundRect">
            <a:avLst>
              <a:gd name="adj" fmla="val 12903"/>
            </a:avLst>
          </a:prstGeom>
          <a:solidFill>
            <a:schemeClr val="tx2"/>
          </a:solidFill>
          <a:ln/>
        </p:spPr>
      </p:sp>
      <p:sp>
        <p:nvSpPr>
          <p:cNvPr id="25" name="destacado-t-138"/>
          <p:cNvSpPr txBox="1"/>
          <p:nvPr/>
        </p:nvSpPr>
        <p:spPr>
          <a:xfrm>
            <a:off x="822960" y="4937760"/>
            <a:ext cx="10545775" cy="566928"/>
          </a:xfrm>
          <a:prstGeom prst="rect">
            <a:avLst/>
          </a:prstGeom>
          <a:noFill/>
          <a:ln/>
        </p:spPr>
        <p:txBody>
          <a:bodyPr wrap="square" lIns="0" tIns="0" rIns="0" bIns="0" rtlCol="0" anchor="ctr"/>
          <a:lstStyle/>
          <a:p>
            <a:pPr indent="0" marL="0">
              <a:buNone/>
            </a:pPr>
            <a:r>
              <a:rPr lang="en-US" sz="1600" dirty="0">
                <a:solidFill>
                  <a:schemeClr val="bg1"/>
                </a:solidFill>
              </a:rPr>
              <a:t>Si un requisito no tiene prueba, nadie sabe si sigue cumpliéndose después del próximo cambio.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03</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Metodologías de trabajo</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Cómo se organiza el equipo para entregar: cascada, ágil, Scrum, Kanban y prácticas técnicas que las acompañan.</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METODOLOGÍAS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Cascada frente a ágil</a:t>
            </a:r>
            <a:endParaRPr lang="en-US" sz="3400" dirty="0"/>
          </a:p>
        </p:txBody>
      </p:sp>
      <p:graphicFrame>
        <p:nvGraphicFramePr>
          <p:cNvPr id="14" name="tabla-139"/>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377440"/>
                <a:gridCol w="4343400"/>
                <a:gridCol w="4370832"/>
              </a:tblGrid>
              <a:tr h="548640">
                <a:tc>
                  <a:txBody>
                    <a:bodyPr/>
                    <a:lstStyle/>
                    <a:p>
                      <a:pPr indent="0" marL="0">
                        <a:buNone/>
                      </a:pPr>
                      <a:r>
                        <a:rPr lang="en-US" sz="1400" b="1" dirty="0">
                          <a:solidFill>
                            <a:schemeClr val="bg1"/>
                          </a:solidFill>
                        </a:rPr>
                        <a:t>Aspecto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Cascada (tradicional)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Ágil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48640">
                <a:tc>
                  <a:txBody>
                    <a:bodyPr/>
                    <a:lstStyle/>
                    <a:p>
                      <a:pPr indent="0" marL="0">
                        <a:buNone/>
                      </a:pPr>
                      <a:r>
                        <a:rPr lang="en-US" sz="1400" b="1" dirty="0">
                          <a:solidFill>
                            <a:schemeClr val="tx1"/>
                          </a:solidFill>
                        </a:rPr>
                        <a:t>Requisitos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Fijos y completos al inicio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Cambian y se priorizan continuamente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Entregas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Una sola, al final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Frecuentes, cada 1 a 4 semanas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Riesgo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 descubre tarde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 descubre temprano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Cliente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Participa al inicio y al final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Participa en cada iteración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Documentación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Extensa y previa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 necesaria para mantener el producto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Cuándo conviene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Problema estable y conocido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Incertidumbre y cambio frecuente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METODOLOGÍAS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El Manifiesto Ágil</a:t>
            </a:r>
            <a:endParaRPr lang="en-US" sz="3400" dirty="0"/>
          </a:p>
        </p:txBody>
      </p:sp>
      <p:sp>
        <p:nvSpPr>
          <p:cNvPr id="5" name="tarjeta-140"/>
          <p:cNvSpPr/>
          <p:nvPr/>
        </p:nvSpPr>
        <p:spPr>
          <a:xfrm>
            <a:off x="548640" y="1481328"/>
            <a:ext cx="2567864" cy="2011680"/>
          </a:xfrm>
          <a:prstGeom prst="roundRect">
            <a:avLst>
              <a:gd name="adj" fmla="val 4545"/>
            </a:avLst>
          </a:prstGeom>
          <a:solidFill>
            <a:schemeClr val="bg2"/>
          </a:solidFill>
          <a:ln/>
        </p:spPr>
      </p:sp>
      <p:sp>
        <p:nvSpPr>
          <p:cNvPr id="6" name="circulo-141"/>
          <p:cNvSpPr/>
          <p:nvPr/>
        </p:nvSpPr>
        <p:spPr>
          <a:xfrm>
            <a:off x="749808" y="1682496"/>
            <a:ext cx="438912" cy="438912"/>
          </a:xfrm>
          <a:prstGeom prst="ellipse">
            <a:avLst/>
          </a:prstGeom>
          <a:solidFill>
            <a:schemeClr val="accent1"/>
          </a:solidFill>
          <a:ln/>
        </p:spPr>
      </p:sp>
      <p:sp>
        <p:nvSpPr>
          <p:cNvPr id="7" name="num-142"/>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143"/>
          <p:cNvSpPr txBox="1"/>
          <p:nvPr/>
        </p:nvSpPr>
        <p:spPr>
          <a:xfrm>
            <a:off x="1325880"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Individuos e interacciones</a:t>
            </a:r>
            <a:endParaRPr lang="en-US" sz="1700" dirty="0"/>
          </a:p>
        </p:txBody>
      </p:sp>
      <p:sp>
        <p:nvSpPr>
          <p:cNvPr id="9" name="desc-144"/>
          <p:cNvSpPr txBox="1"/>
          <p:nvPr/>
        </p:nvSpPr>
        <p:spPr>
          <a:xfrm>
            <a:off x="777240" y="2267712"/>
            <a:ext cx="2110664" cy="1097280"/>
          </a:xfrm>
          <a:prstGeom prst="rect">
            <a:avLst/>
          </a:prstGeom>
          <a:noFill/>
          <a:ln/>
        </p:spPr>
        <p:txBody>
          <a:bodyPr wrap="square" lIns="0" tIns="0" rIns="0" bIns="0" rtlCol="0" anchor="t"/>
          <a:lstStyle/>
          <a:p>
            <a:pPr indent="0" marL="0">
              <a:buNone/>
            </a:pPr>
            <a:r>
              <a:rPr lang="en-US" sz="1600" dirty="0">
                <a:solidFill>
                  <a:schemeClr val="tx1"/>
                </a:solidFill>
              </a:rPr>
              <a:t>sobre procesos y herramientas</a:t>
            </a:r>
            <a:endParaRPr lang="en-US" sz="1600" dirty="0"/>
          </a:p>
        </p:txBody>
      </p:sp>
      <p:sp>
        <p:nvSpPr>
          <p:cNvPr id="10" name="tarjeta-145"/>
          <p:cNvSpPr/>
          <p:nvPr/>
        </p:nvSpPr>
        <p:spPr>
          <a:xfrm>
            <a:off x="3390824" y="1481328"/>
            <a:ext cx="2567864" cy="2011680"/>
          </a:xfrm>
          <a:prstGeom prst="roundRect">
            <a:avLst>
              <a:gd name="adj" fmla="val 4545"/>
            </a:avLst>
          </a:prstGeom>
          <a:solidFill>
            <a:schemeClr val="bg2"/>
          </a:solidFill>
          <a:ln/>
        </p:spPr>
      </p:sp>
      <p:sp>
        <p:nvSpPr>
          <p:cNvPr id="11" name="circulo-146"/>
          <p:cNvSpPr/>
          <p:nvPr/>
        </p:nvSpPr>
        <p:spPr>
          <a:xfrm>
            <a:off x="3591992" y="1682496"/>
            <a:ext cx="438912" cy="438912"/>
          </a:xfrm>
          <a:prstGeom prst="ellipse">
            <a:avLst/>
          </a:prstGeom>
          <a:solidFill>
            <a:schemeClr val="accent2"/>
          </a:solidFill>
          <a:ln/>
        </p:spPr>
      </p:sp>
      <p:sp>
        <p:nvSpPr>
          <p:cNvPr id="12" name="num-147"/>
          <p:cNvSpPr txBox="1"/>
          <p:nvPr/>
        </p:nvSpPr>
        <p:spPr>
          <a:xfrm>
            <a:off x="359199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148"/>
          <p:cNvSpPr txBox="1"/>
          <p:nvPr/>
        </p:nvSpPr>
        <p:spPr>
          <a:xfrm>
            <a:off x="4168064"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Software funcionando</a:t>
            </a:r>
            <a:endParaRPr lang="en-US" sz="1700" dirty="0"/>
          </a:p>
        </p:txBody>
      </p:sp>
      <p:sp>
        <p:nvSpPr>
          <p:cNvPr id="14" name="desc-149"/>
          <p:cNvSpPr txBox="1"/>
          <p:nvPr/>
        </p:nvSpPr>
        <p:spPr>
          <a:xfrm>
            <a:off x="3619424" y="2267712"/>
            <a:ext cx="2110664" cy="1097280"/>
          </a:xfrm>
          <a:prstGeom prst="rect">
            <a:avLst/>
          </a:prstGeom>
          <a:noFill/>
          <a:ln/>
        </p:spPr>
        <p:txBody>
          <a:bodyPr wrap="square" lIns="0" tIns="0" rIns="0" bIns="0" rtlCol="0" anchor="t"/>
          <a:lstStyle/>
          <a:p>
            <a:pPr indent="0" marL="0">
              <a:buNone/>
            </a:pPr>
            <a:r>
              <a:rPr lang="en-US" sz="1600" dirty="0">
                <a:solidFill>
                  <a:schemeClr val="tx1"/>
                </a:solidFill>
              </a:rPr>
              <a:t>sobre documentación extensiva</a:t>
            </a:r>
            <a:endParaRPr lang="en-US" sz="1600" dirty="0"/>
          </a:p>
        </p:txBody>
      </p:sp>
      <p:sp>
        <p:nvSpPr>
          <p:cNvPr id="15" name="tarjeta-150"/>
          <p:cNvSpPr/>
          <p:nvPr/>
        </p:nvSpPr>
        <p:spPr>
          <a:xfrm>
            <a:off x="6233008" y="1481328"/>
            <a:ext cx="2567864" cy="2011680"/>
          </a:xfrm>
          <a:prstGeom prst="roundRect">
            <a:avLst>
              <a:gd name="adj" fmla="val 4545"/>
            </a:avLst>
          </a:prstGeom>
          <a:solidFill>
            <a:schemeClr val="bg2"/>
          </a:solidFill>
          <a:ln/>
        </p:spPr>
      </p:sp>
      <p:sp>
        <p:nvSpPr>
          <p:cNvPr id="16" name="circulo-151"/>
          <p:cNvSpPr/>
          <p:nvPr/>
        </p:nvSpPr>
        <p:spPr>
          <a:xfrm>
            <a:off x="6434176" y="1682496"/>
            <a:ext cx="438912" cy="438912"/>
          </a:xfrm>
          <a:prstGeom prst="ellipse">
            <a:avLst/>
          </a:prstGeom>
          <a:solidFill>
            <a:schemeClr val="accent3"/>
          </a:solidFill>
          <a:ln/>
        </p:spPr>
      </p:sp>
      <p:sp>
        <p:nvSpPr>
          <p:cNvPr id="17" name="num-152"/>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153"/>
          <p:cNvSpPr txBox="1"/>
          <p:nvPr/>
        </p:nvSpPr>
        <p:spPr>
          <a:xfrm>
            <a:off x="7010248"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Colaboración con el cliente</a:t>
            </a:r>
            <a:endParaRPr lang="en-US" sz="1700" dirty="0"/>
          </a:p>
        </p:txBody>
      </p:sp>
      <p:sp>
        <p:nvSpPr>
          <p:cNvPr id="19" name="desc-154"/>
          <p:cNvSpPr txBox="1"/>
          <p:nvPr/>
        </p:nvSpPr>
        <p:spPr>
          <a:xfrm>
            <a:off x="6461608" y="2267712"/>
            <a:ext cx="2110664" cy="1097280"/>
          </a:xfrm>
          <a:prstGeom prst="rect">
            <a:avLst/>
          </a:prstGeom>
          <a:noFill/>
          <a:ln/>
        </p:spPr>
        <p:txBody>
          <a:bodyPr wrap="square" lIns="0" tIns="0" rIns="0" bIns="0" rtlCol="0" anchor="t"/>
          <a:lstStyle/>
          <a:p>
            <a:pPr indent="0" marL="0">
              <a:buNone/>
            </a:pPr>
            <a:r>
              <a:rPr lang="en-US" sz="1600" dirty="0">
                <a:solidFill>
                  <a:schemeClr val="tx1"/>
                </a:solidFill>
              </a:rPr>
              <a:t>sobre negociación contractual</a:t>
            </a:r>
            <a:endParaRPr lang="en-US" sz="1600" dirty="0"/>
          </a:p>
        </p:txBody>
      </p:sp>
      <p:sp>
        <p:nvSpPr>
          <p:cNvPr id="20" name="tarjeta-155"/>
          <p:cNvSpPr/>
          <p:nvPr/>
        </p:nvSpPr>
        <p:spPr>
          <a:xfrm>
            <a:off x="9075191" y="1481328"/>
            <a:ext cx="2567864" cy="2011680"/>
          </a:xfrm>
          <a:prstGeom prst="roundRect">
            <a:avLst>
              <a:gd name="adj" fmla="val 4545"/>
            </a:avLst>
          </a:prstGeom>
          <a:solidFill>
            <a:schemeClr val="bg2"/>
          </a:solidFill>
          <a:ln/>
        </p:spPr>
      </p:sp>
      <p:sp>
        <p:nvSpPr>
          <p:cNvPr id="21" name="circulo-156"/>
          <p:cNvSpPr/>
          <p:nvPr/>
        </p:nvSpPr>
        <p:spPr>
          <a:xfrm>
            <a:off x="9276359" y="1682496"/>
            <a:ext cx="438912" cy="438912"/>
          </a:xfrm>
          <a:prstGeom prst="ellipse">
            <a:avLst/>
          </a:prstGeom>
          <a:solidFill>
            <a:schemeClr val="accent4"/>
          </a:solidFill>
          <a:ln/>
        </p:spPr>
      </p:sp>
      <p:sp>
        <p:nvSpPr>
          <p:cNvPr id="22" name="num-157"/>
          <p:cNvSpPr txBox="1"/>
          <p:nvPr/>
        </p:nvSpPr>
        <p:spPr>
          <a:xfrm>
            <a:off x="927635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158"/>
          <p:cNvSpPr txBox="1"/>
          <p:nvPr/>
        </p:nvSpPr>
        <p:spPr>
          <a:xfrm>
            <a:off x="9852431"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Respuesta ante el cambio</a:t>
            </a:r>
            <a:endParaRPr lang="en-US" sz="1700" dirty="0"/>
          </a:p>
        </p:txBody>
      </p:sp>
      <p:sp>
        <p:nvSpPr>
          <p:cNvPr id="24" name="desc-159"/>
          <p:cNvSpPr txBox="1"/>
          <p:nvPr/>
        </p:nvSpPr>
        <p:spPr>
          <a:xfrm>
            <a:off x="9303791" y="2267712"/>
            <a:ext cx="2110664" cy="1097280"/>
          </a:xfrm>
          <a:prstGeom prst="rect">
            <a:avLst/>
          </a:prstGeom>
          <a:noFill/>
          <a:ln/>
        </p:spPr>
        <p:txBody>
          <a:bodyPr wrap="square" lIns="0" tIns="0" rIns="0" bIns="0" rtlCol="0" anchor="t"/>
          <a:lstStyle/>
          <a:p>
            <a:pPr indent="0" marL="0">
              <a:buNone/>
            </a:pPr>
            <a:r>
              <a:rPr lang="en-US" sz="1600" dirty="0">
                <a:solidFill>
                  <a:schemeClr val="tx1"/>
                </a:solidFill>
              </a:rPr>
              <a:t>sobre seguir un plan</a:t>
            </a:r>
            <a:endParaRPr lang="en-US" sz="1600" dirty="0"/>
          </a:p>
        </p:txBody>
      </p:sp>
      <p:sp>
        <p:nvSpPr>
          <p:cNvPr id="25" name="lista-160"/>
          <p:cNvSpPr txBox="1"/>
          <p:nvPr/>
        </p:nvSpPr>
        <p:spPr>
          <a:xfrm>
            <a:off x="548640" y="3840480"/>
            <a:ext cx="11094415" cy="21945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Entregar una función pequeña que alguien pueda usar.</a:t>
            </a:r>
            <a:endParaRPr lang="en-US" sz="1700" dirty="0"/>
          </a:p>
          <a:p>
            <a:pPr marL="228600" indent="-228600">
              <a:spcAft>
                <a:spcPts val="800"/>
              </a:spcAft>
              <a:buSzPct val="100000"/>
              <a:buChar char="•"/>
            </a:pPr>
            <a:r>
              <a:rPr lang="en-US" sz="1700" dirty="0">
                <a:solidFill>
                  <a:schemeClr val="tx1"/>
                </a:solidFill>
              </a:rPr>
              <a:t>Obtener retroalimentación antes de ampliar el alcance.</a:t>
            </a:r>
            <a:endParaRPr lang="en-US" sz="1700" dirty="0"/>
          </a:p>
          <a:p>
            <a:pPr marL="228600" indent="-228600">
              <a:spcAft>
                <a:spcPts val="800"/>
              </a:spcAft>
              <a:buSzPct val="100000"/>
              <a:buChar char="•"/>
            </a:pPr>
            <a:r>
              <a:rPr lang="en-US" sz="1700" dirty="0">
                <a:solidFill>
                  <a:schemeClr val="tx1"/>
                </a:solidFill>
              </a:rPr>
              <a:t>Cambiar el plan cuando aparecen datos nuevos.</a:t>
            </a:r>
            <a:endParaRPr lang="en-US" sz="1700" dirty="0"/>
          </a:p>
          <a:p>
            <a:pPr marL="228600" indent="-228600">
              <a:spcAft>
                <a:spcPts val="800"/>
              </a:spcAft>
              <a:buSzPct val="100000"/>
              <a:buChar char="•"/>
            </a:pPr>
            <a:r>
              <a:rPr lang="en-US" sz="1700" dirty="0">
                <a:solidFill>
                  <a:schemeClr val="tx1"/>
                </a:solidFill>
              </a:rPr>
              <a:t>Documentar las decisiones que ayudan a mantener el producto.</a:t>
            </a:r>
            <a:endParaRPr lang="en-US" sz="17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METODOLOGÍAS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Scrum: roles y artefactos</a:t>
            </a:r>
            <a:endParaRPr lang="en-US" sz="3400" dirty="0"/>
          </a:p>
        </p:txBody>
      </p:sp>
      <p:sp>
        <p:nvSpPr>
          <p:cNvPr id="5" name="tarjeta-161"/>
          <p:cNvSpPr/>
          <p:nvPr/>
        </p:nvSpPr>
        <p:spPr>
          <a:xfrm>
            <a:off x="548640" y="1481328"/>
            <a:ext cx="3515258" cy="2208276"/>
          </a:xfrm>
          <a:prstGeom prst="roundRect">
            <a:avLst>
              <a:gd name="adj" fmla="val 4141"/>
            </a:avLst>
          </a:prstGeom>
          <a:solidFill>
            <a:schemeClr val="bg2"/>
          </a:solidFill>
          <a:ln/>
        </p:spPr>
      </p:sp>
      <p:sp>
        <p:nvSpPr>
          <p:cNvPr id="6" name="circulo-162"/>
          <p:cNvSpPr/>
          <p:nvPr/>
        </p:nvSpPr>
        <p:spPr>
          <a:xfrm>
            <a:off x="749808" y="1682496"/>
            <a:ext cx="438912" cy="438912"/>
          </a:xfrm>
          <a:prstGeom prst="ellipse">
            <a:avLst/>
          </a:prstGeom>
          <a:solidFill>
            <a:schemeClr val="accent1"/>
          </a:solidFill>
          <a:ln/>
        </p:spPr>
      </p:sp>
      <p:sp>
        <p:nvSpPr>
          <p:cNvPr id="7" name="num-163"/>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164"/>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Product Owner</a:t>
            </a:r>
            <a:endParaRPr lang="en-US" sz="1700" dirty="0"/>
          </a:p>
        </p:txBody>
      </p:sp>
      <p:sp>
        <p:nvSpPr>
          <p:cNvPr id="9" name="desc-165"/>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Maximiza el valor: ordena el Product Backlog según prioridad.</a:t>
            </a:r>
            <a:endParaRPr lang="en-US" sz="1600" dirty="0"/>
          </a:p>
        </p:txBody>
      </p:sp>
      <p:sp>
        <p:nvSpPr>
          <p:cNvPr id="10" name="tarjeta-166"/>
          <p:cNvSpPr/>
          <p:nvPr/>
        </p:nvSpPr>
        <p:spPr>
          <a:xfrm>
            <a:off x="4338218" y="1481328"/>
            <a:ext cx="3515258" cy="2208276"/>
          </a:xfrm>
          <a:prstGeom prst="roundRect">
            <a:avLst>
              <a:gd name="adj" fmla="val 4141"/>
            </a:avLst>
          </a:prstGeom>
          <a:solidFill>
            <a:schemeClr val="bg2"/>
          </a:solidFill>
          <a:ln/>
        </p:spPr>
      </p:sp>
      <p:sp>
        <p:nvSpPr>
          <p:cNvPr id="11" name="circulo-167"/>
          <p:cNvSpPr/>
          <p:nvPr/>
        </p:nvSpPr>
        <p:spPr>
          <a:xfrm>
            <a:off x="4539386" y="1682496"/>
            <a:ext cx="438912" cy="438912"/>
          </a:xfrm>
          <a:prstGeom prst="ellipse">
            <a:avLst/>
          </a:prstGeom>
          <a:solidFill>
            <a:schemeClr val="accent1"/>
          </a:solidFill>
          <a:ln/>
        </p:spPr>
      </p:sp>
      <p:sp>
        <p:nvSpPr>
          <p:cNvPr id="12" name="num-168"/>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169"/>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Scrum Master</a:t>
            </a:r>
            <a:endParaRPr lang="en-US" sz="1700" dirty="0"/>
          </a:p>
        </p:txBody>
      </p:sp>
      <p:sp>
        <p:nvSpPr>
          <p:cNvPr id="14" name="desc-170"/>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Ayuda al equipo a mejorar su forma de trabajar y quita obstáculos.</a:t>
            </a:r>
            <a:endParaRPr lang="en-US" sz="1600" dirty="0"/>
          </a:p>
        </p:txBody>
      </p:sp>
      <p:sp>
        <p:nvSpPr>
          <p:cNvPr id="15" name="tarjeta-171"/>
          <p:cNvSpPr/>
          <p:nvPr/>
        </p:nvSpPr>
        <p:spPr>
          <a:xfrm>
            <a:off x="8127797" y="1481328"/>
            <a:ext cx="3515258" cy="2208276"/>
          </a:xfrm>
          <a:prstGeom prst="roundRect">
            <a:avLst>
              <a:gd name="adj" fmla="val 4141"/>
            </a:avLst>
          </a:prstGeom>
          <a:solidFill>
            <a:schemeClr val="bg2"/>
          </a:solidFill>
          <a:ln/>
        </p:spPr>
      </p:sp>
      <p:sp>
        <p:nvSpPr>
          <p:cNvPr id="16" name="circulo-172"/>
          <p:cNvSpPr/>
          <p:nvPr/>
        </p:nvSpPr>
        <p:spPr>
          <a:xfrm>
            <a:off x="8328965" y="1682496"/>
            <a:ext cx="438912" cy="438912"/>
          </a:xfrm>
          <a:prstGeom prst="ellipse">
            <a:avLst/>
          </a:prstGeom>
          <a:solidFill>
            <a:schemeClr val="accent1"/>
          </a:solidFill>
          <a:ln/>
        </p:spPr>
      </p:sp>
      <p:sp>
        <p:nvSpPr>
          <p:cNvPr id="17" name="num-173"/>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174"/>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Developers</a:t>
            </a:r>
            <a:endParaRPr lang="en-US" sz="1700" dirty="0"/>
          </a:p>
        </p:txBody>
      </p:sp>
      <p:sp>
        <p:nvSpPr>
          <p:cNvPr id="19" name="desc-175"/>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Construyen un incremento utilizable en cada Sprint.</a:t>
            </a:r>
            <a:endParaRPr lang="en-US" sz="1600" dirty="0"/>
          </a:p>
        </p:txBody>
      </p:sp>
      <p:sp>
        <p:nvSpPr>
          <p:cNvPr id="20" name="tarjeta-176"/>
          <p:cNvSpPr/>
          <p:nvPr/>
        </p:nvSpPr>
        <p:spPr>
          <a:xfrm>
            <a:off x="548640" y="3963924"/>
            <a:ext cx="3515258" cy="2208276"/>
          </a:xfrm>
          <a:prstGeom prst="roundRect">
            <a:avLst>
              <a:gd name="adj" fmla="val 4141"/>
            </a:avLst>
          </a:prstGeom>
          <a:solidFill>
            <a:schemeClr val="bg2"/>
          </a:solidFill>
          <a:ln/>
        </p:spPr>
      </p:sp>
      <p:sp>
        <p:nvSpPr>
          <p:cNvPr id="21" name="circulo-177"/>
          <p:cNvSpPr/>
          <p:nvPr/>
        </p:nvSpPr>
        <p:spPr>
          <a:xfrm>
            <a:off x="749808" y="4165092"/>
            <a:ext cx="438912" cy="438912"/>
          </a:xfrm>
          <a:prstGeom prst="ellipse">
            <a:avLst/>
          </a:prstGeom>
          <a:solidFill>
            <a:schemeClr val="accent2"/>
          </a:solidFill>
          <a:ln/>
        </p:spPr>
      </p:sp>
      <p:sp>
        <p:nvSpPr>
          <p:cNvPr id="22" name="num-178"/>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179"/>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Product Backlog</a:t>
            </a:r>
            <a:endParaRPr lang="en-US" sz="1700" dirty="0"/>
          </a:p>
        </p:txBody>
      </p:sp>
      <p:sp>
        <p:nvSpPr>
          <p:cNvPr id="24" name="desc-180"/>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Lista ordenada de todo lo que podría hacerse en el producto.</a:t>
            </a:r>
            <a:endParaRPr lang="en-US" sz="1600" dirty="0"/>
          </a:p>
        </p:txBody>
      </p:sp>
      <p:sp>
        <p:nvSpPr>
          <p:cNvPr id="25" name="tarjeta-181"/>
          <p:cNvSpPr/>
          <p:nvPr/>
        </p:nvSpPr>
        <p:spPr>
          <a:xfrm>
            <a:off x="4338218" y="3963924"/>
            <a:ext cx="3515258" cy="2208276"/>
          </a:xfrm>
          <a:prstGeom prst="roundRect">
            <a:avLst>
              <a:gd name="adj" fmla="val 4141"/>
            </a:avLst>
          </a:prstGeom>
          <a:solidFill>
            <a:schemeClr val="bg2"/>
          </a:solidFill>
          <a:ln/>
        </p:spPr>
      </p:sp>
      <p:sp>
        <p:nvSpPr>
          <p:cNvPr id="26" name="circulo-182"/>
          <p:cNvSpPr/>
          <p:nvPr/>
        </p:nvSpPr>
        <p:spPr>
          <a:xfrm>
            <a:off x="4539386" y="4165092"/>
            <a:ext cx="438912" cy="438912"/>
          </a:xfrm>
          <a:prstGeom prst="ellipse">
            <a:avLst/>
          </a:prstGeom>
          <a:solidFill>
            <a:schemeClr val="accent2"/>
          </a:solidFill>
          <a:ln/>
        </p:spPr>
      </p:sp>
      <p:sp>
        <p:nvSpPr>
          <p:cNvPr id="27" name="num-183"/>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184"/>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Sprint Backlog</a:t>
            </a:r>
            <a:endParaRPr lang="en-US" sz="1700" dirty="0"/>
          </a:p>
        </p:txBody>
      </p:sp>
      <p:sp>
        <p:nvSpPr>
          <p:cNvPr id="29" name="desc-185"/>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Objetivo del Sprint y el trabajo elegido para lograrlo.</a:t>
            </a:r>
            <a:endParaRPr lang="en-US" sz="1600" dirty="0"/>
          </a:p>
        </p:txBody>
      </p:sp>
      <p:sp>
        <p:nvSpPr>
          <p:cNvPr id="30" name="tarjeta-186"/>
          <p:cNvSpPr/>
          <p:nvPr/>
        </p:nvSpPr>
        <p:spPr>
          <a:xfrm>
            <a:off x="8127797" y="3963924"/>
            <a:ext cx="3515258" cy="2208276"/>
          </a:xfrm>
          <a:prstGeom prst="roundRect">
            <a:avLst>
              <a:gd name="adj" fmla="val 4141"/>
            </a:avLst>
          </a:prstGeom>
          <a:solidFill>
            <a:schemeClr val="bg2"/>
          </a:solidFill>
          <a:ln/>
        </p:spPr>
      </p:sp>
      <p:sp>
        <p:nvSpPr>
          <p:cNvPr id="31" name="circulo-187"/>
          <p:cNvSpPr/>
          <p:nvPr/>
        </p:nvSpPr>
        <p:spPr>
          <a:xfrm>
            <a:off x="8328965" y="4165092"/>
            <a:ext cx="438912" cy="438912"/>
          </a:xfrm>
          <a:prstGeom prst="ellipse">
            <a:avLst/>
          </a:prstGeom>
          <a:solidFill>
            <a:schemeClr val="accent2"/>
          </a:solidFill>
          <a:ln/>
        </p:spPr>
      </p:sp>
      <p:sp>
        <p:nvSpPr>
          <p:cNvPr id="32" name="num-188"/>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189"/>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Incremento</a:t>
            </a:r>
            <a:endParaRPr lang="en-US" sz="1700" dirty="0"/>
          </a:p>
        </p:txBody>
      </p:sp>
      <p:sp>
        <p:nvSpPr>
          <p:cNvPr id="34" name="desc-190"/>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Resultado usable que cumple la Definition of Done.</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METODOLOGÍAS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Scrum: el Sprint y sus eventos</a:t>
            </a:r>
            <a:endParaRPr lang="en-US" sz="3400" dirty="0"/>
          </a:p>
        </p:txBody>
      </p:sp>
      <p:sp>
        <p:nvSpPr>
          <p:cNvPr id="5" name="paso-191"/>
          <p:cNvSpPr/>
          <p:nvPr/>
        </p:nvSpPr>
        <p:spPr>
          <a:xfrm>
            <a:off x="548640" y="1847088"/>
            <a:ext cx="2485568" cy="822960"/>
          </a:xfrm>
          <a:prstGeom prst="roundRect">
            <a:avLst>
              <a:gd name="adj" fmla="val 11111"/>
            </a:avLst>
          </a:prstGeom>
          <a:solidFill>
            <a:schemeClr val="tx2"/>
          </a:solidFill>
          <a:ln/>
        </p:spPr>
      </p:sp>
      <p:sp>
        <p:nvSpPr>
          <p:cNvPr id="6" name="paso-t-192"/>
          <p:cNvSpPr txBox="1"/>
          <p:nvPr/>
        </p:nvSpPr>
        <p:spPr>
          <a:xfrm>
            <a:off x="621792"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Sprint Planning</a:t>
            </a:r>
            <a:endParaRPr lang="en-US" sz="1600" dirty="0"/>
          </a:p>
        </p:txBody>
      </p:sp>
      <p:sp>
        <p:nvSpPr>
          <p:cNvPr id="7" name="flecha-193"/>
          <p:cNvSpPr/>
          <p:nvPr/>
        </p:nvSpPr>
        <p:spPr>
          <a:xfrm>
            <a:off x="3098216" y="2139696"/>
            <a:ext cx="256032" cy="237744"/>
          </a:xfrm>
          <a:prstGeom prst="rightArrow">
            <a:avLst/>
          </a:prstGeom>
          <a:solidFill>
            <a:schemeClr val="accent5"/>
          </a:solidFill>
          <a:ln/>
        </p:spPr>
      </p:sp>
      <p:sp>
        <p:nvSpPr>
          <p:cNvPr id="8" name="paso-d-194"/>
          <p:cNvSpPr txBox="1"/>
          <p:nvPr/>
        </p:nvSpPr>
        <p:spPr>
          <a:xfrm>
            <a:off x="548640"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Acordar el objetivo del Sprint y el trabajo para lograrlo.</a:t>
            </a:r>
            <a:endParaRPr lang="en-US" sz="1500" dirty="0"/>
          </a:p>
        </p:txBody>
      </p:sp>
      <p:sp>
        <p:nvSpPr>
          <p:cNvPr id="9" name="paso-195"/>
          <p:cNvSpPr/>
          <p:nvPr/>
        </p:nvSpPr>
        <p:spPr>
          <a:xfrm>
            <a:off x="3418256" y="1847088"/>
            <a:ext cx="2485568" cy="822960"/>
          </a:xfrm>
          <a:prstGeom prst="roundRect">
            <a:avLst>
              <a:gd name="adj" fmla="val 11111"/>
            </a:avLst>
          </a:prstGeom>
          <a:solidFill>
            <a:schemeClr val="tx2"/>
          </a:solidFill>
          <a:ln/>
        </p:spPr>
      </p:sp>
      <p:sp>
        <p:nvSpPr>
          <p:cNvPr id="10" name="paso-t-196"/>
          <p:cNvSpPr txBox="1"/>
          <p:nvPr/>
        </p:nvSpPr>
        <p:spPr>
          <a:xfrm>
            <a:off x="3491408"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Daily Scrum</a:t>
            </a:r>
            <a:endParaRPr lang="en-US" sz="1600" dirty="0"/>
          </a:p>
        </p:txBody>
      </p:sp>
      <p:sp>
        <p:nvSpPr>
          <p:cNvPr id="11" name="flecha-197"/>
          <p:cNvSpPr/>
          <p:nvPr/>
        </p:nvSpPr>
        <p:spPr>
          <a:xfrm>
            <a:off x="5967832" y="2139696"/>
            <a:ext cx="256032" cy="237744"/>
          </a:xfrm>
          <a:prstGeom prst="rightArrow">
            <a:avLst/>
          </a:prstGeom>
          <a:solidFill>
            <a:schemeClr val="accent5"/>
          </a:solidFill>
          <a:ln/>
        </p:spPr>
      </p:sp>
      <p:sp>
        <p:nvSpPr>
          <p:cNvPr id="12" name="paso-d-198"/>
          <p:cNvSpPr txBox="1"/>
          <p:nvPr/>
        </p:nvSpPr>
        <p:spPr>
          <a:xfrm>
            <a:off x="3418256"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15 minutos diarios: ¿cómo vamos hacia el objetivo?</a:t>
            </a:r>
            <a:endParaRPr lang="en-US" sz="1500" dirty="0"/>
          </a:p>
        </p:txBody>
      </p:sp>
      <p:sp>
        <p:nvSpPr>
          <p:cNvPr id="13" name="paso-199"/>
          <p:cNvSpPr/>
          <p:nvPr/>
        </p:nvSpPr>
        <p:spPr>
          <a:xfrm>
            <a:off x="6287872" y="1847088"/>
            <a:ext cx="2485568" cy="822960"/>
          </a:xfrm>
          <a:prstGeom prst="roundRect">
            <a:avLst>
              <a:gd name="adj" fmla="val 11111"/>
            </a:avLst>
          </a:prstGeom>
          <a:solidFill>
            <a:schemeClr val="tx2"/>
          </a:solidFill>
          <a:ln/>
        </p:spPr>
      </p:sp>
      <p:sp>
        <p:nvSpPr>
          <p:cNvPr id="14" name="paso-t-200"/>
          <p:cNvSpPr txBox="1"/>
          <p:nvPr/>
        </p:nvSpPr>
        <p:spPr>
          <a:xfrm>
            <a:off x="6361024"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Sprint Review</a:t>
            </a:r>
            <a:endParaRPr lang="en-US" sz="1600" dirty="0"/>
          </a:p>
        </p:txBody>
      </p:sp>
      <p:sp>
        <p:nvSpPr>
          <p:cNvPr id="15" name="flecha-201"/>
          <p:cNvSpPr/>
          <p:nvPr/>
        </p:nvSpPr>
        <p:spPr>
          <a:xfrm>
            <a:off x="8837447" y="2139696"/>
            <a:ext cx="256032" cy="237744"/>
          </a:xfrm>
          <a:prstGeom prst="rightArrow">
            <a:avLst/>
          </a:prstGeom>
          <a:solidFill>
            <a:schemeClr val="accent5"/>
          </a:solidFill>
          <a:ln/>
        </p:spPr>
      </p:sp>
      <p:sp>
        <p:nvSpPr>
          <p:cNvPr id="16" name="paso-d-202"/>
          <p:cNvSpPr txBox="1"/>
          <p:nvPr/>
        </p:nvSpPr>
        <p:spPr>
          <a:xfrm>
            <a:off x="6287872"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Mostrar el incremento y recibir retroalimentación.</a:t>
            </a:r>
            <a:endParaRPr lang="en-US" sz="1500" dirty="0"/>
          </a:p>
        </p:txBody>
      </p:sp>
      <p:sp>
        <p:nvSpPr>
          <p:cNvPr id="17" name="paso-203"/>
          <p:cNvSpPr/>
          <p:nvPr/>
        </p:nvSpPr>
        <p:spPr>
          <a:xfrm>
            <a:off x="9157487" y="1847088"/>
            <a:ext cx="2485568" cy="822960"/>
          </a:xfrm>
          <a:prstGeom prst="roundRect">
            <a:avLst>
              <a:gd name="adj" fmla="val 11111"/>
            </a:avLst>
          </a:prstGeom>
          <a:solidFill>
            <a:schemeClr val="accent1"/>
          </a:solidFill>
          <a:ln/>
        </p:spPr>
      </p:sp>
      <p:sp>
        <p:nvSpPr>
          <p:cNvPr id="18" name="paso-t-204"/>
          <p:cNvSpPr txBox="1"/>
          <p:nvPr/>
        </p:nvSpPr>
        <p:spPr>
          <a:xfrm>
            <a:off x="9230639"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Retrospectiva</a:t>
            </a:r>
            <a:endParaRPr lang="en-US" sz="1600" dirty="0"/>
          </a:p>
        </p:txBody>
      </p:sp>
      <p:sp>
        <p:nvSpPr>
          <p:cNvPr id="19" name="paso-d-205"/>
          <p:cNvSpPr txBox="1"/>
          <p:nvPr/>
        </p:nvSpPr>
        <p:spPr>
          <a:xfrm>
            <a:off x="9157487"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Acordar una mejora concreta del proceso.</a:t>
            </a:r>
            <a:endParaRPr lang="en-US" sz="1500" dirty="0"/>
          </a:p>
        </p:txBody>
      </p:sp>
      <p:sp>
        <p:nvSpPr>
          <p:cNvPr id="20" name="destacado-206"/>
          <p:cNvSpPr/>
          <p:nvPr/>
        </p:nvSpPr>
        <p:spPr>
          <a:xfrm>
            <a:off x="548640" y="4937760"/>
            <a:ext cx="11094415" cy="566928"/>
          </a:xfrm>
          <a:prstGeom prst="roundRect">
            <a:avLst>
              <a:gd name="adj" fmla="val 12903"/>
            </a:avLst>
          </a:prstGeom>
          <a:solidFill>
            <a:schemeClr val="tx2"/>
          </a:solidFill>
          <a:ln/>
        </p:spPr>
      </p:sp>
      <p:sp>
        <p:nvSpPr>
          <p:cNvPr id="21" name="destacado-t-207"/>
          <p:cNvSpPr txBox="1"/>
          <p:nvPr/>
        </p:nvSpPr>
        <p:spPr>
          <a:xfrm>
            <a:off x="822960" y="4937760"/>
            <a:ext cx="10545775" cy="566928"/>
          </a:xfrm>
          <a:prstGeom prst="rect">
            <a:avLst/>
          </a:prstGeom>
          <a:noFill/>
          <a:ln/>
        </p:spPr>
        <p:txBody>
          <a:bodyPr wrap="square" lIns="0" tIns="0" rIns="0" bIns="0" rtlCol="0" anchor="ctr"/>
          <a:lstStyle/>
          <a:p>
            <a:pPr indent="0" marL="0">
              <a:buNone/>
            </a:pPr>
            <a:r>
              <a:rPr lang="en-US" sz="1600" dirty="0">
                <a:solidFill>
                  <a:schemeClr val="bg1"/>
                </a:solidFill>
              </a:rPr>
              <a:t>Sprint ≤ 1 mes · Lo aprendido entra en el siguiente Sprint · Review = producto · Retro = proceso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METODOLOGÍAS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Kanban: gestionar el flujo de trabajo</a:t>
            </a:r>
            <a:endParaRPr lang="en-US" sz="3400" dirty="0"/>
          </a:p>
        </p:txBody>
      </p:sp>
      <p:sp>
        <p:nvSpPr>
          <p:cNvPr id="5" name="tarjeta-208"/>
          <p:cNvSpPr/>
          <p:nvPr/>
        </p:nvSpPr>
        <p:spPr>
          <a:xfrm>
            <a:off x="548640" y="1481328"/>
            <a:ext cx="2567864" cy="2743200"/>
          </a:xfrm>
          <a:prstGeom prst="roundRect">
            <a:avLst>
              <a:gd name="adj" fmla="val 3561"/>
            </a:avLst>
          </a:prstGeom>
          <a:solidFill>
            <a:schemeClr val="bg2"/>
          </a:solidFill>
          <a:ln/>
        </p:spPr>
      </p:sp>
      <p:sp>
        <p:nvSpPr>
          <p:cNvPr id="6" name="circulo-209"/>
          <p:cNvSpPr/>
          <p:nvPr/>
        </p:nvSpPr>
        <p:spPr>
          <a:xfrm>
            <a:off x="749808" y="1682496"/>
            <a:ext cx="438912" cy="438912"/>
          </a:xfrm>
          <a:prstGeom prst="ellipse">
            <a:avLst/>
          </a:prstGeom>
          <a:solidFill>
            <a:schemeClr val="accent1"/>
          </a:solidFill>
          <a:ln/>
        </p:spPr>
      </p:sp>
      <p:sp>
        <p:nvSpPr>
          <p:cNvPr id="7" name="num-210"/>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211"/>
          <p:cNvSpPr txBox="1"/>
          <p:nvPr/>
        </p:nvSpPr>
        <p:spPr>
          <a:xfrm>
            <a:off x="1325880"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Visualizar</a:t>
            </a:r>
            <a:endParaRPr lang="en-US" sz="1700" dirty="0"/>
          </a:p>
        </p:txBody>
      </p:sp>
      <p:sp>
        <p:nvSpPr>
          <p:cNvPr id="9" name="desc-212"/>
          <p:cNvSpPr txBox="1"/>
          <p:nvPr/>
        </p:nvSpPr>
        <p:spPr>
          <a:xfrm>
            <a:off x="777240" y="2267712"/>
            <a:ext cx="2110664" cy="1828800"/>
          </a:xfrm>
          <a:prstGeom prst="rect">
            <a:avLst/>
          </a:prstGeom>
          <a:noFill/>
          <a:ln/>
        </p:spPr>
        <p:txBody>
          <a:bodyPr wrap="square" lIns="0" tIns="0" rIns="0" bIns="0" rtlCol="0" anchor="t"/>
          <a:lstStyle/>
          <a:p>
            <a:pPr indent="0" marL="0">
              <a:buNone/>
            </a:pPr>
            <a:r>
              <a:rPr lang="en-US" sz="1500" dirty="0">
                <a:solidFill>
                  <a:schemeClr val="tx1"/>
                </a:solidFill>
              </a:rPr>
              <a:t>Un tablero con columnas que muestran el estado de cada trabajo y las políticas para avanzar.</a:t>
            </a:r>
            <a:endParaRPr lang="en-US" sz="1500" dirty="0"/>
          </a:p>
        </p:txBody>
      </p:sp>
      <p:sp>
        <p:nvSpPr>
          <p:cNvPr id="10" name="tarjeta-213"/>
          <p:cNvSpPr/>
          <p:nvPr/>
        </p:nvSpPr>
        <p:spPr>
          <a:xfrm>
            <a:off x="3390824" y="1481328"/>
            <a:ext cx="2567864" cy="2743200"/>
          </a:xfrm>
          <a:prstGeom prst="roundRect">
            <a:avLst>
              <a:gd name="adj" fmla="val 3561"/>
            </a:avLst>
          </a:prstGeom>
          <a:solidFill>
            <a:schemeClr val="bg2"/>
          </a:solidFill>
          <a:ln/>
        </p:spPr>
      </p:sp>
      <p:sp>
        <p:nvSpPr>
          <p:cNvPr id="11" name="circulo-214"/>
          <p:cNvSpPr/>
          <p:nvPr/>
        </p:nvSpPr>
        <p:spPr>
          <a:xfrm>
            <a:off x="3591992" y="1682496"/>
            <a:ext cx="438912" cy="438912"/>
          </a:xfrm>
          <a:prstGeom prst="ellipse">
            <a:avLst/>
          </a:prstGeom>
          <a:solidFill>
            <a:schemeClr val="accent2"/>
          </a:solidFill>
          <a:ln/>
        </p:spPr>
      </p:sp>
      <p:sp>
        <p:nvSpPr>
          <p:cNvPr id="12" name="num-215"/>
          <p:cNvSpPr txBox="1"/>
          <p:nvPr/>
        </p:nvSpPr>
        <p:spPr>
          <a:xfrm>
            <a:off x="359199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216"/>
          <p:cNvSpPr txBox="1"/>
          <p:nvPr/>
        </p:nvSpPr>
        <p:spPr>
          <a:xfrm>
            <a:off x="4168064"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Limitar el WIP</a:t>
            </a:r>
            <a:endParaRPr lang="en-US" sz="1700" dirty="0"/>
          </a:p>
        </p:txBody>
      </p:sp>
      <p:sp>
        <p:nvSpPr>
          <p:cNvPr id="14" name="desc-217"/>
          <p:cNvSpPr txBox="1"/>
          <p:nvPr/>
        </p:nvSpPr>
        <p:spPr>
          <a:xfrm>
            <a:off x="3619424" y="2267712"/>
            <a:ext cx="2110664" cy="1828800"/>
          </a:xfrm>
          <a:prstGeom prst="rect">
            <a:avLst/>
          </a:prstGeom>
          <a:noFill/>
          <a:ln/>
        </p:spPr>
        <p:txBody>
          <a:bodyPr wrap="square" lIns="0" tIns="0" rIns="0" bIns="0" rtlCol="0" anchor="t"/>
          <a:lstStyle/>
          <a:p>
            <a:pPr indent="0" marL="0">
              <a:buNone/>
            </a:pPr>
            <a:r>
              <a:rPr lang="en-US" sz="1500" dirty="0">
                <a:solidFill>
                  <a:schemeClr val="tx1"/>
                </a:solidFill>
              </a:rPr>
              <a:t>Poner un máximo de trabajo iniciado: obliga a terminar antes de empezar otra cosa.</a:t>
            </a:r>
            <a:endParaRPr lang="en-US" sz="1500" dirty="0"/>
          </a:p>
        </p:txBody>
      </p:sp>
      <p:sp>
        <p:nvSpPr>
          <p:cNvPr id="15" name="tarjeta-218"/>
          <p:cNvSpPr/>
          <p:nvPr/>
        </p:nvSpPr>
        <p:spPr>
          <a:xfrm>
            <a:off x="6233008" y="1481328"/>
            <a:ext cx="2567864" cy="2743200"/>
          </a:xfrm>
          <a:prstGeom prst="roundRect">
            <a:avLst>
              <a:gd name="adj" fmla="val 3561"/>
            </a:avLst>
          </a:prstGeom>
          <a:solidFill>
            <a:schemeClr val="bg2"/>
          </a:solidFill>
          <a:ln/>
        </p:spPr>
      </p:sp>
      <p:sp>
        <p:nvSpPr>
          <p:cNvPr id="16" name="circulo-219"/>
          <p:cNvSpPr/>
          <p:nvPr/>
        </p:nvSpPr>
        <p:spPr>
          <a:xfrm>
            <a:off x="6434176" y="1682496"/>
            <a:ext cx="438912" cy="438912"/>
          </a:xfrm>
          <a:prstGeom prst="ellipse">
            <a:avLst/>
          </a:prstGeom>
          <a:solidFill>
            <a:schemeClr val="accent3"/>
          </a:solidFill>
          <a:ln/>
        </p:spPr>
      </p:sp>
      <p:sp>
        <p:nvSpPr>
          <p:cNvPr id="17" name="num-220"/>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221"/>
          <p:cNvSpPr txBox="1"/>
          <p:nvPr/>
        </p:nvSpPr>
        <p:spPr>
          <a:xfrm>
            <a:off x="7010248"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Medir</a:t>
            </a:r>
            <a:endParaRPr lang="en-US" sz="1700" dirty="0"/>
          </a:p>
        </p:txBody>
      </p:sp>
      <p:sp>
        <p:nvSpPr>
          <p:cNvPr id="19" name="desc-222"/>
          <p:cNvSpPr txBox="1"/>
          <p:nvPr/>
        </p:nvSpPr>
        <p:spPr>
          <a:xfrm>
            <a:off x="6461608" y="2267712"/>
            <a:ext cx="2110664" cy="1828800"/>
          </a:xfrm>
          <a:prstGeom prst="rect">
            <a:avLst/>
          </a:prstGeom>
          <a:noFill/>
          <a:ln/>
        </p:spPr>
        <p:txBody>
          <a:bodyPr wrap="square" lIns="0" tIns="0" rIns="0" bIns="0" rtlCol="0" anchor="t"/>
          <a:lstStyle/>
          <a:p>
            <a:pPr indent="0" marL="0">
              <a:buNone/>
            </a:pPr>
            <a:r>
              <a:rPr lang="en-US" sz="1500" dirty="0">
                <a:solidFill>
                  <a:schemeClr val="tx1"/>
                </a:solidFill>
              </a:rPr>
              <a:t>Tiempo de ciclo, throughput y antigüedad del trabajo en curso.</a:t>
            </a:r>
            <a:endParaRPr lang="en-US" sz="1500" dirty="0"/>
          </a:p>
        </p:txBody>
      </p:sp>
      <p:sp>
        <p:nvSpPr>
          <p:cNvPr id="20" name="tarjeta-223"/>
          <p:cNvSpPr/>
          <p:nvPr/>
        </p:nvSpPr>
        <p:spPr>
          <a:xfrm>
            <a:off x="9075191" y="1481328"/>
            <a:ext cx="2567864" cy="2743200"/>
          </a:xfrm>
          <a:prstGeom prst="roundRect">
            <a:avLst>
              <a:gd name="adj" fmla="val 3561"/>
            </a:avLst>
          </a:prstGeom>
          <a:solidFill>
            <a:schemeClr val="bg2"/>
          </a:solidFill>
          <a:ln/>
        </p:spPr>
      </p:sp>
      <p:sp>
        <p:nvSpPr>
          <p:cNvPr id="21" name="circulo-224"/>
          <p:cNvSpPr/>
          <p:nvPr/>
        </p:nvSpPr>
        <p:spPr>
          <a:xfrm>
            <a:off x="9276359" y="1682496"/>
            <a:ext cx="438912" cy="438912"/>
          </a:xfrm>
          <a:prstGeom prst="ellipse">
            <a:avLst/>
          </a:prstGeom>
          <a:solidFill>
            <a:schemeClr val="accent4"/>
          </a:solidFill>
          <a:ln/>
        </p:spPr>
      </p:sp>
      <p:sp>
        <p:nvSpPr>
          <p:cNvPr id="22" name="num-225"/>
          <p:cNvSpPr txBox="1"/>
          <p:nvPr/>
        </p:nvSpPr>
        <p:spPr>
          <a:xfrm>
            <a:off x="927635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226"/>
          <p:cNvSpPr txBox="1"/>
          <p:nvPr/>
        </p:nvSpPr>
        <p:spPr>
          <a:xfrm>
            <a:off x="9852431"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Mejorar</a:t>
            </a:r>
            <a:endParaRPr lang="en-US" sz="1700" dirty="0"/>
          </a:p>
        </p:txBody>
      </p:sp>
      <p:sp>
        <p:nvSpPr>
          <p:cNvPr id="24" name="desc-227"/>
          <p:cNvSpPr txBox="1"/>
          <p:nvPr/>
        </p:nvSpPr>
        <p:spPr>
          <a:xfrm>
            <a:off x="9303791" y="2267712"/>
            <a:ext cx="2110664" cy="1828800"/>
          </a:xfrm>
          <a:prstGeom prst="rect">
            <a:avLst/>
          </a:prstGeom>
          <a:noFill/>
          <a:ln/>
        </p:spPr>
        <p:txBody>
          <a:bodyPr wrap="square" lIns="0" tIns="0" rIns="0" bIns="0" rtlCol="0" anchor="t"/>
          <a:lstStyle/>
          <a:p>
            <a:pPr indent="0" marL="0">
              <a:buNone/>
            </a:pPr>
            <a:r>
              <a:rPr lang="en-US" sz="1500" dirty="0">
                <a:solidFill>
                  <a:schemeClr val="tx1"/>
                </a:solidFill>
              </a:rPr>
              <a:t>Ajustar las políticas a partir de los datos, en pasos pequeños.</a:t>
            </a:r>
            <a:endParaRPr lang="en-US" sz="1500" dirty="0"/>
          </a:p>
        </p:txBody>
      </p:sp>
      <p:sp>
        <p:nvSpPr>
          <p:cNvPr id="25" name="destacado-228"/>
          <p:cNvSpPr/>
          <p:nvPr/>
        </p:nvSpPr>
        <p:spPr>
          <a:xfrm>
            <a:off x="548640" y="4663440"/>
            <a:ext cx="11094415" cy="566928"/>
          </a:xfrm>
          <a:prstGeom prst="roundRect">
            <a:avLst>
              <a:gd name="adj" fmla="val 12903"/>
            </a:avLst>
          </a:prstGeom>
          <a:solidFill>
            <a:schemeClr val="tx2"/>
          </a:solidFill>
          <a:ln/>
        </p:spPr>
      </p:sp>
      <p:sp>
        <p:nvSpPr>
          <p:cNvPr id="26" name="destacado-t-229"/>
          <p:cNvSpPr txBox="1"/>
          <p:nvPr/>
        </p:nvSpPr>
        <p:spPr>
          <a:xfrm>
            <a:off x="822960" y="4663440"/>
            <a:ext cx="10545775" cy="566928"/>
          </a:xfrm>
          <a:prstGeom prst="rect">
            <a:avLst/>
          </a:prstGeom>
          <a:noFill/>
          <a:ln/>
        </p:spPr>
        <p:txBody>
          <a:bodyPr wrap="square" lIns="0" tIns="0" rIns="0" bIns="0" rtlCol="0" anchor="ctr"/>
          <a:lstStyle/>
          <a:p>
            <a:pPr indent="0" marL="0">
              <a:buNone/>
            </a:pPr>
            <a:r>
              <a:rPr lang="en-US" sz="1600" dirty="0">
                <a:solidFill>
                  <a:schemeClr val="bg1"/>
                </a:solidFill>
              </a:rPr>
              <a:t>Nuestro proyecto modela justamente esto: columnas Por hacer → En curso → Hecha con un límite de 3 en curso.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METODOLOGÍAS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Agile, Scrum, Kanban, XP y Lean no son lo mismo</a:t>
            </a:r>
            <a:endParaRPr lang="en-US" sz="3400" dirty="0"/>
          </a:p>
        </p:txBody>
      </p:sp>
      <p:graphicFrame>
        <p:nvGraphicFramePr>
          <p:cNvPr id="19" name="tabla-23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926080"/>
                <a:gridCol w="4023360"/>
                <a:gridCol w="4142232"/>
              </a:tblGrid>
              <a:tr h="594360">
                <a:tc>
                  <a:txBody>
                    <a:bodyPr/>
                    <a:lstStyle/>
                    <a:p>
                      <a:pPr indent="0" marL="0">
                        <a:buNone/>
                      </a:pPr>
                      <a:r>
                        <a:rPr lang="en-US" sz="1400" b="1" dirty="0">
                          <a:solidFill>
                            <a:schemeClr val="bg1"/>
                          </a:solidFill>
                        </a:rPr>
                        <a:t>Enfoque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Qué 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Qué aporta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94360">
                <a:tc>
                  <a:txBody>
                    <a:bodyPr/>
                    <a:lstStyle/>
                    <a:p>
                      <a:pPr indent="0" marL="0">
                        <a:buNone/>
                      </a:pPr>
                      <a:r>
                        <a:rPr lang="en-US" sz="1400" b="1" dirty="0">
                          <a:solidFill>
                            <a:schemeClr val="tx1"/>
                          </a:solidFill>
                        </a:rPr>
                        <a:t>Agile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Valores y principios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Entregas pequeñas con retroalimentación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94360">
                <a:tc>
                  <a:txBody>
                    <a:bodyPr/>
                    <a:lstStyle/>
                    <a:p>
                      <a:pPr indent="0" marL="0">
                        <a:buNone/>
                      </a:pPr>
                      <a:r>
                        <a:rPr lang="en-US" sz="1400" b="1" dirty="0">
                          <a:solidFill>
                            <a:schemeClr val="tx1"/>
                          </a:solidFill>
                        </a:rPr>
                        <a:t>Scrum</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Marco con roles, eventos y artefactos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Ritmo de Sprints, objetivo e inspección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94360">
                <a:tc>
                  <a:txBody>
                    <a:bodyPr/>
                    <a:lstStyle/>
                    <a:p>
                      <a:pPr indent="0" marL="0">
                        <a:buNone/>
                      </a:pPr>
                      <a:r>
                        <a:rPr lang="en-US" sz="1400" b="1" dirty="0">
                          <a:solidFill>
                            <a:schemeClr val="tx1"/>
                          </a:solidFill>
                        </a:rPr>
                        <a:t>Kanban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Estrategia de gestión del flujo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Visualizar, limitar WIP y medir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94360">
                <a:tc>
                  <a:txBody>
                    <a:bodyPr/>
                    <a:lstStyle/>
                    <a:p>
                      <a:pPr indent="0" marL="0">
                        <a:buNone/>
                      </a:pPr>
                      <a:r>
                        <a:rPr lang="en-US" sz="1400" b="1" dirty="0">
                          <a:solidFill>
                            <a:schemeClr val="tx1"/>
                          </a:solidFill>
                        </a:rPr>
                        <a:t>XP (Extreme Programming)</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Prácticas técnicas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TDD, pair programming, integración continua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94360">
                <a:tc>
                  <a:txBody>
                    <a:bodyPr/>
                    <a:lstStyle/>
                    <a:p>
                      <a:pPr indent="0" marL="0">
                        <a:buNone/>
                      </a:pPr>
                      <a:r>
                        <a:rPr lang="en-US" sz="1400" b="1" dirty="0">
                          <a:solidFill>
                            <a:schemeClr val="tx1"/>
                          </a:solidFill>
                        </a:rPr>
                        <a:t>Lean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Filosofía de eliminar desperdicio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Foco en valor y flujo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METODOLOGÍAS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Definition of Done y estimación</a:t>
            </a:r>
            <a:endParaRPr lang="en-US" sz="3400" dirty="0"/>
          </a:p>
        </p:txBody>
      </p:sp>
      <p:sp>
        <p:nvSpPr>
          <p:cNvPr id="5" name="panel-231"/>
          <p:cNvSpPr/>
          <p:nvPr/>
        </p:nvSpPr>
        <p:spPr>
          <a:xfrm>
            <a:off x="548640" y="1481328"/>
            <a:ext cx="5394960" cy="4690872"/>
          </a:xfrm>
          <a:prstGeom prst="roundRect">
            <a:avLst>
              <a:gd name="adj" fmla="val 1949"/>
            </a:avLst>
          </a:prstGeom>
          <a:solidFill>
            <a:schemeClr val="bg2"/>
          </a:solidFill>
          <a:ln/>
        </p:spPr>
      </p:sp>
      <p:sp>
        <p:nvSpPr>
          <p:cNvPr id="6" name="panel-cab-232"/>
          <p:cNvSpPr/>
          <p:nvPr/>
        </p:nvSpPr>
        <p:spPr>
          <a:xfrm>
            <a:off x="777240" y="1709928"/>
            <a:ext cx="4937760" cy="548640"/>
          </a:xfrm>
          <a:prstGeom prst="roundRect">
            <a:avLst>
              <a:gd name="adj" fmla="val 13333"/>
            </a:avLst>
          </a:prstGeom>
          <a:solidFill>
            <a:schemeClr val="tx2"/>
          </a:solidFill>
          <a:ln/>
        </p:spPr>
      </p:sp>
      <p:sp>
        <p:nvSpPr>
          <p:cNvPr id="7" name="panel-t-233"/>
          <p:cNvSpPr txBox="1"/>
          <p:nvPr/>
        </p:nvSpPr>
        <p:spPr>
          <a:xfrm>
            <a:off x="868680" y="1709928"/>
            <a:ext cx="4754880" cy="548640"/>
          </a:xfrm>
          <a:prstGeom prst="rect">
            <a:avLst/>
          </a:prstGeom>
          <a:noFill/>
          <a:ln/>
        </p:spPr>
        <p:txBody>
          <a:bodyPr wrap="square" lIns="0" tIns="0" rIns="0" bIns="0" rtlCol="0" anchor="ctr"/>
          <a:lstStyle/>
          <a:p>
            <a:pPr indent="0" marL="0">
              <a:buNone/>
            </a:pPr>
            <a:r>
              <a:rPr lang="en-US" sz="1800" b="1" dirty="0">
                <a:solidFill>
                  <a:schemeClr val="bg1"/>
                </a:solidFill>
              </a:rPr>
              <a:t>Definition of Done (ejemplo)</a:t>
            </a:r>
            <a:endParaRPr lang="en-US" sz="1800" dirty="0"/>
          </a:p>
        </p:txBody>
      </p:sp>
      <p:sp>
        <p:nvSpPr>
          <p:cNvPr id="8" name="lista-234"/>
          <p:cNvSpPr txBox="1"/>
          <p:nvPr/>
        </p:nvSpPr>
        <p:spPr>
          <a:xfrm>
            <a:off x="868680" y="2441448"/>
            <a:ext cx="4754880" cy="35478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Cumple los criterios de aceptación</a:t>
            </a:r>
            <a:endParaRPr lang="en-US" sz="1600" dirty="0"/>
          </a:p>
          <a:p>
            <a:pPr marL="228600" indent="-228600">
              <a:spcAft>
                <a:spcPts val="800"/>
              </a:spcAft>
              <a:buSzPct val="100000"/>
              <a:buChar char="•"/>
            </a:pPr>
            <a:r>
              <a:rPr lang="en-US" sz="1600" dirty="0">
                <a:solidFill>
                  <a:schemeClr val="tx1"/>
                </a:solidFill>
              </a:rPr>
              <a:t>Compila y pasa todas las pruebas</a:t>
            </a:r>
            <a:endParaRPr lang="en-US" sz="1600" dirty="0"/>
          </a:p>
          <a:p>
            <a:pPr marL="228600" indent="-228600">
              <a:spcAft>
                <a:spcPts val="800"/>
              </a:spcAft>
              <a:buSzPct val="100000"/>
              <a:buChar char="•"/>
            </a:pPr>
            <a:r>
              <a:rPr lang="en-US" sz="1600" dirty="0">
                <a:solidFill>
                  <a:schemeClr val="tx1"/>
                </a:solidFill>
              </a:rPr>
              <a:t>Revisado por un compañero (PR)</a:t>
            </a:r>
            <a:endParaRPr lang="en-US" sz="1600" dirty="0"/>
          </a:p>
          <a:p>
            <a:pPr marL="228600" indent="-228600">
              <a:spcAft>
                <a:spcPts val="800"/>
              </a:spcAft>
              <a:buSzPct val="100000"/>
              <a:buChar char="•"/>
            </a:pPr>
            <a:r>
              <a:rPr lang="en-US" sz="1600" dirty="0">
                <a:solidFill>
                  <a:schemeClr val="tx1"/>
                </a:solidFill>
              </a:rPr>
              <a:t>Migración nueva si cambió el esquema</a:t>
            </a:r>
            <a:endParaRPr lang="en-US" sz="1600" dirty="0"/>
          </a:p>
          <a:p>
            <a:pPr marL="228600" indent="-228600">
              <a:spcAft>
                <a:spcPts val="800"/>
              </a:spcAft>
              <a:buSzPct val="100000"/>
              <a:buChar char="•"/>
            </a:pPr>
            <a:r>
              <a:rPr lang="en-US" sz="1600" dirty="0">
                <a:solidFill>
                  <a:schemeClr val="tx1"/>
                </a:solidFill>
              </a:rPr>
              <a:t>Sin secretos en el repositorio</a:t>
            </a:r>
            <a:endParaRPr lang="en-US" sz="1600" dirty="0"/>
          </a:p>
          <a:p>
            <a:pPr marL="228600" indent="-228600">
              <a:spcAft>
                <a:spcPts val="800"/>
              </a:spcAft>
              <a:buSzPct val="100000"/>
              <a:buChar char="•"/>
            </a:pPr>
            <a:r>
              <a:rPr lang="en-US" sz="1600" dirty="0">
                <a:solidFill>
                  <a:schemeClr val="tx1"/>
                </a:solidFill>
              </a:rPr>
              <a:t>Documentación actualizada</a:t>
            </a:r>
            <a:endParaRPr lang="en-US" sz="1600" dirty="0"/>
          </a:p>
        </p:txBody>
      </p:sp>
      <p:sp>
        <p:nvSpPr>
          <p:cNvPr id="9" name="panel-235"/>
          <p:cNvSpPr/>
          <p:nvPr/>
        </p:nvSpPr>
        <p:spPr>
          <a:xfrm>
            <a:off x="6245352" y="1481328"/>
            <a:ext cx="5394960" cy="4690872"/>
          </a:xfrm>
          <a:prstGeom prst="roundRect">
            <a:avLst>
              <a:gd name="adj" fmla="val 1949"/>
            </a:avLst>
          </a:prstGeom>
          <a:solidFill>
            <a:schemeClr val="bg2"/>
          </a:solidFill>
          <a:ln/>
        </p:spPr>
      </p:sp>
      <p:sp>
        <p:nvSpPr>
          <p:cNvPr id="10" name="panel-cab-236"/>
          <p:cNvSpPr/>
          <p:nvPr/>
        </p:nvSpPr>
        <p:spPr>
          <a:xfrm>
            <a:off x="6473952" y="1709928"/>
            <a:ext cx="4937760" cy="548640"/>
          </a:xfrm>
          <a:prstGeom prst="roundRect">
            <a:avLst>
              <a:gd name="adj" fmla="val 13333"/>
            </a:avLst>
          </a:prstGeom>
          <a:solidFill>
            <a:schemeClr val="accent2"/>
          </a:solidFill>
          <a:ln/>
        </p:spPr>
      </p:sp>
      <p:sp>
        <p:nvSpPr>
          <p:cNvPr id="11" name="panel-t-237"/>
          <p:cNvSpPr txBox="1"/>
          <p:nvPr/>
        </p:nvSpPr>
        <p:spPr>
          <a:xfrm>
            <a:off x="6565392" y="1709928"/>
            <a:ext cx="4754880" cy="548640"/>
          </a:xfrm>
          <a:prstGeom prst="rect">
            <a:avLst/>
          </a:prstGeom>
          <a:noFill/>
          <a:ln/>
        </p:spPr>
        <p:txBody>
          <a:bodyPr wrap="square" lIns="0" tIns="0" rIns="0" bIns="0" rtlCol="0" anchor="ctr"/>
          <a:lstStyle/>
          <a:p>
            <a:pPr indent="0" marL="0">
              <a:buNone/>
            </a:pPr>
            <a:r>
              <a:rPr lang="en-US" sz="1800" b="1" dirty="0">
                <a:solidFill>
                  <a:schemeClr val="bg1"/>
                </a:solidFill>
              </a:rPr>
              <a:t>Estimación</a:t>
            </a:r>
            <a:endParaRPr lang="en-US" sz="1800" dirty="0"/>
          </a:p>
        </p:txBody>
      </p:sp>
      <p:sp>
        <p:nvSpPr>
          <p:cNvPr id="12" name="lista-238"/>
          <p:cNvSpPr txBox="1"/>
          <p:nvPr/>
        </p:nvSpPr>
        <p:spPr>
          <a:xfrm>
            <a:off x="6565392" y="2441448"/>
            <a:ext cx="4754880" cy="35478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Puntos de historia: esfuerzo relativo, no horas</a:t>
            </a:r>
            <a:endParaRPr lang="en-US" sz="1600" dirty="0"/>
          </a:p>
          <a:p>
            <a:pPr marL="228600" indent="-228600">
              <a:spcAft>
                <a:spcPts val="800"/>
              </a:spcAft>
              <a:buSzPct val="100000"/>
              <a:buChar char="•"/>
            </a:pPr>
            <a:r>
              <a:rPr lang="en-US" sz="1600" dirty="0">
                <a:solidFill>
                  <a:schemeClr val="tx1"/>
                </a:solidFill>
              </a:rPr>
              <a:t>Planning Poker: estimar en equipo y discutir diferencias</a:t>
            </a:r>
            <a:endParaRPr lang="en-US" sz="1600" dirty="0"/>
          </a:p>
          <a:p>
            <a:pPr marL="228600" indent="-228600">
              <a:spcAft>
                <a:spcPts val="800"/>
              </a:spcAft>
              <a:buSzPct val="100000"/>
              <a:buChar char="•"/>
            </a:pPr>
            <a:r>
              <a:rPr lang="en-US" sz="1600" dirty="0">
                <a:solidFill>
                  <a:schemeClr val="tx1"/>
                </a:solidFill>
              </a:rPr>
              <a:t>Velocidad: puntos terminados por Sprint</a:t>
            </a:r>
            <a:endParaRPr lang="en-US" sz="1600" dirty="0"/>
          </a:p>
          <a:p>
            <a:pPr marL="228600" indent="-228600">
              <a:spcAft>
                <a:spcPts val="800"/>
              </a:spcAft>
              <a:buSzPct val="100000"/>
              <a:buChar char="•"/>
            </a:pPr>
            <a:r>
              <a:rPr lang="en-US" sz="1600" dirty="0">
                <a:solidFill>
                  <a:schemeClr val="tx1"/>
                </a:solidFill>
              </a:rPr>
              <a:t>Dividir historias grandes en pequeñas</a:t>
            </a:r>
            <a:endParaRPr lang="en-US" sz="1600" dirty="0"/>
          </a:p>
          <a:p>
            <a:pPr marL="228600" indent="-228600">
              <a:spcAft>
                <a:spcPts val="800"/>
              </a:spcAft>
              <a:buSzPct val="100000"/>
              <a:buChar char="•"/>
            </a:pPr>
            <a:r>
              <a:rPr lang="en-US" sz="1600" dirty="0">
                <a:solidFill>
                  <a:schemeClr val="tx1"/>
                </a:solidFill>
              </a:rPr>
              <a:t>No medir por líneas de código ni commits</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04</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Modelado y diagramas</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Un diagrama sirve para revisar una decisión antes de programarla. Se dibuja el mínimo modelo que aclare la pregunta.</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MODELADO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Qué diagrama responde cada pregunta</a:t>
            </a:r>
            <a:endParaRPr lang="en-US" sz="3400" dirty="0"/>
          </a:p>
        </p:txBody>
      </p:sp>
      <p:graphicFrame>
        <p:nvGraphicFramePr>
          <p:cNvPr id="22" name="tabla-239"/>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291840"/>
                <a:gridCol w="3657600"/>
                <a:gridCol w="4142232"/>
              </a:tblGrid>
              <a:tr h="548640">
                <a:tc>
                  <a:txBody>
                    <a:bodyPr/>
                    <a:lstStyle/>
                    <a:p>
                      <a:pPr indent="0" marL="0">
                        <a:buNone/>
                      </a:pPr>
                      <a:r>
                        <a:rPr lang="en-US" sz="1400" b="1" dirty="0">
                          <a:solidFill>
                            <a:schemeClr val="bg1"/>
                          </a:solidFill>
                        </a:rPr>
                        <a:t>Pregunta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Diagrama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Decisión que permite revisar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48640">
                <a:tc>
                  <a:txBody>
                    <a:bodyPr/>
                    <a:lstStyle/>
                    <a:p>
                      <a:pPr indent="0" marL="0">
                        <a:buNone/>
                      </a:pPr>
                      <a:r>
                        <a:rPr lang="en-US" sz="1400" b="1" dirty="0">
                          <a:solidFill>
                            <a:schemeClr val="tx1"/>
                          </a:solidFill>
                        </a:rPr>
                        <a:t>¿Quién usa qué?</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Casos de uso · Contexto C4</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Alcance y actores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¿Qué piezas colaboran?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Contenedores C4 · Clases UML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Responsabilidades y dependencias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¿Qué ocurre y en qué orden?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Secuencia UML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Mensajes y manejo de errores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¿Qué estados atraviesa algo?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Estados UML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Transiciones y condiciones (guardas)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¿Qué se guarda?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Modelo entidad-relación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Integridad de los datos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¿Dónde corre?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Despliegue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Servidores, red y operación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MODELADO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UML: diagrama de casos de uso</a:t>
            </a:r>
            <a:endParaRPr lang="en-US" sz="3400" dirty="0"/>
          </a:p>
        </p:txBody>
      </p:sp>
      <p:sp>
        <p:nvSpPr>
          <p:cNvPr id="5" name="tarjeta-240"/>
          <p:cNvSpPr/>
          <p:nvPr/>
        </p:nvSpPr>
        <p:spPr>
          <a:xfrm>
            <a:off x="548640" y="1481328"/>
            <a:ext cx="2567864" cy="2560320"/>
          </a:xfrm>
          <a:prstGeom prst="roundRect">
            <a:avLst>
              <a:gd name="adj" fmla="val 3571"/>
            </a:avLst>
          </a:prstGeom>
          <a:solidFill>
            <a:schemeClr val="bg2"/>
          </a:solidFill>
          <a:ln/>
        </p:spPr>
      </p:sp>
      <p:sp>
        <p:nvSpPr>
          <p:cNvPr id="6" name="circulo-241"/>
          <p:cNvSpPr/>
          <p:nvPr/>
        </p:nvSpPr>
        <p:spPr>
          <a:xfrm>
            <a:off x="749808" y="1682496"/>
            <a:ext cx="438912" cy="438912"/>
          </a:xfrm>
          <a:prstGeom prst="ellipse">
            <a:avLst/>
          </a:prstGeom>
          <a:solidFill>
            <a:schemeClr val="accent1"/>
          </a:solidFill>
          <a:ln/>
        </p:spPr>
      </p:sp>
      <p:sp>
        <p:nvSpPr>
          <p:cNvPr id="7" name="num-242"/>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243"/>
          <p:cNvSpPr txBox="1"/>
          <p:nvPr/>
        </p:nvSpPr>
        <p:spPr>
          <a:xfrm>
            <a:off x="1325880"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Actor</a:t>
            </a:r>
            <a:endParaRPr lang="en-US" sz="1700" dirty="0"/>
          </a:p>
        </p:txBody>
      </p:sp>
      <p:sp>
        <p:nvSpPr>
          <p:cNvPr id="9" name="desc-244"/>
          <p:cNvSpPr txBox="1"/>
          <p:nvPr/>
        </p:nvSpPr>
        <p:spPr>
          <a:xfrm>
            <a:off x="777240" y="2267712"/>
            <a:ext cx="2110664" cy="1645920"/>
          </a:xfrm>
          <a:prstGeom prst="rect">
            <a:avLst/>
          </a:prstGeom>
          <a:noFill/>
          <a:ln/>
        </p:spPr>
        <p:txBody>
          <a:bodyPr wrap="square" lIns="0" tIns="0" rIns="0" bIns="0" rtlCol="0" anchor="t"/>
          <a:lstStyle/>
          <a:p>
            <a:pPr indent="0" marL="0">
              <a:buNone/>
            </a:pPr>
            <a:r>
              <a:rPr lang="en-US" sz="1500" dirty="0">
                <a:solidFill>
                  <a:schemeClr val="tx1"/>
                </a:solidFill>
              </a:rPr>
              <a:t>El "monito". Un rol que usa el sistema desde afuera (persona u otro sistema).</a:t>
            </a:r>
            <a:endParaRPr lang="en-US" sz="1500" dirty="0"/>
          </a:p>
        </p:txBody>
      </p:sp>
      <p:sp>
        <p:nvSpPr>
          <p:cNvPr id="10" name="tarjeta-245"/>
          <p:cNvSpPr/>
          <p:nvPr/>
        </p:nvSpPr>
        <p:spPr>
          <a:xfrm>
            <a:off x="3390824" y="1481328"/>
            <a:ext cx="2567864" cy="2560320"/>
          </a:xfrm>
          <a:prstGeom prst="roundRect">
            <a:avLst>
              <a:gd name="adj" fmla="val 3571"/>
            </a:avLst>
          </a:prstGeom>
          <a:solidFill>
            <a:schemeClr val="bg2"/>
          </a:solidFill>
          <a:ln/>
        </p:spPr>
      </p:sp>
      <p:sp>
        <p:nvSpPr>
          <p:cNvPr id="11" name="circulo-246"/>
          <p:cNvSpPr/>
          <p:nvPr/>
        </p:nvSpPr>
        <p:spPr>
          <a:xfrm>
            <a:off x="3591992" y="1682496"/>
            <a:ext cx="438912" cy="438912"/>
          </a:xfrm>
          <a:prstGeom prst="ellipse">
            <a:avLst/>
          </a:prstGeom>
          <a:solidFill>
            <a:schemeClr val="accent2"/>
          </a:solidFill>
          <a:ln/>
        </p:spPr>
      </p:sp>
      <p:sp>
        <p:nvSpPr>
          <p:cNvPr id="12" name="num-247"/>
          <p:cNvSpPr txBox="1"/>
          <p:nvPr/>
        </p:nvSpPr>
        <p:spPr>
          <a:xfrm>
            <a:off x="359199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248"/>
          <p:cNvSpPr txBox="1"/>
          <p:nvPr/>
        </p:nvSpPr>
        <p:spPr>
          <a:xfrm>
            <a:off x="4168064"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Caso de uso</a:t>
            </a:r>
            <a:endParaRPr lang="en-US" sz="1700" dirty="0"/>
          </a:p>
        </p:txBody>
      </p:sp>
      <p:sp>
        <p:nvSpPr>
          <p:cNvPr id="14" name="desc-249"/>
          <p:cNvSpPr txBox="1"/>
          <p:nvPr/>
        </p:nvSpPr>
        <p:spPr>
          <a:xfrm>
            <a:off x="3619424" y="2267712"/>
            <a:ext cx="2110664" cy="1645920"/>
          </a:xfrm>
          <a:prstGeom prst="rect">
            <a:avLst/>
          </a:prstGeom>
          <a:noFill/>
          <a:ln/>
        </p:spPr>
        <p:txBody>
          <a:bodyPr wrap="square" lIns="0" tIns="0" rIns="0" bIns="0" rtlCol="0" anchor="t"/>
          <a:lstStyle/>
          <a:p>
            <a:pPr indent="0" marL="0">
              <a:buNone/>
            </a:pPr>
            <a:r>
              <a:rPr lang="en-US" sz="1500" dirty="0">
                <a:solidFill>
                  <a:schemeClr val="tx1"/>
                </a:solidFill>
              </a:rPr>
              <a:t>Un óvalo: un objetivo del usuario con un verbo, como "Mover tarea".</a:t>
            </a:r>
            <a:endParaRPr lang="en-US" sz="1500" dirty="0"/>
          </a:p>
        </p:txBody>
      </p:sp>
      <p:sp>
        <p:nvSpPr>
          <p:cNvPr id="15" name="tarjeta-250"/>
          <p:cNvSpPr/>
          <p:nvPr/>
        </p:nvSpPr>
        <p:spPr>
          <a:xfrm>
            <a:off x="6233008" y="1481328"/>
            <a:ext cx="2567864" cy="2560320"/>
          </a:xfrm>
          <a:prstGeom prst="roundRect">
            <a:avLst>
              <a:gd name="adj" fmla="val 3571"/>
            </a:avLst>
          </a:prstGeom>
          <a:solidFill>
            <a:schemeClr val="bg2"/>
          </a:solidFill>
          <a:ln/>
        </p:spPr>
      </p:sp>
      <p:sp>
        <p:nvSpPr>
          <p:cNvPr id="16" name="circulo-251"/>
          <p:cNvSpPr/>
          <p:nvPr/>
        </p:nvSpPr>
        <p:spPr>
          <a:xfrm>
            <a:off x="6434176" y="1682496"/>
            <a:ext cx="438912" cy="438912"/>
          </a:xfrm>
          <a:prstGeom prst="ellipse">
            <a:avLst/>
          </a:prstGeom>
          <a:solidFill>
            <a:schemeClr val="accent3"/>
          </a:solidFill>
          <a:ln/>
        </p:spPr>
      </p:sp>
      <p:sp>
        <p:nvSpPr>
          <p:cNvPr id="17" name="num-252"/>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253"/>
          <p:cNvSpPr txBox="1"/>
          <p:nvPr/>
        </p:nvSpPr>
        <p:spPr>
          <a:xfrm>
            <a:off x="7010248"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Límite del sistema</a:t>
            </a:r>
            <a:endParaRPr lang="en-US" sz="1700" dirty="0"/>
          </a:p>
        </p:txBody>
      </p:sp>
      <p:sp>
        <p:nvSpPr>
          <p:cNvPr id="19" name="desc-254"/>
          <p:cNvSpPr txBox="1"/>
          <p:nvPr/>
        </p:nvSpPr>
        <p:spPr>
          <a:xfrm>
            <a:off x="6461608" y="2267712"/>
            <a:ext cx="2110664" cy="1645920"/>
          </a:xfrm>
          <a:prstGeom prst="rect">
            <a:avLst/>
          </a:prstGeom>
          <a:noFill/>
          <a:ln/>
        </p:spPr>
        <p:txBody>
          <a:bodyPr wrap="square" lIns="0" tIns="0" rIns="0" bIns="0" rtlCol="0" anchor="t"/>
          <a:lstStyle/>
          <a:p>
            <a:pPr indent="0" marL="0">
              <a:buNone/>
            </a:pPr>
            <a:r>
              <a:rPr lang="en-US" sz="1500" dirty="0">
                <a:solidFill>
                  <a:schemeClr val="tx1"/>
                </a:solidFill>
              </a:rPr>
              <a:t>Rectángulo que separa lo que construimos de lo externo.</a:t>
            </a:r>
            <a:endParaRPr lang="en-US" sz="1500" dirty="0"/>
          </a:p>
        </p:txBody>
      </p:sp>
      <p:sp>
        <p:nvSpPr>
          <p:cNvPr id="20" name="tarjeta-255"/>
          <p:cNvSpPr/>
          <p:nvPr/>
        </p:nvSpPr>
        <p:spPr>
          <a:xfrm>
            <a:off x="9075191" y="1481328"/>
            <a:ext cx="2567864" cy="2560320"/>
          </a:xfrm>
          <a:prstGeom prst="roundRect">
            <a:avLst>
              <a:gd name="adj" fmla="val 3571"/>
            </a:avLst>
          </a:prstGeom>
          <a:solidFill>
            <a:schemeClr val="bg2"/>
          </a:solidFill>
          <a:ln/>
        </p:spPr>
      </p:sp>
      <p:sp>
        <p:nvSpPr>
          <p:cNvPr id="21" name="circulo-256"/>
          <p:cNvSpPr/>
          <p:nvPr/>
        </p:nvSpPr>
        <p:spPr>
          <a:xfrm>
            <a:off x="9276359" y="1682496"/>
            <a:ext cx="438912" cy="438912"/>
          </a:xfrm>
          <a:prstGeom prst="ellipse">
            <a:avLst/>
          </a:prstGeom>
          <a:solidFill>
            <a:schemeClr val="accent4"/>
          </a:solidFill>
          <a:ln/>
        </p:spPr>
      </p:sp>
      <p:sp>
        <p:nvSpPr>
          <p:cNvPr id="22" name="num-257"/>
          <p:cNvSpPr txBox="1"/>
          <p:nvPr/>
        </p:nvSpPr>
        <p:spPr>
          <a:xfrm>
            <a:off x="927635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258"/>
          <p:cNvSpPr txBox="1"/>
          <p:nvPr/>
        </p:nvSpPr>
        <p:spPr>
          <a:xfrm>
            <a:off x="9852431"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Relaciones</a:t>
            </a:r>
            <a:endParaRPr lang="en-US" sz="1700" dirty="0"/>
          </a:p>
        </p:txBody>
      </p:sp>
      <p:sp>
        <p:nvSpPr>
          <p:cNvPr id="24" name="desc-259"/>
          <p:cNvSpPr txBox="1"/>
          <p:nvPr/>
        </p:nvSpPr>
        <p:spPr>
          <a:xfrm>
            <a:off x="9303791" y="2267712"/>
            <a:ext cx="2110664" cy="1645920"/>
          </a:xfrm>
          <a:prstGeom prst="rect">
            <a:avLst/>
          </a:prstGeom>
          <a:noFill/>
          <a:ln/>
        </p:spPr>
        <p:txBody>
          <a:bodyPr wrap="square" lIns="0" tIns="0" rIns="0" bIns="0" rtlCol="0" anchor="t"/>
          <a:lstStyle/>
          <a:p>
            <a:pPr indent="0" marL="0">
              <a:buNone/>
            </a:pPr>
            <a:r>
              <a:rPr lang="en-US" sz="1500" dirty="0">
                <a:solidFill>
                  <a:schemeClr val="tx1"/>
                </a:solidFill>
              </a:rPr>
              <a:t>Asociación (participa), «include» (incorpora) y «extend» (agrega bajo condición).</a:t>
            </a:r>
            <a:endParaRPr lang="en-US" sz="1500" dirty="0"/>
          </a:p>
        </p:txBody>
      </p:sp>
      <p:sp>
        <p:nvSpPr>
          <p:cNvPr id="25" name="destacado-260"/>
          <p:cNvSpPr/>
          <p:nvPr/>
        </p:nvSpPr>
        <p:spPr>
          <a:xfrm>
            <a:off x="548640" y="4434840"/>
            <a:ext cx="11094415" cy="566928"/>
          </a:xfrm>
          <a:prstGeom prst="roundRect">
            <a:avLst>
              <a:gd name="adj" fmla="val 12903"/>
            </a:avLst>
          </a:prstGeom>
          <a:solidFill>
            <a:schemeClr val="tx2"/>
          </a:solidFill>
          <a:ln/>
        </p:spPr>
      </p:sp>
      <p:sp>
        <p:nvSpPr>
          <p:cNvPr id="26" name="destacado-t-261"/>
          <p:cNvSpPr txBox="1"/>
          <p:nvPr/>
        </p:nvSpPr>
        <p:spPr>
          <a:xfrm>
            <a:off x="822960" y="4434840"/>
            <a:ext cx="10545775" cy="566928"/>
          </a:xfrm>
          <a:prstGeom prst="rect">
            <a:avLst/>
          </a:prstGeom>
          <a:noFill/>
          <a:ln/>
        </p:spPr>
        <p:txBody>
          <a:bodyPr wrap="square" lIns="0" tIns="0" rIns="0" bIns="0" rtlCol="0" anchor="ctr"/>
          <a:lstStyle/>
          <a:p>
            <a:pPr indent="0" marL="0">
              <a:buNone/>
            </a:pPr>
            <a:r>
              <a:rPr lang="en-US" sz="1600" dirty="0">
                <a:solidFill>
                  <a:schemeClr val="bg1"/>
                </a:solidFill>
              </a:rPr>
              <a:t>Cada caso de uso principal suele terminar como un endpoint y un método del service.</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MODELADO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Modelo C4: niveles de zoom de la arquitectura</a:t>
            </a:r>
            <a:endParaRPr lang="en-US" sz="3400" dirty="0"/>
          </a:p>
        </p:txBody>
      </p:sp>
      <p:sp>
        <p:nvSpPr>
          <p:cNvPr id="5" name="tarjeta-262"/>
          <p:cNvSpPr/>
          <p:nvPr/>
        </p:nvSpPr>
        <p:spPr>
          <a:xfrm>
            <a:off x="548640" y="1481328"/>
            <a:ext cx="2567864" cy="2651760"/>
          </a:xfrm>
          <a:prstGeom prst="roundRect">
            <a:avLst>
              <a:gd name="adj" fmla="val 3561"/>
            </a:avLst>
          </a:prstGeom>
          <a:solidFill>
            <a:schemeClr val="bg2"/>
          </a:solidFill>
          <a:ln/>
        </p:spPr>
      </p:sp>
      <p:sp>
        <p:nvSpPr>
          <p:cNvPr id="6" name="circulo-263"/>
          <p:cNvSpPr/>
          <p:nvPr/>
        </p:nvSpPr>
        <p:spPr>
          <a:xfrm>
            <a:off x="749808" y="1682496"/>
            <a:ext cx="438912" cy="438912"/>
          </a:xfrm>
          <a:prstGeom prst="ellipse">
            <a:avLst/>
          </a:prstGeom>
          <a:solidFill>
            <a:schemeClr val="accent1"/>
          </a:solidFill>
          <a:ln/>
        </p:spPr>
      </p:sp>
      <p:sp>
        <p:nvSpPr>
          <p:cNvPr id="7" name="num-264"/>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C1</a:t>
            </a:r>
            <a:endParaRPr lang="en-US" sz="1400" dirty="0"/>
          </a:p>
        </p:txBody>
      </p:sp>
      <p:sp>
        <p:nvSpPr>
          <p:cNvPr id="8" name="titulo-265"/>
          <p:cNvSpPr txBox="1"/>
          <p:nvPr/>
        </p:nvSpPr>
        <p:spPr>
          <a:xfrm>
            <a:off x="1325880"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1 · Contexto</a:t>
            </a:r>
            <a:endParaRPr lang="en-US" sz="1700" dirty="0"/>
          </a:p>
        </p:txBody>
      </p:sp>
      <p:sp>
        <p:nvSpPr>
          <p:cNvPr id="9" name="desc-266"/>
          <p:cNvSpPr txBox="1"/>
          <p:nvPr/>
        </p:nvSpPr>
        <p:spPr>
          <a:xfrm>
            <a:off x="777240" y="2267712"/>
            <a:ext cx="2110664" cy="1737360"/>
          </a:xfrm>
          <a:prstGeom prst="rect">
            <a:avLst/>
          </a:prstGeom>
          <a:noFill/>
          <a:ln/>
        </p:spPr>
        <p:txBody>
          <a:bodyPr wrap="square" lIns="0" tIns="0" rIns="0" bIns="0" rtlCol="0" anchor="t"/>
          <a:lstStyle/>
          <a:p>
            <a:pPr indent="0" marL="0">
              <a:buNone/>
            </a:pPr>
            <a:r>
              <a:rPr lang="en-US" sz="1500" dirty="0">
                <a:solidFill>
                  <a:schemeClr val="tx1"/>
                </a:solidFill>
              </a:rPr>
              <a:t>El sistema completo, sus usuarios y los sistemas externos. Sin tecnología.</a:t>
            </a:r>
            <a:endParaRPr lang="en-US" sz="1500" dirty="0"/>
          </a:p>
        </p:txBody>
      </p:sp>
      <p:sp>
        <p:nvSpPr>
          <p:cNvPr id="10" name="tarjeta-267"/>
          <p:cNvSpPr/>
          <p:nvPr/>
        </p:nvSpPr>
        <p:spPr>
          <a:xfrm>
            <a:off x="3390824" y="1481328"/>
            <a:ext cx="2567864" cy="2651760"/>
          </a:xfrm>
          <a:prstGeom prst="roundRect">
            <a:avLst>
              <a:gd name="adj" fmla="val 3561"/>
            </a:avLst>
          </a:prstGeom>
          <a:solidFill>
            <a:schemeClr val="bg2"/>
          </a:solidFill>
          <a:ln/>
        </p:spPr>
      </p:sp>
      <p:sp>
        <p:nvSpPr>
          <p:cNvPr id="11" name="circulo-268"/>
          <p:cNvSpPr/>
          <p:nvPr/>
        </p:nvSpPr>
        <p:spPr>
          <a:xfrm>
            <a:off x="3591992" y="1682496"/>
            <a:ext cx="438912" cy="438912"/>
          </a:xfrm>
          <a:prstGeom prst="ellipse">
            <a:avLst/>
          </a:prstGeom>
          <a:solidFill>
            <a:schemeClr val="accent2"/>
          </a:solidFill>
          <a:ln/>
        </p:spPr>
      </p:sp>
      <p:sp>
        <p:nvSpPr>
          <p:cNvPr id="12" name="num-269"/>
          <p:cNvSpPr txBox="1"/>
          <p:nvPr/>
        </p:nvSpPr>
        <p:spPr>
          <a:xfrm>
            <a:off x="359199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C2</a:t>
            </a:r>
            <a:endParaRPr lang="en-US" sz="1400" dirty="0"/>
          </a:p>
        </p:txBody>
      </p:sp>
      <p:sp>
        <p:nvSpPr>
          <p:cNvPr id="13" name="titulo-270"/>
          <p:cNvSpPr txBox="1"/>
          <p:nvPr/>
        </p:nvSpPr>
        <p:spPr>
          <a:xfrm>
            <a:off x="4168064"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2 · Contenedores</a:t>
            </a:r>
            <a:endParaRPr lang="en-US" sz="1700" dirty="0"/>
          </a:p>
        </p:txBody>
      </p:sp>
      <p:sp>
        <p:nvSpPr>
          <p:cNvPr id="14" name="desc-271"/>
          <p:cNvSpPr txBox="1"/>
          <p:nvPr/>
        </p:nvSpPr>
        <p:spPr>
          <a:xfrm>
            <a:off x="3619424" y="2267712"/>
            <a:ext cx="2110664" cy="1737360"/>
          </a:xfrm>
          <a:prstGeom prst="rect">
            <a:avLst/>
          </a:prstGeom>
          <a:noFill/>
          <a:ln/>
        </p:spPr>
        <p:txBody>
          <a:bodyPr wrap="square" lIns="0" tIns="0" rIns="0" bIns="0" rtlCol="0" anchor="t"/>
          <a:lstStyle/>
          <a:p>
            <a:pPr indent="0" marL="0">
              <a:buNone/>
            </a:pPr>
            <a:r>
              <a:rPr lang="en-US" sz="1500" dirty="0">
                <a:solidFill>
                  <a:schemeClr val="tx1"/>
                </a:solidFill>
              </a:rPr>
              <a:t>Aplicaciones y almacenes: frontend, API, base de datos y cómo se comunican.</a:t>
            </a:r>
            <a:endParaRPr lang="en-US" sz="1500" dirty="0"/>
          </a:p>
        </p:txBody>
      </p:sp>
      <p:sp>
        <p:nvSpPr>
          <p:cNvPr id="15" name="tarjeta-272"/>
          <p:cNvSpPr/>
          <p:nvPr/>
        </p:nvSpPr>
        <p:spPr>
          <a:xfrm>
            <a:off x="6233008" y="1481328"/>
            <a:ext cx="2567864" cy="2651760"/>
          </a:xfrm>
          <a:prstGeom prst="roundRect">
            <a:avLst>
              <a:gd name="adj" fmla="val 3561"/>
            </a:avLst>
          </a:prstGeom>
          <a:solidFill>
            <a:schemeClr val="bg2"/>
          </a:solidFill>
          <a:ln/>
        </p:spPr>
      </p:sp>
      <p:sp>
        <p:nvSpPr>
          <p:cNvPr id="16" name="circulo-273"/>
          <p:cNvSpPr/>
          <p:nvPr/>
        </p:nvSpPr>
        <p:spPr>
          <a:xfrm>
            <a:off x="6434176" y="1682496"/>
            <a:ext cx="438912" cy="438912"/>
          </a:xfrm>
          <a:prstGeom prst="ellipse">
            <a:avLst/>
          </a:prstGeom>
          <a:solidFill>
            <a:schemeClr val="accent3"/>
          </a:solidFill>
          <a:ln/>
        </p:spPr>
      </p:sp>
      <p:sp>
        <p:nvSpPr>
          <p:cNvPr id="17" name="num-274"/>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C3</a:t>
            </a:r>
            <a:endParaRPr lang="en-US" sz="1400" dirty="0"/>
          </a:p>
        </p:txBody>
      </p:sp>
      <p:sp>
        <p:nvSpPr>
          <p:cNvPr id="18" name="titulo-275"/>
          <p:cNvSpPr txBox="1"/>
          <p:nvPr/>
        </p:nvSpPr>
        <p:spPr>
          <a:xfrm>
            <a:off x="7010248"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3 · Componentes</a:t>
            </a:r>
            <a:endParaRPr lang="en-US" sz="1700" dirty="0"/>
          </a:p>
        </p:txBody>
      </p:sp>
      <p:sp>
        <p:nvSpPr>
          <p:cNvPr id="19" name="desc-276"/>
          <p:cNvSpPr txBox="1"/>
          <p:nvPr/>
        </p:nvSpPr>
        <p:spPr>
          <a:xfrm>
            <a:off x="6461608" y="2267712"/>
            <a:ext cx="2110664" cy="1737360"/>
          </a:xfrm>
          <a:prstGeom prst="rect">
            <a:avLst/>
          </a:prstGeom>
          <a:noFill/>
          <a:ln/>
        </p:spPr>
        <p:txBody>
          <a:bodyPr wrap="square" lIns="0" tIns="0" rIns="0" bIns="0" rtlCol="0" anchor="t"/>
          <a:lstStyle/>
          <a:p>
            <a:pPr indent="0" marL="0">
              <a:buNone/>
            </a:pPr>
            <a:r>
              <a:rPr lang="en-US" sz="1500" dirty="0">
                <a:solidFill>
                  <a:schemeClr val="tx1"/>
                </a:solidFill>
              </a:rPr>
              <a:t>Piezas dentro de un contenedor: controller, service, repository.</a:t>
            </a:r>
            <a:endParaRPr lang="en-US" sz="1500" dirty="0"/>
          </a:p>
        </p:txBody>
      </p:sp>
      <p:sp>
        <p:nvSpPr>
          <p:cNvPr id="20" name="tarjeta-277"/>
          <p:cNvSpPr/>
          <p:nvPr/>
        </p:nvSpPr>
        <p:spPr>
          <a:xfrm>
            <a:off x="9075191" y="1481328"/>
            <a:ext cx="2567864" cy="2651760"/>
          </a:xfrm>
          <a:prstGeom prst="roundRect">
            <a:avLst>
              <a:gd name="adj" fmla="val 3561"/>
            </a:avLst>
          </a:prstGeom>
          <a:solidFill>
            <a:schemeClr val="bg2"/>
          </a:solidFill>
          <a:ln/>
        </p:spPr>
      </p:sp>
      <p:sp>
        <p:nvSpPr>
          <p:cNvPr id="21" name="circulo-278"/>
          <p:cNvSpPr/>
          <p:nvPr/>
        </p:nvSpPr>
        <p:spPr>
          <a:xfrm>
            <a:off x="9276359" y="1682496"/>
            <a:ext cx="438912" cy="438912"/>
          </a:xfrm>
          <a:prstGeom prst="ellipse">
            <a:avLst/>
          </a:prstGeom>
          <a:solidFill>
            <a:schemeClr val="accent4"/>
          </a:solidFill>
          <a:ln/>
        </p:spPr>
      </p:sp>
      <p:sp>
        <p:nvSpPr>
          <p:cNvPr id="22" name="num-279"/>
          <p:cNvSpPr txBox="1"/>
          <p:nvPr/>
        </p:nvSpPr>
        <p:spPr>
          <a:xfrm>
            <a:off x="927635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C4</a:t>
            </a:r>
            <a:endParaRPr lang="en-US" sz="1400" dirty="0"/>
          </a:p>
        </p:txBody>
      </p:sp>
      <p:sp>
        <p:nvSpPr>
          <p:cNvPr id="23" name="titulo-280"/>
          <p:cNvSpPr txBox="1"/>
          <p:nvPr/>
        </p:nvSpPr>
        <p:spPr>
          <a:xfrm>
            <a:off x="9852431"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4 · Código</a:t>
            </a:r>
            <a:endParaRPr lang="en-US" sz="1700" dirty="0"/>
          </a:p>
        </p:txBody>
      </p:sp>
      <p:sp>
        <p:nvSpPr>
          <p:cNvPr id="24" name="desc-281"/>
          <p:cNvSpPr txBox="1"/>
          <p:nvPr/>
        </p:nvSpPr>
        <p:spPr>
          <a:xfrm>
            <a:off x="9303791" y="2267712"/>
            <a:ext cx="2110664" cy="1737360"/>
          </a:xfrm>
          <a:prstGeom prst="rect">
            <a:avLst/>
          </a:prstGeom>
          <a:noFill/>
          <a:ln/>
        </p:spPr>
        <p:txBody>
          <a:bodyPr wrap="square" lIns="0" tIns="0" rIns="0" bIns="0" rtlCol="0" anchor="t"/>
          <a:lstStyle/>
          <a:p>
            <a:pPr indent="0" marL="0">
              <a:buNone/>
            </a:pPr>
            <a:r>
              <a:rPr lang="en-US" sz="1500" dirty="0">
                <a:solidFill>
                  <a:schemeClr val="tx1"/>
                </a:solidFill>
              </a:rPr>
              <a:t>Clases e interfaces. Normalmente se genera desde el código o se omite.</a:t>
            </a:r>
            <a:endParaRPr lang="en-US" sz="1500" dirty="0"/>
          </a:p>
        </p:txBody>
      </p:sp>
      <p:sp>
        <p:nvSpPr>
          <p:cNvPr id="25" name="destacado-282"/>
          <p:cNvSpPr/>
          <p:nvPr/>
        </p:nvSpPr>
        <p:spPr>
          <a:xfrm>
            <a:off x="548640" y="4526280"/>
            <a:ext cx="11094415" cy="566928"/>
          </a:xfrm>
          <a:prstGeom prst="roundRect">
            <a:avLst>
              <a:gd name="adj" fmla="val 12903"/>
            </a:avLst>
          </a:prstGeom>
          <a:solidFill>
            <a:schemeClr val="tx2"/>
          </a:solidFill>
          <a:ln/>
        </p:spPr>
      </p:sp>
      <p:sp>
        <p:nvSpPr>
          <p:cNvPr id="26" name="destacado-t-283"/>
          <p:cNvSpPr txBox="1"/>
          <p:nvPr/>
        </p:nvSpPr>
        <p:spPr>
          <a:xfrm>
            <a:off x="822960" y="4526280"/>
            <a:ext cx="10545775" cy="566928"/>
          </a:xfrm>
          <a:prstGeom prst="rect">
            <a:avLst/>
          </a:prstGeom>
          <a:noFill/>
          <a:ln/>
        </p:spPr>
        <p:txBody>
          <a:bodyPr wrap="square" lIns="0" tIns="0" rIns="0" bIns="0" rtlCol="0" anchor="ctr"/>
          <a:lstStyle/>
          <a:p>
            <a:pPr indent="0" marL="0">
              <a:buNone/>
            </a:pPr>
            <a:r>
              <a:rPr lang="en-US" sz="1600" dirty="0">
                <a:solidFill>
                  <a:schemeClr val="bg1"/>
                </a:solidFill>
              </a:rPr>
              <a:t>Empieza por contexto y contenedores: son los diagramas que más se consultan.</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MODELADO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UML: clases, secuencia y estados</a:t>
            </a:r>
            <a:endParaRPr lang="en-US" sz="3400" dirty="0"/>
          </a:p>
        </p:txBody>
      </p:sp>
      <p:sp>
        <p:nvSpPr>
          <p:cNvPr id="5" name="tarjeta-284"/>
          <p:cNvSpPr/>
          <p:nvPr/>
        </p:nvSpPr>
        <p:spPr>
          <a:xfrm>
            <a:off x="548640" y="1481328"/>
            <a:ext cx="3515258" cy="3291840"/>
          </a:xfrm>
          <a:prstGeom prst="roundRect">
            <a:avLst>
              <a:gd name="adj" fmla="val 2778"/>
            </a:avLst>
          </a:prstGeom>
          <a:solidFill>
            <a:schemeClr val="bg2"/>
          </a:solidFill>
          <a:ln/>
        </p:spPr>
      </p:sp>
      <p:sp>
        <p:nvSpPr>
          <p:cNvPr id="6" name="circulo-285"/>
          <p:cNvSpPr/>
          <p:nvPr/>
        </p:nvSpPr>
        <p:spPr>
          <a:xfrm>
            <a:off x="749808" y="1682496"/>
            <a:ext cx="438912" cy="438912"/>
          </a:xfrm>
          <a:prstGeom prst="ellipse">
            <a:avLst/>
          </a:prstGeom>
          <a:solidFill>
            <a:schemeClr val="accent1"/>
          </a:solidFill>
          <a:ln/>
        </p:spPr>
      </p:sp>
      <p:sp>
        <p:nvSpPr>
          <p:cNvPr id="7" name="num-286"/>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287"/>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Clases</a:t>
            </a:r>
            <a:endParaRPr lang="en-US" sz="1700" dirty="0"/>
          </a:p>
        </p:txBody>
      </p:sp>
      <p:sp>
        <p:nvSpPr>
          <p:cNvPr id="9" name="desc-288"/>
          <p:cNvSpPr txBox="1"/>
          <p:nvPr/>
        </p:nvSpPr>
        <p:spPr>
          <a:xfrm>
            <a:off x="777240" y="2267712"/>
            <a:ext cx="3058058" cy="2377440"/>
          </a:xfrm>
          <a:prstGeom prst="rect">
            <a:avLst/>
          </a:prstGeom>
          <a:noFill/>
          <a:ln/>
        </p:spPr>
        <p:txBody>
          <a:bodyPr wrap="square" lIns="0" tIns="0" rIns="0" bIns="0" rtlCol="0" anchor="t"/>
          <a:lstStyle/>
          <a:p>
            <a:pPr indent="0" marL="0">
              <a:buNone/>
            </a:pPr>
            <a:r>
              <a:rPr lang="en-US" sz="1600" dirty="0">
                <a:solidFill>
                  <a:schemeClr val="tx1"/>
                </a:solidFill>
              </a:rPr>
              <a:t>Qué clases existen y cómo se relacionan.</a:t>
            </a:r>
            <a:endParaRPr lang="en-US" sz="1600" dirty="0"/>
          </a:p>
          <a:p>
            <a:pPr indent="0" marL="0">
              <a:buNone/>
            </a:pPr>
            <a:endParaRPr lang="en-US" sz="1600" dirty="0"/>
          </a:p>
          <a:p>
            <a:pPr indent="0" marL="0">
              <a:buNone/>
            </a:pPr>
            <a:r>
              <a:rPr lang="en-US" sz="1600" dirty="0">
                <a:solidFill>
                  <a:schemeClr val="tx1"/>
                </a:solidFill>
              </a:rPr>
              <a:t>Flecha con triángulo hueco: herencia o realización.</a:t>
            </a:r>
            <a:endParaRPr lang="en-US" sz="1600" dirty="0"/>
          </a:p>
          <a:p>
            <a:pPr indent="0" marL="0">
              <a:buNone/>
            </a:pPr>
            <a:r>
              <a:rPr lang="en-US" sz="1600" dirty="0">
                <a:solidFill>
                  <a:schemeClr val="tx1"/>
                </a:solidFill>
              </a:rPr>
              <a:t>Línea simple: asociación (una clase conoce a otra).</a:t>
            </a:r>
            <a:endParaRPr lang="en-US" sz="1600" dirty="0"/>
          </a:p>
        </p:txBody>
      </p:sp>
      <p:sp>
        <p:nvSpPr>
          <p:cNvPr id="10" name="tarjeta-289"/>
          <p:cNvSpPr/>
          <p:nvPr/>
        </p:nvSpPr>
        <p:spPr>
          <a:xfrm>
            <a:off x="4338218" y="1481328"/>
            <a:ext cx="3515258" cy="3291840"/>
          </a:xfrm>
          <a:prstGeom prst="roundRect">
            <a:avLst>
              <a:gd name="adj" fmla="val 2778"/>
            </a:avLst>
          </a:prstGeom>
          <a:solidFill>
            <a:schemeClr val="bg2"/>
          </a:solidFill>
          <a:ln/>
        </p:spPr>
      </p:sp>
      <p:sp>
        <p:nvSpPr>
          <p:cNvPr id="11" name="circulo-290"/>
          <p:cNvSpPr/>
          <p:nvPr/>
        </p:nvSpPr>
        <p:spPr>
          <a:xfrm>
            <a:off x="4539386" y="1682496"/>
            <a:ext cx="438912" cy="438912"/>
          </a:xfrm>
          <a:prstGeom prst="ellipse">
            <a:avLst/>
          </a:prstGeom>
          <a:solidFill>
            <a:schemeClr val="accent2"/>
          </a:solidFill>
          <a:ln/>
        </p:spPr>
      </p:sp>
      <p:sp>
        <p:nvSpPr>
          <p:cNvPr id="12" name="num-291"/>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292"/>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Secuencia</a:t>
            </a:r>
            <a:endParaRPr lang="en-US" sz="1700" dirty="0"/>
          </a:p>
        </p:txBody>
      </p:sp>
      <p:sp>
        <p:nvSpPr>
          <p:cNvPr id="14" name="desc-293"/>
          <p:cNvSpPr txBox="1"/>
          <p:nvPr/>
        </p:nvSpPr>
        <p:spPr>
          <a:xfrm>
            <a:off x="4566818" y="2267712"/>
            <a:ext cx="3058058" cy="2377440"/>
          </a:xfrm>
          <a:prstGeom prst="rect">
            <a:avLst/>
          </a:prstGeom>
          <a:noFill/>
          <a:ln/>
        </p:spPr>
        <p:txBody>
          <a:bodyPr wrap="square" lIns="0" tIns="0" rIns="0" bIns="0" rtlCol="0" anchor="t"/>
          <a:lstStyle/>
          <a:p>
            <a:pPr indent="0" marL="0">
              <a:buNone/>
            </a:pPr>
            <a:r>
              <a:rPr lang="en-US" sz="1600" dirty="0">
                <a:solidFill>
                  <a:schemeClr val="tx1"/>
                </a:solidFill>
              </a:rPr>
              <a:t>Quién llama a quién y en qué orden.</a:t>
            </a:r>
            <a:endParaRPr lang="en-US" sz="1600" dirty="0"/>
          </a:p>
          <a:p>
            <a:pPr indent="0" marL="0">
              <a:buNone/>
            </a:pPr>
            <a:endParaRPr lang="en-US" sz="1600" dirty="0"/>
          </a:p>
          <a:p>
            <a:pPr indent="0" marL="0">
              <a:buNone/>
            </a:pPr>
            <a:r>
              <a:rPr lang="en-US" sz="1600" dirty="0">
                <a:solidFill>
                  <a:schemeClr val="tx1"/>
                </a:solidFill>
              </a:rPr>
              <a:t>Líneas verticales: tiempo de vida.</a:t>
            </a:r>
            <a:endParaRPr lang="en-US" sz="1600" dirty="0"/>
          </a:p>
          <a:p>
            <a:pPr indent="0" marL="0">
              <a:buNone/>
            </a:pPr>
            <a:r>
              <a:rPr lang="en-US" sz="1600" dirty="0">
                <a:solidFill>
                  <a:schemeClr val="tx1"/>
                </a:solidFill>
              </a:rPr>
              <a:t>Flecha continua: llamada; punteada: respuesta.</a:t>
            </a:r>
            <a:endParaRPr lang="en-US" sz="1600" dirty="0"/>
          </a:p>
        </p:txBody>
      </p:sp>
      <p:sp>
        <p:nvSpPr>
          <p:cNvPr id="15" name="tarjeta-294"/>
          <p:cNvSpPr/>
          <p:nvPr/>
        </p:nvSpPr>
        <p:spPr>
          <a:xfrm>
            <a:off x="8127797" y="1481328"/>
            <a:ext cx="3515258" cy="3291840"/>
          </a:xfrm>
          <a:prstGeom prst="roundRect">
            <a:avLst>
              <a:gd name="adj" fmla="val 2778"/>
            </a:avLst>
          </a:prstGeom>
          <a:solidFill>
            <a:schemeClr val="bg2"/>
          </a:solidFill>
          <a:ln/>
        </p:spPr>
      </p:sp>
      <p:sp>
        <p:nvSpPr>
          <p:cNvPr id="16" name="circulo-295"/>
          <p:cNvSpPr/>
          <p:nvPr/>
        </p:nvSpPr>
        <p:spPr>
          <a:xfrm>
            <a:off x="8328965" y="1682496"/>
            <a:ext cx="438912" cy="438912"/>
          </a:xfrm>
          <a:prstGeom prst="ellipse">
            <a:avLst/>
          </a:prstGeom>
          <a:solidFill>
            <a:schemeClr val="accent3"/>
          </a:solidFill>
          <a:ln/>
        </p:spPr>
      </p:sp>
      <p:sp>
        <p:nvSpPr>
          <p:cNvPr id="17" name="num-296"/>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297"/>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Estados</a:t>
            </a:r>
            <a:endParaRPr lang="en-US" sz="1700" dirty="0"/>
          </a:p>
        </p:txBody>
      </p:sp>
      <p:sp>
        <p:nvSpPr>
          <p:cNvPr id="19" name="desc-298"/>
          <p:cNvSpPr txBox="1"/>
          <p:nvPr/>
        </p:nvSpPr>
        <p:spPr>
          <a:xfrm>
            <a:off x="8356397" y="2267712"/>
            <a:ext cx="3058058" cy="2377440"/>
          </a:xfrm>
          <a:prstGeom prst="rect">
            <a:avLst/>
          </a:prstGeom>
          <a:noFill/>
          <a:ln/>
        </p:spPr>
        <p:txBody>
          <a:bodyPr wrap="square" lIns="0" tIns="0" rIns="0" bIns="0" rtlCol="0" anchor="t"/>
          <a:lstStyle/>
          <a:p>
            <a:pPr indent="0" marL="0">
              <a:buNone/>
            </a:pPr>
            <a:r>
              <a:rPr lang="en-US" sz="1600" dirty="0">
                <a:solidFill>
                  <a:schemeClr val="tx1"/>
                </a:solidFill>
              </a:rPr>
              <a:t>Qué estados atraviesa un objeto.</a:t>
            </a:r>
            <a:endParaRPr lang="en-US" sz="1600" dirty="0"/>
          </a:p>
          <a:p>
            <a:pPr indent="0" marL="0">
              <a:buNone/>
            </a:pPr>
            <a:endParaRPr lang="en-US" sz="1600" dirty="0"/>
          </a:p>
          <a:p>
            <a:pPr indent="0" marL="0">
              <a:buNone/>
            </a:pPr>
            <a:r>
              <a:rPr lang="en-US" sz="1600" dirty="0">
                <a:solidFill>
                  <a:schemeClr val="tx1"/>
                </a:solidFill>
              </a:rPr>
              <a:t>Flecha: transición permitida.</a:t>
            </a:r>
            <a:endParaRPr lang="en-US" sz="1600" dirty="0"/>
          </a:p>
          <a:p>
            <a:pPr indent="0" marL="0">
              <a:buNone/>
            </a:pPr>
            <a:r>
              <a:rPr lang="en-US" sz="1600" dirty="0">
                <a:solidFill>
                  <a:schemeClr val="tx1"/>
                </a:solidFill>
              </a:rPr>
              <a:t>[guarda]: condición para que ocurra.</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05</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Arquitectura</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Las decisiones difíciles de cambiar después: cómo se divide el sistema, cómo se comunican sus partes y dónde viven los datos.</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ARQUITECTURA</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Qué es la arquitectura de software</a:t>
            </a:r>
            <a:endParaRPr lang="en-US" sz="3400" dirty="0"/>
          </a:p>
        </p:txBody>
      </p:sp>
      <p:sp>
        <p:nvSpPr>
          <p:cNvPr id="5" name="tarjeta-299"/>
          <p:cNvSpPr/>
          <p:nvPr/>
        </p:nvSpPr>
        <p:spPr>
          <a:xfrm>
            <a:off x="548640" y="1481328"/>
            <a:ext cx="3515258" cy="2377440"/>
          </a:xfrm>
          <a:prstGeom prst="roundRect">
            <a:avLst>
              <a:gd name="adj" fmla="val 3846"/>
            </a:avLst>
          </a:prstGeom>
          <a:solidFill>
            <a:schemeClr val="bg2"/>
          </a:solidFill>
          <a:ln/>
        </p:spPr>
      </p:sp>
      <p:sp>
        <p:nvSpPr>
          <p:cNvPr id="6" name="circulo-300"/>
          <p:cNvSpPr/>
          <p:nvPr/>
        </p:nvSpPr>
        <p:spPr>
          <a:xfrm>
            <a:off x="749808" y="1682496"/>
            <a:ext cx="438912" cy="438912"/>
          </a:xfrm>
          <a:prstGeom prst="ellipse">
            <a:avLst/>
          </a:prstGeom>
          <a:solidFill>
            <a:schemeClr val="accent1"/>
          </a:solidFill>
          <a:ln/>
        </p:spPr>
      </p:sp>
      <p:sp>
        <p:nvSpPr>
          <p:cNvPr id="7" name="num-301"/>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302"/>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Decisiones difíciles de cambiar</a:t>
            </a:r>
            <a:endParaRPr lang="en-US" sz="1700" dirty="0"/>
          </a:p>
        </p:txBody>
      </p:sp>
      <p:sp>
        <p:nvSpPr>
          <p:cNvPr id="9" name="desc-303"/>
          <p:cNvSpPr txBox="1"/>
          <p:nvPr/>
        </p:nvSpPr>
        <p:spPr>
          <a:xfrm>
            <a:off x="777240" y="2267712"/>
            <a:ext cx="3058058" cy="1463040"/>
          </a:xfrm>
          <a:prstGeom prst="rect">
            <a:avLst/>
          </a:prstGeom>
          <a:noFill/>
          <a:ln/>
        </p:spPr>
        <p:txBody>
          <a:bodyPr wrap="square" lIns="0" tIns="0" rIns="0" bIns="0" rtlCol="0" anchor="t"/>
          <a:lstStyle/>
          <a:p>
            <a:pPr indent="0" marL="0">
              <a:buNone/>
            </a:pPr>
            <a:r>
              <a:rPr lang="en-US" sz="1600" dirty="0">
                <a:solidFill>
                  <a:schemeClr val="tx1"/>
                </a:solidFill>
              </a:rPr>
              <a:t>Lenguaje, división en partes, forma de persistir, forma de comunicarse.</a:t>
            </a:r>
            <a:endParaRPr lang="en-US" sz="1600" dirty="0"/>
          </a:p>
        </p:txBody>
      </p:sp>
      <p:sp>
        <p:nvSpPr>
          <p:cNvPr id="10" name="tarjeta-304"/>
          <p:cNvSpPr/>
          <p:nvPr/>
        </p:nvSpPr>
        <p:spPr>
          <a:xfrm>
            <a:off x="4338218" y="1481328"/>
            <a:ext cx="3515258" cy="2377440"/>
          </a:xfrm>
          <a:prstGeom prst="roundRect">
            <a:avLst>
              <a:gd name="adj" fmla="val 3846"/>
            </a:avLst>
          </a:prstGeom>
          <a:solidFill>
            <a:schemeClr val="bg2"/>
          </a:solidFill>
          <a:ln/>
        </p:spPr>
      </p:sp>
      <p:sp>
        <p:nvSpPr>
          <p:cNvPr id="11" name="circulo-305"/>
          <p:cNvSpPr/>
          <p:nvPr/>
        </p:nvSpPr>
        <p:spPr>
          <a:xfrm>
            <a:off x="4539386" y="1682496"/>
            <a:ext cx="438912" cy="438912"/>
          </a:xfrm>
          <a:prstGeom prst="ellipse">
            <a:avLst/>
          </a:prstGeom>
          <a:solidFill>
            <a:schemeClr val="accent2"/>
          </a:solidFill>
          <a:ln/>
        </p:spPr>
      </p:sp>
      <p:sp>
        <p:nvSpPr>
          <p:cNvPr id="12" name="num-306"/>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307"/>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Responsabilidades y dependencias</a:t>
            </a:r>
            <a:endParaRPr lang="en-US" sz="1700" dirty="0"/>
          </a:p>
        </p:txBody>
      </p:sp>
      <p:sp>
        <p:nvSpPr>
          <p:cNvPr id="14" name="desc-308"/>
          <p:cNvSpPr txBox="1"/>
          <p:nvPr/>
        </p:nvSpPr>
        <p:spPr>
          <a:xfrm>
            <a:off x="4566818" y="2267712"/>
            <a:ext cx="3058058" cy="1463040"/>
          </a:xfrm>
          <a:prstGeom prst="rect">
            <a:avLst/>
          </a:prstGeom>
          <a:noFill/>
          <a:ln/>
        </p:spPr>
        <p:txBody>
          <a:bodyPr wrap="square" lIns="0" tIns="0" rIns="0" bIns="0" rtlCol="0" anchor="t"/>
          <a:lstStyle/>
          <a:p>
            <a:pPr indent="0" marL="0">
              <a:buNone/>
            </a:pPr>
            <a:r>
              <a:rPr lang="en-US" sz="1600" dirty="0">
                <a:solidFill>
                  <a:schemeClr val="tx1"/>
                </a:solidFill>
              </a:rPr>
              <a:t>Qué hace cada parte y de quién depende. El objetivo: bajo acoplamiento, alta cohesión.</a:t>
            </a:r>
            <a:endParaRPr lang="en-US" sz="1600" dirty="0"/>
          </a:p>
        </p:txBody>
      </p:sp>
      <p:sp>
        <p:nvSpPr>
          <p:cNvPr id="15" name="tarjeta-309"/>
          <p:cNvSpPr/>
          <p:nvPr/>
        </p:nvSpPr>
        <p:spPr>
          <a:xfrm>
            <a:off x="8127797" y="1481328"/>
            <a:ext cx="3515258" cy="2377440"/>
          </a:xfrm>
          <a:prstGeom prst="roundRect">
            <a:avLst>
              <a:gd name="adj" fmla="val 3846"/>
            </a:avLst>
          </a:prstGeom>
          <a:solidFill>
            <a:schemeClr val="bg2"/>
          </a:solidFill>
          <a:ln/>
        </p:spPr>
      </p:sp>
      <p:sp>
        <p:nvSpPr>
          <p:cNvPr id="16" name="circulo-310"/>
          <p:cNvSpPr/>
          <p:nvPr/>
        </p:nvSpPr>
        <p:spPr>
          <a:xfrm>
            <a:off x="8328965" y="1682496"/>
            <a:ext cx="438912" cy="438912"/>
          </a:xfrm>
          <a:prstGeom prst="ellipse">
            <a:avLst/>
          </a:prstGeom>
          <a:solidFill>
            <a:schemeClr val="accent3"/>
          </a:solidFill>
          <a:ln/>
        </p:spPr>
      </p:sp>
      <p:sp>
        <p:nvSpPr>
          <p:cNvPr id="17" name="num-311"/>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312"/>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Guiada por atributos de calidad</a:t>
            </a:r>
            <a:endParaRPr lang="en-US" sz="1700" dirty="0"/>
          </a:p>
        </p:txBody>
      </p:sp>
      <p:sp>
        <p:nvSpPr>
          <p:cNvPr id="19" name="desc-313"/>
          <p:cNvSpPr txBox="1"/>
          <p:nvPr/>
        </p:nvSpPr>
        <p:spPr>
          <a:xfrm>
            <a:off x="8356397" y="2267712"/>
            <a:ext cx="3058058" cy="1463040"/>
          </a:xfrm>
          <a:prstGeom prst="rect">
            <a:avLst/>
          </a:prstGeom>
          <a:noFill/>
          <a:ln/>
        </p:spPr>
        <p:txBody>
          <a:bodyPr wrap="square" lIns="0" tIns="0" rIns="0" bIns="0" rtlCol="0" anchor="t"/>
          <a:lstStyle/>
          <a:p>
            <a:pPr indent="0" marL="0">
              <a:buNone/>
            </a:pPr>
            <a:r>
              <a:rPr lang="en-US" sz="1600" dirty="0">
                <a:solidFill>
                  <a:schemeClr val="tx1"/>
                </a:solidFill>
              </a:rPr>
              <a:t>Rendimiento, seguridad o disponibilidad cambian la solución más que las funciones.</a:t>
            </a:r>
            <a:endParaRPr lang="en-US" sz="1600" dirty="0"/>
          </a:p>
        </p:txBody>
      </p:sp>
      <p:sp>
        <p:nvSpPr>
          <p:cNvPr id="20" name="destacado-314"/>
          <p:cNvSpPr/>
          <p:nvPr/>
        </p:nvSpPr>
        <p:spPr>
          <a:xfrm>
            <a:off x="548640" y="4297680"/>
            <a:ext cx="11094415" cy="566928"/>
          </a:xfrm>
          <a:prstGeom prst="roundRect">
            <a:avLst>
              <a:gd name="adj" fmla="val 12903"/>
            </a:avLst>
          </a:prstGeom>
          <a:solidFill>
            <a:schemeClr val="tx2"/>
          </a:solidFill>
          <a:ln/>
        </p:spPr>
      </p:sp>
      <p:sp>
        <p:nvSpPr>
          <p:cNvPr id="21" name="destacado-t-315"/>
          <p:cNvSpPr txBox="1"/>
          <p:nvPr/>
        </p:nvSpPr>
        <p:spPr>
          <a:xfrm>
            <a:off x="822960" y="4297680"/>
            <a:ext cx="10545775" cy="566928"/>
          </a:xfrm>
          <a:prstGeom prst="rect">
            <a:avLst/>
          </a:prstGeom>
          <a:noFill/>
          <a:ln/>
        </p:spPr>
        <p:txBody>
          <a:bodyPr wrap="square" lIns="0" tIns="0" rIns="0" bIns="0" rtlCol="0" anchor="ctr"/>
          <a:lstStyle/>
          <a:p>
            <a:pPr indent="0" marL="0">
              <a:buNone/>
            </a:pPr>
            <a:r>
              <a:rPr lang="en-US" sz="1600" dirty="0">
                <a:solidFill>
                  <a:schemeClr val="bg1"/>
                </a:solidFill>
              </a:rPr>
              <a:t>Una figura en un diagrama no demuestra la arquitectura: las dependencias reales del código sí.</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ARQUITECTURA</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Estilos de organización interna</a:t>
            </a:r>
            <a:endParaRPr lang="en-US" sz="3400" dirty="0"/>
          </a:p>
        </p:txBody>
      </p:sp>
      <p:graphicFrame>
        <p:nvGraphicFramePr>
          <p:cNvPr id="28" name="tabla-316"/>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834640"/>
                <a:gridCol w="3108960"/>
                <a:gridCol w="2743200"/>
                <a:gridCol w="2404872"/>
              </a:tblGrid>
              <a:tr h="713232">
                <a:tc>
                  <a:txBody>
                    <a:bodyPr/>
                    <a:lstStyle/>
                    <a:p>
                      <a:pPr indent="0" marL="0">
                        <a:buNone/>
                      </a:pPr>
                      <a:r>
                        <a:rPr lang="en-US" sz="1400" b="1" dirty="0">
                          <a:solidFill>
                            <a:schemeClr val="bg1"/>
                          </a:solidFill>
                        </a:rPr>
                        <a:t>Estilo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Idea central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Cuándo conviene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Costo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713232">
                <a:tc>
                  <a:txBody>
                    <a:bodyPr/>
                    <a:lstStyle/>
                    <a:p>
                      <a:pPr indent="0" marL="0">
                        <a:buNone/>
                      </a:pPr>
                      <a:r>
                        <a:rPr lang="en-US" sz="1400" b="1" dirty="0">
                          <a:solidFill>
                            <a:schemeClr val="tx1"/>
                          </a:solidFill>
                        </a:rPr>
                        <a:t>Capas / MVC</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controller → service → repository</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CRUD y reglas acotadas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Puede acoplar negocio a JPA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713232">
                <a:tc>
                  <a:txBody>
                    <a:bodyPr/>
                    <a:lstStyle/>
                    <a:p>
                      <a:pPr indent="0" marL="0">
                        <a:buNone/>
                      </a:pPr>
                      <a:r>
                        <a:rPr lang="en-US" sz="1400" b="1" dirty="0">
                          <a:solidFill>
                            <a:schemeClr val="tx1"/>
                          </a:solidFill>
                        </a:rPr>
                        <a:t>Hexagonal (puertos y adaptadores)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El dominio no depende de la infraestructura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Varias entradas o integraciones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Más contratos y mapeos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1"/>
                          </a:solidFill>
                        </a:rPr>
                        <a:t>Clean Architecture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Dependencias apuntan hacia el núcleo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Sistemas grandes y de vida larga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Más estructura inicial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713232">
                <a:tc>
                  <a:txBody>
                    <a:bodyPr/>
                    <a:lstStyle/>
                    <a:p>
                      <a:pPr indent="0" marL="0">
                        <a:buNone/>
                      </a:pPr>
                      <a:r>
                        <a:rPr lang="en-US" sz="1400" b="1" dirty="0">
                          <a:solidFill>
                            <a:schemeClr val="tx1"/>
                          </a:solidFill>
                        </a:rPr>
                        <a:t>DDD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Lenguaje del negocio y contextos delimitados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Dominios complejos (banca, logística)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Requiere expertos del negocio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ARQUITECTURA</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Capas frente a puertos y adaptadores</a:t>
            </a:r>
            <a:endParaRPr lang="en-US" sz="3400" dirty="0"/>
          </a:p>
        </p:txBody>
      </p:sp>
      <p:sp>
        <p:nvSpPr>
          <p:cNvPr id="5" name="etq-317"/>
          <p:cNvSpPr txBox="1"/>
          <p:nvPr/>
        </p:nvSpPr>
        <p:spPr>
          <a:xfrm>
            <a:off x="548640" y="1481328"/>
            <a:ext cx="4937760" cy="320040"/>
          </a:xfrm>
          <a:prstGeom prst="rect">
            <a:avLst/>
          </a:prstGeom>
          <a:noFill/>
          <a:ln/>
        </p:spPr>
        <p:txBody>
          <a:bodyPr wrap="square" lIns="0" tIns="0" rIns="0" bIns="0" rtlCol="0" anchor="ctr"/>
          <a:lstStyle/>
          <a:p>
            <a:pPr algn="ctr" indent="0" marL="0">
              <a:buNone/>
            </a:pPr>
            <a:r>
              <a:rPr lang="en-US" sz="1400" b="1" dirty="0">
                <a:solidFill>
                  <a:schemeClr val="tx2"/>
                </a:solidFill>
              </a:rPr>
              <a:t>CAPAS</a:t>
            </a:r>
            <a:endParaRPr lang="en-US" sz="1400" dirty="0"/>
          </a:p>
        </p:txBody>
      </p:sp>
      <p:sp>
        <p:nvSpPr>
          <p:cNvPr id="6" name="caja-318"/>
          <p:cNvSpPr/>
          <p:nvPr/>
        </p:nvSpPr>
        <p:spPr>
          <a:xfrm>
            <a:off x="914400" y="1938528"/>
            <a:ext cx="4206240" cy="731520"/>
          </a:xfrm>
          <a:prstGeom prst="roundRect">
            <a:avLst>
              <a:gd name="adj" fmla="val 10000"/>
            </a:avLst>
          </a:prstGeom>
          <a:solidFill>
            <a:schemeClr val="tx2"/>
          </a:solidFill>
          <a:ln/>
        </p:spPr>
      </p:sp>
      <p:sp>
        <p:nvSpPr>
          <p:cNvPr id="7" name="caja-t-319"/>
          <p:cNvSpPr txBox="1"/>
          <p:nvPr/>
        </p:nvSpPr>
        <p:spPr>
          <a:xfrm>
            <a:off x="1005840" y="1938528"/>
            <a:ext cx="4023360" cy="731520"/>
          </a:xfrm>
          <a:prstGeom prst="rect">
            <a:avLst/>
          </a:prstGeom>
          <a:noFill/>
          <a:ln/>
        </p:spPr>
        <p:txBody>
          <a:bodyPr wrap="square" lIns="0" tIns="0" rIns="0" bIns="0" rtlCol="0" anchor="ctr"/>
          <a:lstStyle/>
          <a:p>
            <a:pPr algn="ctr" indent="0" marL="0">
              <a:buNone/>
            </a:pPr>
            <a:r>
              <a:rPr lang="en-US" sz="1500" b="1" dirty="0">
                <a:solidFill>
                  <a:schemeClr val="bg1"/>
                </a:solidFill>
              </a:rPr>
              <a:t>Controller  ·  HTTP</a:t>
            </a:r>
            <a:endParaRPr lang="en-US" sz="1500" dirty="0"/>
          </a:p>
        </p:txBody>
      </p:sp>
      <p:sp>
        <p:nvSpPr>
          <p:cNvPr id="8" name="linea-320"/>
          <p:cNvSpPr/>
          <p:nvPr/>
        </p:nvSpPr>
        <p:spPr>
          <a:xfrm>
            <a:off x="3017520" y="2670048"/>
            <a:ext cx="0" cy="292608"/>
          </a:xfrm>
          <a:prstGeom prst="line">
            <a:avLst/>
          </a:prstGeom>
          <a:noFill/>
          <a:ln w="22225">
            <a:solidFill>
              <a:schemeClr val="accent5"/>
            </a:solidFill>
            <a:prstDash val="solid"/>
            <a:tailEnd type="triangle"/>
          </a:ln>
        </p:spPr>
      </p:sp>
      <p:sp>
        <p:nvSpPr>
          <p:cNvPr id="9" name="caja-321"/>
          <p:cNvSpPr/>
          <p:nvPr/>
        </p:nvSpPr>
        <p:spPr>
          <a:xfrm>
            <a:off x="914400" y="2962656"/>
            <a:ext cx="4206240" cy="731520"/>
          </a:xfrm>
          <a:prstGeom prst="roundRect">
            <a:avLst>
              <a:gd name="adj" fmla="val 10000"/>
            </a:avLst>
          </a:prstGeom>
          <a:solidFill>
            <a:schemeClr val="tx2"/>
          </a:solidFill>
          <a:ln/>
        </p:spPr>
      </p:sp>
      <p:sp>
        <p:nvSpPr>
          <p:cNvPr id="10" name="caja-t-322"/>
          <p:cNvSpPr txBox="1"/>
          <p:nvPr/>
        </p:nvSpPr>
        <p:spPr>
          <a:xfrm>
            <a:off x="1005840" y="2962656"/>
            <a:ext cx="4023360" cy="731520"/>
          </a:xfrm>
          <a:prstGeom prst="rect">
            <a:avLst/>
          </a:prstGeom>
          <a:noFill/>
          <a:ln/>
        </p:spPr>
        <p:txBody>
          <a:bodyPr wrap="square" lIns="0" tIns="0" rIns="0" bIns="0" rtlCol="0" anchor="ctr"/>
          <a:lstStyle/>
          <a:p>
            <a:pPr algn="ctr" indent="0" marL="0">
              <a:buNone/>
            </a:pPr>
            <a:r>
              <a:rPr lang="en-US" sz="1500" b="1" dirty="0">
                <a:solidFill>
                  <a:schemeClr val="bg1"/>
                </a:solidFill>
              </a:rPr>
              <a:t>Service  ·  reglas</a:t>
            </a:r>
            <a:endParaRPr lang="en-US" sz="1500" dirty="0"/>
          </a:p>
        </p:txBody>
      </p:sp>
      <p:sp>
        <p:nvSpPr>
          <p:cNvPr id="11" name="linea-323"/>
          <p:cNvSpPr/>
          <p:nvPr/>
        </p:nvSpPr>
        <p:spPr>
          <a:xfrm>
            <a:off x="3017520" y="3694176"/>
            <a:ext cx="0" cy="292608"/>
          </a:xfrm>
          <a:prstGeom prst="line">
            <a:avLst/>
          </a:prstGeom>
          <a:noFill/>
          <a:ln w="22225">
            <a:solidFill>
              <a:schemeClr val="accent5"/>
            </a:solidFill>
            <a:prstDash val="solid"/>
            <a:tailEnd type="triangle"/>
          </a:ln>
        </p:spPr>
      </p:sp>
      <p:sp>
        <p:nvSpPr>
          <p:cNvPr id="12" name="caja-324"/>
          <p:cNvSpPr/>
          <p:nvPr/>
        </p:nvSpPr>
        <p:spPr>
          <a:xfrm>
            <a:off x="914400" y="3986784"/>
            <a:ext cx="4206240" cy="731520"/>
          </a:xfrm>
          <a:prstGeom prst="roundRect">
            <a:avLst>
              <a:gd name="adj" fmla="val 10000"/>
            </a:avLst>
          </a:prstGeom>
          <a:solidFill>
            <a:schemeClr val="tx2"/>
          </a:solidFill>
          <a:ln/>
        </p:spPr>
      </p:sp>
      <p:sp>
        <p:nvSpPr>
          <p:cNvPr id="13" name="caja-t-325"/>
          <p:cNvSpPr txBox="1"/>
          <p:nvPr/>
        </p:nvSpPr>
        <p:spPr>
          <a:xfrm>
            <a:off x="1005840" y="3986784"/>
            <a:ext cx="4023360" cy="731520"/>
          </a:xfrm>
          <a:prstGeom prst="rect">
            <a:avLst/>
          </a:prstGeom>
          <a:noFill/>
          <a:ln/>
        </p:spPr>
        <p:txBody>
          <a:bodyPr wrap="square" lIns="0" tIns="0" rIns="0" bIns="0" rtlCol="0" anchor="ctr"/>
          <a:lstStyle/>
          <a:p>
            <a:pPr algn="ctr" indent="0" marL="0">
              <a:buNone/>
            </a:pPr>
            <a:r>
              <a:rPr lang="en-US" sz="1500" b="1" dirty="0">
                <a:solidFill>
                  <a:schemeClr val="bg1"/>
                </a:solidFill>
              </a:rPr>
              <a:t>Repository  ·  datos</a:t>
            </a:r>
            <a:endParaRPr lang="en-US" sz="1500" dirty="0"/>
          </a:p>
        </p:txBody>
      </p:sp>
      <p:sp>
        <p:nvSpPr>
          <p:cNvPr id="14" name="linea-326"/>
          <p:cNvSpPr/>
          <p:nvPr/>
        </p:nvSpPr>
        <p:spPr>
          <a:xfrm>
            <a:off x="3017520" y="4718304"/>
            <a:ext cx="0" cy="292608"/>
          </a:xfrm>
          <a:prstGeom prst="line">
            <a:avLst/>
          </a:prstGeom>
          <a:noFill/>
          <a:ln w="22225">
            <a:solidFill>
              <a:schemeClr val="accent5"/>
            </a:solidFill>
            <a:prstDash val="solid"/>
            <a:tailEnd type="triangle"/>
          </a:ln>
        </p:spPr>
      </p:sp>
      <p:sp>
        <p:nvSpPr>
          <p:cNvPr id="15" name="caja-327"/>
          <p:cNvSpPr/>
          <p:nvPr/>
        </p:nvSpPr>
        <p:spPr>
          <a:xfrm>
            <a:off x="914400" y="5010912"/>
            <a:ext cx="4206240" cy="731520"/>
          </a:xfrm>
          <a:prstGeom prst="roundRect">
            <a:avLst>
              <a:gd name="adj" fmla="val 10000"/>
            </a:avLst>
          </a:prstGeom>
          <a:solidFill>
            <a:schemeClr val="accent5"/>
          </a:solidFill>
          <a:ln/>
        </p:spPr>
      </p:sp>
      <p:sp>
        <p:nvSpPr>
          <p:cNvPr id="16" name="caja-t-328"/>
          <p:cNvSpPr txBox="1"/>
          <p:nvPr/>
        </p:nvSpPr>
        <p:spPr>
          <a:xfrm>
            <a:off x="1005840" y="5010912"/>
            <a:ext cx="4023360" cy="731520"/>
          </a:xfrm>
          <a:prstGeom prst="rect">
            <a:avLst/>
          </a:prstGeom>
          <a:noFill/>
          <a:ln/>
        </p:spPr>
        <p:txBody>
          <a:bodyPr wrap="square" lIns="0" tIns="0" rIns="0" bIns="0" rtlCol="0" anchor="ctr"/>
          <a:lstStyle/>
          <a:p>
            <a:pPr algn="ctr" indent="0" marL="0">
              <a:buNone/>
            </a:pPr>
            <a:r>
              <a:rPr lang="en-US" sz="1500" b="1" dirty="0">
                <a:solidFill>
                  <a:schemeClr val="bg1"/>
                </a:solidFill>
              </a:rPr>
              <a:t>Base de datos</a:t>
            </a:r>
            <a:endParaRPr lang="en-US" sz="1500" dirty="0"/>
          </a:p>
        </p:txBody>
      </p:sp>
      <p:sp>
        <p:nvSpPr>
          <p:cNvPr id="17" name="etq-329"/>
          <p:cNvSpPr txBox="1"/>
          <p:nvPr/>
        </p:nvSpPr>
        <p:spPr>
          <a:xfrm>
            <a:off x="6035040" y="1481328"/>
            <a:ext cx="5577840" cy="320040"/>
          </a:xfrm>
          <a:prstGeom prst="rect">
            <a:avLst/>
          </a:prstGeom>
          <a:noFill/>
          <a:ln/>
        </p:spPr>
        <p:txBody>
          <a:bodyPr wrap="square" lIns="0" tIns="0" rIns="0" bIns="0" rtlCol="0" anchor="ctr"/>
          <a:lstStyle/>
          <a:p>
            <a:pPr algn="ctr" indent="0" marL="0">
              <a:buNone/>
            </a:pPr>
            <a:r>
              <a:rPr lang="en-US" sz="1400" b="1" dirty="0">
                <a:solidFill>
                  <a:schemeClr val="tx2"/>
                </a:solidFill>
              </a:rPr>
              <a:t>PUERTOS Y ADAPTADORES</a:t>
            </a:r>
            <a:endParaRPr lang="en-US" sz="1400" dirty="0"/>
          </a:p>
        </p:txBody>
      </p:sp>
      <p:sp>
        <p:nvSpPr>
          <p:cNvPr id="18" name="Shape 15"/>
          <p:cNvSpPr/>
          <p:nvPr/>
        </p:nvSpPr>
        <p:spPr>
          <a:xfrm>
            <a:off x="7452360" y="2331720"/>
            <a:ext cx="2743200" cy="2377440"/>
          </a:xfrm>
          <a:prstGeom prst="hexagon">
            <a:avLst/>
          </a:prstGeom>
          <a:solidFill>
            <a:schemeClr val="accent1"/>
          </a:solidFill>
          <a:ln/>
        </p:spPr>
      </p:sp>
      <p:sp>
        <p:nvSpPr>
          <p:cNvPr id="19" name="texto-330"/>
          <p:cNvSpPr txBox="1"/>
          <p:nvPr/>
        </p:nvSpPr>
        <p:spPr>
          <a:xfrm>
            <a:off x="7543800" y="2971800"/>
            <a:ext cx="2560320" cy="1097280"/>
          </a:xfrm>
          <a:prstGeom prst="rect">
            <a:avLst/>
          </a:prstGeom>
          <a:noFill/>
          <a:ln/>
        </p:spPr>
        <p:txBody>
          <a:bodyPr wrap="square" lIns="0" tIns="0" rIns="0" bIns="0" rtlCol="0" anchor="ctr"/>
          <a:lstStyle/>
          <a:p>
            <a:pPr algn="ctr" indent="0" marL="0">
              <a:buNone/>
            </a:pPr>
            <a:r>
              <a:rPr lang="en-US" sz="1600" b="1" dirty="0">
                <a:solidFill>
                  <a:schemeClr val="bg1"/>
                </a:solidFill>
              </a:rPr>
              <a:t>Núcleo</a:t>
            </a:r>
            <a:endParaRPr lang="en-US" sz="1600" dirty="0"/>
          </a:p>
          <a:p>
            <a:pPr algn="ctr" indent="0" marL="0">
              <a:buNone/>
            </a:pPr>
            <a:r>
              <a:rPr lang="en-US" sz="1600" b="1" dirty="0">
                <a:solidFill>
                  <a:schemeClr val="bg1"/>
                </a:solidFill>
              </a:rPr>
              <a:t>casos de uso y reglas</a:t>
            </a:r>
            <a:endParaRPr lang="en-US" sz="1600" dirty="0"/>
          </a:p>
        </p:txBody>
      </p:sp>
      <p:sp>
        <p:nvSpPr>
          <p:cNvPr id="20" name="caja-331"/>
          <p:cNvSpPr/>
          <p:nvPr/>
        </p:nvSpPr>
        <p:spPr>
          <a:xfrm>
            <a:off x="6035040" y="2011680"/>
            <a:ext cx="1783080" cy="685800"/>
          </a:xfrm>
          <a:prstGeom prst="roundRect">
            <a:avLst>
              <a:gd name="adj" fmla="val 10667"/>
            </a:avLst>
          </a:prstGeom>
          <a:solidFill>
            <a:schemeClr val="accent4"/>
          </a:solidFill>
          <a:ln/>
        </p:spPr>
      </p:sp>
      <p:sp>
        <p:nvSpPr>
          <p:cNvPr id="21" name="caja-t-332"/>
          <p:cNvSpPr txBox="1"/>
          <p:nvPr/>
        </p:nvSpPr>
        <p:spPr>
          <a:xfrm>
            <a:off x="6126480" y="2011680"/>
            <a:ext cx="1600200" cy="685800"/>
          </a:xfrm>
          <a:prstGeom prst="rect">
            <a:avLst/>
          </a:prstGeom>
          <a:noFill/>
          <a:ln/>
        </p:spPr>
        <p:txBody>
          <a:bodyPr wrap="square" lIns="0" tIns="0" rIns="0" bIns="0" rtlCol="0" anchor="ctr"/>
          <a:lstStyle/>
          <a:p>
            <a:pPr algn="ctr" indent="0" marL="0">
              <a:buNone/>
            </a:pPr>
            <a:r>
              <a:rPr lang="en-US" sz="1400" b="1" dirty="0">
                <a:solidFill>
                  <a:schemeClr val="bg1"/>
                </a:solidFill>
              </a:rPr>
              <a:t>Adaptador HTTP</a:t>
            </a:r>
            <a:endParaRPr lang="en-US" sz="1400" dirty="0"/>
          </a:p>
        </p:txBody>
      </p:sp>
      <p:sp>
        <p:nvSpPr>
          <p:cNvPr id="22" name="caja-333"/>
          <p:cNvSpPr/>
          <p:nvPr/>
        </p:nvSpPr>
        <p:spPr>
          <a:xfrm>
            <a:off x="9829800" y="4434840"/>
            <a:ext cx="1783080" cy="685800"/>
          </a:xfrm>
          <a:prstGeom prst="roundRect">
            <a:avLst>
              <a:gd name="adj" fmla="val 10667"/>
            </a:avLst>
          </a:prstGeom>
          <a:solidFill>
            <a:schemeClr val="accent4"/>
          </a:solidFill>
          <a:ln/>
        </p:spPr>
      </p:sp>
      <p:sp>
        <p:nvSpPr>
          <p:cNvPr id="23" name="caja-t-334"/>
          <p:cNvSpPr txBox="1"/>
          <p:nvPr/>
        </p:nvSpPr>
        <p:spPr>
          <a:xfrm>
            <a:off x="9921240" y="4434840"/>
            <a:ext cx="1600200" cy="685800"/>
          </a:xfrm>
          <a:prstGeom prst="rect">
            <a:avLst/>
          </a:prstGeom>
          <a:noFill/>
          <a:ln/>
        </p:spPr>
        <p:txBody>
          <a:bodyPr wrap="square" lIns="0" tIns="0" rIns="0" bIns="0" rtlCol="0" anchor="ctr"/>
          <a:lstStyle/>
          <a:p>
            <a:pPr algn="ctr" indent="0" marL="0">
              <a:buNone/>
            </a:pPr>
            <a:r>
              <a:rPr lang="en-US" sz="1400" b="1" dirty="0">
                <a:solidFill>
                  <a:schemeClr val="bg1"/>
                </a:solidFill>
              </a:rPr>
              <a:t>Adaptador JPA</a:t>
            </a:r>
            <a:endParaRPr lang="en-US" sz="1400" dirty="0"/>
          </a:p>
        </p:txBody>
      </p:sp>
      <p:sp>
        <p:nvSpPr>
          <p:cNvPr id="24" name="linea-335"/>
          <p:cNvSpPr/>
          <p:nvPr/>
        </p:nvSpPr>
        <p:spPr>
          <a:xfrm>
            <a:off x="7772400" y="2697480"/>
            <a:ext cx="457200" cy="411480"/>
          </a:xfrm>
          <a:prstGeom prst="line">
            <a:avLst/>
          </a:prstGeom>
          <a:noFill/>
          <a:ln w="22225">
            <a:solidFill>
              <a:schemeClr val="accent5"/>
            </a:solidFill>
            <a:prstDash val="solid"/>
            <a:tailEnd type="triangle"/>
          </a:ln>
        </p:spPr>
      </p:sp>
      <p:sp>
        <p:nvSpPr>
          <p:cNvPr id="25" name="linea-336"/>
          <p:cNvSpPr/>
          <p:nvPr/>
        </p:nvSpPr>
        <p:spPr>
          <a:xfrm flipH="1" flipV="1">
            <a:off x="9372600" y="4160520"/>
            <a:ext cx="457200" cy="411480"/>
          </a:xfrm>
          <a:prstGeom prst="line">
            <a:avLst/>
          </a:prstGeom>
          <a:noFill/>
          <a:ln w="22225">
            <a:solidFill>
              <a:schemeClr val="accent5"/>
            </a:solidFill>
            <a:prstDash val="solid"/>
            <a:tailEnd type="triangle"/>
          </a:ln>
        </p:spPr>
      </p:sp>
      <p:sp>
        <p:nvSpPr>
          <p:cNvPr id="26" name="etq-337"/>
          <p:cNvSpPr txBox="1"/>
          <p:nvPr/>
        </p:nvSpPr>
        <p:spPr>
          <a:xfrm>
            <a:off x="6035040" y="5303520"/>
            <a:ext cx="5577840" cy="320040"/>
          </a:xfrm>
          <a:prstGeom prst="rect">
            <a:avLst/>
          </a:prstGeom>
          <a:noFill/>
          <a:ln/>
        </p:spPr>
        <p:txBody>
          <a:bodyPr wrap="square" lIns="0" tIns="0" rIns="0" bIns="0" rtlCol="0" anchor="ctr"/>
          <a:lstStyle/>
          <a:p>
            <a:pPr algn="ctr" indent="0" marL="0">
              <a:buNone/>
            </a:pPr>
            <a:r>
              <a:rPr lang="en-US" sz="1300" i="1" dirty="0">
                <a:solidFill>
                  <a:schemeClr val="accent5"/>
                </a:solidFill>
              </a:rPr>
              <a:t>las dependencias apuntan hacia el núcleo</a:t>
            </a:r>
            <a:endParaRPr lang="en-US" sz="1300" dirty="0"/>
          </a:p>
        </p:txBody>
      </p:sp>
      <p:sp>
        <p:nvSpPr>
          <p:cNvPr id="27" name="etq-338"/>
          <p:cNvSpPr txBox="1"/>
          <p:nvPr/>
        </p:nvSpPr>
        <p:spPr>
          <a:xfrm>
            <a:off x="548640" y="5833872"/>
            <a:ext cx="4937760" cy="274320"/>
          </a:xfrm>
          <a:prstGeom prst="rect">
            <a:avLst/>
          </a:prstGeom>
          <a:noFill/>
          <a:ln/>
        </p:spPr>
        <p:txBody>
          <a:bodyPr wrap="square" lIns="0" tIns="0" rIns="0" bIns="0" rtlCol="0" anchor="ctr"/>
          <a:lstStyle/>
          <a:p>
            <a:pPr algn="ctr" indent="0" marL="0">
              <a:buNone/>
            </a:pPr>
            <a:r>
              <a:rPr lang="en-US" sz="1300" i="1" dirty="0">
                <a:solidFill>
                  <a:schemeClr val="accent5"/>
                </a:solidFill>
              </a:rPr>
              <a:t>cada capa usa a la de abajo</a:t>
            </a:r>
            <a:endParaRPr lang="en-US" sz="13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ARQUITECTURA</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Estilos de despliegue</a:t>
            </a:r>
            <a:endParaRPr lang="en-US" sz="3400" dirty="0"/>
          </a:p>
        </p:txBody>
      </p:sp>
      <p:graphicFrame>
        <p:nvGraphicFramePr>
          <p:cNvPr id="30" name="tabla-339"/>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743200"/>
                <a:gridCol w="4206240"/>
                <a:gridCol w="4142232"/>
              </a:tblGrid>
              <a:tr h="658368">
                <a:tc>
                  <a:txBody>
                    <a:bodyPr/>
                    <a:lstStyle/>
                    <a:p>
                      <a:pPr indent="0" marL="0">
                        <a:buNone/>
                      </a:pPr>
                      <a:r>
                        <a:rPr lang="en-US" sz="1400" b="1" dirty="0">
                          <a:solidFill>
                            <a:schemeClr val="bg1"/>
                          </a:solidFill>
                        </a:rPr>
                        <a:t>Estilo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Ventaja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Costo o límite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tx1"/>
                          </a:solidFill>
                        </a:rPr>
                        <a:t>Monolito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Simple de desarrollar, probar y desplegar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Escala y se despliega como un todo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1"/>
                          </a:solidFill>
                        </a:rPr>
                        <a:t>Monolito modular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Límites internos claros sin costo de red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Exige disciplina entre módulos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1"/>
                          </a:solidFill>
                        </a:rPr>
                        <a:t>Microservicios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Despliegue y escalado independientes por equipo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Red, consistencia de datos y observabilidad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1"/>
                          </a:solidFill>
                        </a:rPr>
                        <a:t>Serverless (funciones)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Pagas por ejecución, sin administrar servidores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Arranque en frío y dependencia del proveedor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6" name="destacado-340"/>
          <p:cNvSpPr/>
          <p:nvPr/>
        </p:nvSpPr>
        <p:spPr>
          <a:xfrm>
            <a:off x="548640" y="5074920"/>
            <a:ext cx="11094415" cy="566928"/>
          </a:xfrm>
          <a:prstGeom prst="roundRect">
            <a:avLst>
              <a:gd name="adj" fmla="val 12903"/>
            </a:avLst>
          </a:prstGeom>
          <a:solidFill>
            <a:schemeClr val="tx2"/>
          </a:solidFill>
          <a:ln/>
        </p:spPr>
      </p:sp>
      <p:sp>
        <p:nvSpPr>
          <p:cNvPr id="7" name="destacado-t-341"/>
          <p:cNvSpPr txBox="1"/>
          <p:nvPr/>
        </p:nvSpPr>
        <p:spPr>
          <a:xfrm>
            <a:off x="822960" y="5074920"/>
            <a:ext cx="10545775" cy="566928"/>
          </a:xfrm>
          <a:prstGeom prst="rect">
            <a:avLst/>
          </a:prstGeom>
          <a:noFill/>
          <a:ln/>
        </p:spPr>
        <p:txBody>
          <a:bodyPr wrap="square" lIns="0" tIns="0" rIns="0" bIns="0" rtlCol="0" anchor="ctr"/>
          <a:lstStyle/>
          <a:p>
            <a:pPr indent="0" marL="0">
              <a:buNone/>
            </a:pPr>
            <a:r>
              <a:rPr lang="en-US" sz="1600" dirty="0">
                <a:solidFill>
                  <a:schemeClr val="bg1"/>
                </a:solidFill>
              </a:rPr>
              <a:t>Los microservicios no son el paso obligatorio siguiente: son una respuesta a problemas de escala organizacional.</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ARQUITECTURA</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Diseño de APIs REST</a:t>
            </a:r>
            <a:endParaRPr lang="en-US" sz="3400" dirty="0"/>
          </a:p>
        </p:txBody>
      </p:sp>
      <p:sp>
        <p:nvSpPr>
          <p:cNvPr id="5" name="panel-342"/>
          <p:cNvSpPr/>
          <p:nvPr/>
        </p:nvSpPr>
        <p:spPr>
          <a:xfrm>
            <a:off x="548640" y="1481328"/>
            <a:ext cx="6035040" cy="4690872"/>
          </a:xfrm>
          <a:prstGeom prst="roundRect">
            <a:avLst>
              <a:gd name="adj" fmla="val 1949"/>
            </a:avLst>
          </a:prstGeom>
          <a:solidFill>
            <a:schemeClr val="bg2"/>
          </a:solidFill>
          <a:ln/>
        </p:spPr>
      </p:sp>
      <p:sp>
        <p:nvSpPr>
          <p:cNvPr id="6" name="panel-cab-343"/>
          <p:cNvSpPr/>
          <p:nvPr/>
        </p:nvSpPr>
        <p:spPr>
          <a:xfrm>
            <a:off x="777240" y="1709928"/>
            <a:ext cx="5577840" cy="548640"/>
          </a:xfrm>
          <a:prstGeom prst="roundRect">
            <a:avLst>
              <a:gd name="adj" fmla="val 13333"/>
            </a:avLst>
          </a:prstGeom>
          <a:solidFill>
            <a:schemeClr val="tx2"/>
          </a:solidFill>
          <a:ln/>
        </p:spPr>
      </p:sp>
      <p:sp>
        <p:nvSpPr>
          <p:cNvPr id="7" name="panel-t-344"/>
          <p:cNvSpPr txBox="1"/>
          <p:nvPr/>
        </p:nvSpPr>
        <p:spPr>
          <a:xfrm>
            <a:off x="868680" y="1709928"/>
            <a:ext cx="5394960" cy="548640"/>
          </a:xfrm>
          <a:prstGeom prst="rect">
            <a:avLst/>
          </a:prstGeom>
          <a:noFill/>
          <a:ln/>
        </p:spPr>
        <p:txBody>
          <a:bodyPr wrap="square" lIns="0" tIns="0" rIns="0" bIns="0" rtlCol="0" anchor="ctr"/>
          <a:lstStyle/>
          <a:p>
            <a:pPr indent="0" marL="0">
              <a:buNone/>
            </a:pPr>
            <a:r>
              <a:rPr lang="en-US" sz="1800" b="1" dirty="0">
                <a:solidFill>
                  <a:schemeClr val="bg1"/>
                </a:solidFill>
              </a:rPr>
              <a:t>Principios</a:t>
            </a:r>
            <a:endParaRPr lang="en-US" sz="1800" dirty="0"/>
          </a:p>
        </p:txBody>
      </p:sp>
      <p:sp>
        <p:nvSpPr>
          <p:cNvPr id="8" name="lista-345"/>
          <p:cNvSpPr txBox="1"/>
          <p:nvPr/>
        </p:nvSpPr>
        <p:spPr>
          <a:xfrm>
            <a:off x="868680" y="2441448"/>
            <a:ext cx="5394960" cy="35478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Recursos como sustantivos: /api/tareas</a:t>
            </a:r>
            <a:endParaRPr lang="en-US" sz="1600" dirty="0"/>
          </a:p>
          <a:p>
            <a:pPr marL="228600" indent="-228600">
              <a:spcAft>
                <a:spcPts val="800"/>
              </a:spcAft>
              <a:buSzPct val="100000"/>
              <a:buChar char="•"/>
            </a:pPr>
            <a:r>
              <a:rPr lang="en-US" sz="1600" dirty="0">
                <a:solidFill>
                  <a:schemeClr val="tx1"/>
                </a:solidFill>
              </a:rPr>
              <a:t>Verbos: GET leer, POST crear, PUT reemplazar, PATCH modificar parte, DELETE eliminar</a:t>
            </a:r>
            <a:endParaRPr lang="en-US" sz="1600" dirty="0"/>
          </a:p>
          <a:p>
            <a:pPr marL="228600" indent="-228600">
              <a:spcAft>
                <a:spcPts val="800"/>
              </a:spcAft>
              <a:buSzPct val="100000"/>
              <a:buChar char="•"/>
            </a:pPr>
            <a:r>
              <a:rPr lang="en-US" sz="1600" dirty="0">
                <a:solidFill>
                  <a:schemeClr val="tx1"/>
                </a:solidFill>
              </a:rPr>
              <a:t>Errores con formato único y mensaje útil</a:t>
            </a:r>
            <a:endParaRPr lang="en-US" sz="1600" dirty="0"/>
          </a:p>
          <a:p>
            <a:pPr marL="228600" indent="-228600">
              <a:spcAft>
                <a:spcPts val="800"/>
              </a:spcAft>
              <a:buSzPct val="100000"/>
              <a:buChar char="•"/>
            </a:pPr>
            <a:r>
              <a:rPr lang="en-US" sz="1600" dirty="0">
                <a:solidFill>
                  <a:schemeClr val="tx1"/>
                </a:solidFill>
              </a:rPr>
              <a:t>Versionado: /api/v1/...</a:t>
            </a:r>
            <a:endParaRPr lang="en-US" sz="1600" dirty="0"/>
          </a:p>
          <a:p>
            <a:pPr marL="228600" indent="-228600">
              <a:spcAft>
                <a:spcPts val="800"/>
              </a:spcAft>
              <a:buSzPct val="100000"/>
              <a:buChar char="•"/>
            </a:pPr>
            <a:r>
              <a:rPr lang="en-US" sz="1600" dirty="0">
                <a:solidFill>
                  <a:schemeClr val="tx1"/>
                </a:solidFill>
              </a:rPr>
              <a:t>Paginación en listas grandes</a:t>
            </a:r>
            <a:endParaRPr lang="en-US" sz="1600" dirty="0"/>
          </a:p>
          <a:p>
            <a:pPr marL="228600" indent="-228600">
              <a:spcAft>
                <a:spcPts val="800"/>
              </a:spcAft>
              <a:buSzPct val="100000"/>
              <a:buChar char="•"/>
            </a:pPr>
            <a:r>
              <a:rPr lang="en-US" sz="1600" dirty="0">
                <a:solidFill>
                  <a:schemeClr val="tx1"/>
                </a:solidFill>
              </a:rPr>
              <a:t>Documentación viva (OpenAPI / Swagger)</a:t>
            </a:r>
            <a:endParaRPr lang="en-US" sz="1600" dirty="0"/>
          </a:p>
        </p:txBody>
      </p:sp>
      <p:graphicFrame>
        <p:nvGraphicFramePr>
          <p:cNvPr id="31" name="tabla-346"/>
          <p:cNvGraphicFramePr>
            <a:graphicFrameLocks noGrp="1"/>
          </p:cNvGraphicFramePr>
          <p:nvPr>
            <p:extLst>
              <p:ext uri="{D42A27DB-BD31-4B8C-83A1-F6EECF244321}">
                <p14:modId xmlns:p14="http://schemas.microsoft.com/office/powerpoint/2010/main" val="1579011935"/>
              </p:ext>
            </p:extLst>
          </p:nvPr>
        </p:nvGraphicFramePr>
        <p:xfrm>
          <a:off x="6858000" y="1481328"/>
          <a:ext cx="4782312" cy="914400"/>
        </p:xfrm>
        <a:graphic>
          <a:graphicData uri="http://schemas.openxmlformats.org/drawingml/2006/table">
            <a:tbl>
              <a:tblPr/>
              <a:tblGrid>
                <a:gridCol w="1737360"/>
                <a:gridCol w="3044952"/>
              </a:tblGrid>
              <a:tr h="566928">
                <a:tc>
                  <a:txBody>
                    <a:bodyPr/>
                    <a:lstStyle/>
                    <a:p>
                      <a:pPr indent="0" marL="0">
                        <a:buNone/>
                      </a:pPr>
                      <a:r>
                        <a:rPr lang="en-US" sz="1400" b="1" dirty="0">
                          <a:solidFill>
                            <a:schemeClr val="bg1"/>
                          </a:solidFill>
                        </a:rPr>
                        <a:t>Código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Significado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200 / 201 / 204</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OK · Creado · Sin contenido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400</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Datos inválidos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401 / 403</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autenticado · Sin permiso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404</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existe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409</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Conflicto con el estado actual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500</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Error inesperado del servidor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ARQUITECTURA</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Documentar decisiones con ADR</a:t>
            </a:r>
            <a:endParaRPr lang="en-US" sz="3400" dirty="0"/>
          </a:p>
        </p:txBody>
      </p:sp>
      <p:sp>
        <p:nvSpPr>
          <p:cNvPr id="5" name="tarjeta-347"/>
          <p:cNvSpPr/>
          <p:nvPr/>
        </p:nvSpPr>
        <p:spPr>
          <a:xfrm>
            <a:off x="548640" y="1481328"/>
            <a:ext cx="2567864" cy="2560320"/>
          </a:xfrm>
          <a:prstGeom prst="roundRect">
            <a:avLst>
              <a:gd name="adj" fmla="val 3571"/>
            </a:avLst>
          </a:prstGeom>
          <a:solidFill>
            <a:schemeClr val="bg2"/>
          </a:solidFill>
          <a:ln/>
        </p:spPr>
      </p:sp>
      <p:sp>
        <p:nvSpPr>
          <p:cNvPr id="6" name="circulo-348"/>
          <p:cNvSpPr/>
          <p:nvPr/>
        </p:nvSpPr>
        <p:spPr>
          <a:xfrm>
            <a:off x="749808" y="1682496"/>
            <a:ext cx="438912" cy="438912"/>
          </a:xfrm>
          <a:prstGeom prst="ellipse">
            <a:avLst/>
          </a:prstGeom>
          <a:solidFill>
            <a:schemeClr val="accent1"/>
          </a:solidFill>
          <a:ln/>
        </p:spPr>
      </p:sp>
      <p:sp>
        <p:nvSpPr>
          <p:cNvPr id="7" name="num-349"/>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350"/>
          <p:cNvSpPr txBox="1"/>
          <p:nvPr/>
        </p:nvSpPr>
        <p:spPr>
          <a:xfrm>
            <a:off x="1325880"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Contexto</a:t>
            </a:r>
            <a:endParaRPr lang="en-US" sz="1700" dirty="0"/>
          </a:p>
        </p:txBody>
      </p:sp>
      <p:sp>
        <p:nvSpPr>
          <p:cNvPr id="9" name="desc-351"/>
          <p:cNvSpPr txBox="1"/>
          <p:nvPr/>
        </p:nvSpPr>
        <p:spPr>
          <a:xfrm>
            <a:off x="777240" y="2267712"/>
            <a:ext cx="2110664" cy="1645920"/>
          </a:xfrm>
          <a:prstGeom prst="rect">
            <a:avLst/>
          </a:prstGeom>
          <a:noFill/>
          <a:ln/>
        </p:spPr>
        <p:txBody>
          <a:bodyPr wrap="square" lIns="0" tIns="0" rIns="0" bIns="0" rtlCol="0" anchor="t"/>
          <a:lstStyle/>
          <a:p>
            <a:pPr indent="0" marL="0">
              <a:buNone/>
            </a:pPr>
            <a:r>
              <a:rPr lang="en-US" sz="1500" dirty="0">
                <a:solidFill>
                  <a:schemeClr val="tx1"/>
                </a:solidFill>
              </a:rPr>
              <a:t>La situación y las fuerzas en juego: requisitos, restricciones, equipo.</a:t>
            </a:r>
            <a:endParaRPr lang="en-US" sz="1500" dirty="0"/>
          </a:p>
        </p:txBody>
      </p:sp>
      <p:sp>
        <p:nvSpPr>
          <p:cNvPr id="10" name="tarjeta-352"/>
          <p:cNvSpPr/>
          <p:nvPr/>
        </p:nvSpPr>
        <p:spPr>
          <a:xfrm>
            <a:off x="3390824" y="1481328"/>
            <a:ext cx="2567864" cy="2560320"/>
          </a:xfrm>
          <a:prstGeom prst="roundRect">
            <a:avLst>
              <a:gd name="adj" fmla="val 3571"/>
            </a:avLst>
          </a:prstGeom>
          <a:solidFill>
            <a:schemeClr val="bg2"/>
          </a:solidFill>
          <a:ln/>
        </p:spPr>
      </p:sp>
      <p:sp>
        <p:nvSpPr>
          <p:cNvPr id="11" name="circulo-353"/>
          <p:cNvSpPr/>
          <p:nvPr/>
        </p:nvSpPr>
        <p:spPr>
          <a:xfrm>
            <a:off x="3591992" y="1682496"/>
            <a:ext cx="438912" cy="438912"/>
          </a:xfrm>
          <a:prstGeom prst="ellipse">
            <a:avLst/>
          </a:prstGeom>
          <a:solidFill>
            <a:schemeClr val="accent2"/>
          </a:solidFill>
          <a:ln/>
        </p:spPr>
      </p:sp>
      <p:sp>
        <p:nvSpPr>
          <p:cNvPr id="12" name="num-354"/>
          <p:cNvSpPr txBox="1"/>
          <p:nvPr/>
        </p:nvSpPr>
        <p:spPr>
          <a:xfrm>
            <a:off x="359199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355"/>
          <p:cNvSpPr txBox="1"/>
          <p:nvPr/>
        </p:nvSpPr>
        <p:spPr>
          <a:xfrm>
            <a:off x="4168064"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Decisión</a:t>
            </a:r>
            <a:endParaRPr lang="en-US" sz="1700" dirty="0"/>
          </a:p>
        </p:txBody>
      </p:sp>
      <p:sp>
        <p:nvSpPr>
          <p:cNvPr id="14" name="desc-356"/>
          <p:cNvSpPr txBox="1"/>
          <p:nvPr/>
        </p:nvSpPr>
        <p:spPr>
          <a:xfrm>
            <a:off x="3619424" y="2267712"/>
            <a:ext cx="2110664" cy="1645920"/>
          </a:xfrm>
          <a:prstGeom prst="rect">
            <a:avLst/>
          </a:prstGeom>
          <a:noFill/>
          <a:ln/>
        </p:spPr>
        <p:txBody>
          <a:bodyPr wrap="square" lIns="0" tIns="0" rIns="0" bIns="0" rtlCol="0" anchor="t"/>
          <a:lstStyle/>
          <a:p>
            <a:pPr indent="0" marL="0">
              <a:buNone/>
            </a:pPr>
            <a:r>
              <a:rPr lang="en-US" sz="1500" dirty="0">
                <a:solidFill>
                  <a:schemeClr val="tx1"/>
                </a:solidFill>
              </a:rPr>
              <a:t>Qué se decidió, en una o dos frases claras.</a:t>
            </a:r>
            <a:endParaRPr lang="en-US" sz="1500" dirty="0"/>
          </a:p>
        </p:txBody>
      </p:sp>
      <p:sp>
        <p:nvSpPr>
          <p:cNvPr id="15" name="tarjeta-357"/>
          <p:cNvSpPr/>
          <p:nvPr/>
        </p:nvSpPr>
        <p:spPr>
          <a:xfrm>
            <a:off x="6233008" y="1481328"/>
            <a:ext cx="2567864" cy="2560320"/>
          </a:xfrm>
          <a:prstGeom prst="roundRect">
            <a:avLst>
              <a:gd name="adj" fmla="val 3571"/>
            </a:avLst>
          </a:prstGeom>
          <a:solidFill>
            <a:schemeClr val="bg2"/>
          </a:solidFill>
          <a:ln/>
        </p:spPr>
      </p:sp>
      <p:sp>
        <p:nvSpPr>
          <p:cNvPr id="16" name="circulo-358"/>
          <p:cNvSpPr/>
          <p:nvPr/>
        </p:nvSpPr>
        <p:spPr>
          <a:xfrm>
            <a:off x="6434176" y="1682496"/>
            <a:ext cx="438912" cy="438912"/>
          </a:xfrm>
          <a:prstGeom prst="ellipse">
            <a:avLst/>
          </a:prstGeom>
          <a:solidFill>
            <a:schemeClr val="accent3"/>
          </a:solidFill>
          <a:ln/>
        </p:spPr>
      </p:sp>
      <p:sp>
        <p:nvSpPr>
          <p:cNvPr id="17" name="num-359"/>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360"/>
          <p:cNvSpPr txBox="1"/>
          <p:nvPr/>
        </p:nvSpPr>
        <p:spPr>
          <a:xfrm>
            <a:off x="7010248"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Alternativas</a:t>
            </a:r>
            <a:endParaRPr lang="en-US" sz="1700" dirty="0"/>
          </a:p>
        </p:txBody>
      </p:sp>
      <p:sp>
        <p:nvSpPr>
          <p:cNvPr id="19" name="desc-361"/>
          <p:cNvSpPr txBox="1"/>
          <p:nvPr/>
        </p:nvSpPr>
        <p:spPr>
          <a:xfrm>
            <a:off x="6461608" y="2267712"/>
            <a:ext cx="2110664" cy="1645920"/>
          </a:xfrm>
          <a:prstGeom prst="rect">
            <a:avLst/>
          </a:prstGeom>
          <a:noFill/>
          <a:ln/>
        </p:spPr>
        <p:txBody>
          <a:bodyPr wrap="square" lIns="0" tIns="0" rIns="0" bIns="0" rtlCol="0" anchor="t"/>
          <a:lstStyle/>
          <a:p>
            <a:pPr indent="0" marL="0">
              <a:buNone/>
            </a:pPr>
            <a:r>
              <a:rPr lang="en-US" sz="1500" dirty="0">
                <a:solidFill>
                  <a:schemeClr val="tx1"/>
                </a:solidFill>
              </a:rPr>
              <a:t>Qué otras opciones se evaluaron y por qué se descartaron.</a:t>
            </a:r>
            <a:endParaRPr lang="en-US" sz="1500" dirty="0"/>
          </a:p>
        </p:txBody>
      </p:sp>
      <p:sp>
        <p:nvSpPr>
          <p:cNvPr id="20" name="tarjeta-362"/>
          <p:cNvSpPr/>
          <p:nvPr/>
        </p:nvSpPr>
        <p:spPr>
          <a:xfrm>
            <a:off x="9075191" y="1481328"/>
            <a:ext cx="2567864" cy="2560320"/>
          </a:xfrm>
          <a:prstGeom prst="roundRect">
            <a:avLst>
              <a:gd name="adj" fmla="val 3571"/>
            </a:avLst>
          </a:prstGeom>
          <a:solidFill>
            <a:schemeClr val="bg2"/>
          </a:solidFill>
          <a:ln/>
        </p:spPr>
      </p:sp>
      <p:sp>
        <p:nvSpPr>
          <p:cNvPr id="21" name="circulo-363"/>
          <p:cNvSpPr/>
          <p:nvPr/>
        </p:nvSpPr>
        <p:spPr>
          <a:xfrm>
            <a:off x="9276359" y="1682496"/>
            <a:ext cx="438912" cy="438912"/>
          </a:xfrm>
          <a:prstGeom prst="ellipse">
            <a:avLst/>
          </a:prstGeom>
          <a:solidFill>
            <a:schemeClr val="accent4"/>
          </a:solidFill>
          <a:ln/>
        </p:spPr>
      </p:sp>
      <p:sp>
        <p:nvSpPr>
          <p:cNvPr id="22" name="num-364"/>
          <p:cNvSpPr txBox="1"/>
          <p:nvPr/>
        </p:nvSpPr>
        <p:spPr>
          <a:xfrm>
            <a:off x="927635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365"/>
          <p:cNvSpPr txBox="1"/>
          <p:nvPr/>
        </p:nvSpPr>
        <p:spPr>
          <a:xfrm>
            <a:off x="9852431"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Consecuencias</a:t>
            </a:r>
            <a:endParaRPr lang="en-US" sz="1700" dirty="0"/>
          </a:p>
        </p:txBody>
      </p:sp>
      <p:sp>
        <p:nvSpPr>
          <p:cNvPr id="24" name="desc-366"/>
          <p:cNvSpPr txBox="1"/>
          <p:nvPr/>
        </p:nvSpPr>
        <p:spPr>
          <a:xfrm>
            <a:off x="9303791" y="2267712"/>
            <a:ext cx="2110664" cy="1645920"/>
          </a:xfrm>
          <a:prstGeom prst="rect">
            <a:avLst/>
          </a:prstGeom>
          <a:noFill/>
          <a:ln/>
        </p:spPr>
        <p:txBody>
          <a:bodyPr wrap="square" lIns="0" tIns="0" rIns="0" bIns="0" rtlCol="0" anchor="t"/>
          <a:lstStyle/>
          <a:p>
            <a:pPr indent="0" marL="0">
              <a:buNone/>
            </a:pPr>
            <a:r>
              <a:rPr lang="en-US" sz="1500" dirty="0">
                <a:solidFill>
                  <a:schemeClr val="tx1"/>
                </a:solidFill>
              </a:rPr>
              <a:t>Qué se gana, qué se pierde y cuándo revisar la decisión.</a:t>
            </a:r>
            <a:endParaRPr lang="en-US" sz="1500" dirty="0"/>
          </a:p>
        </p:txBody>
      </p:sp>
      <p:sp>
        <p:nvSpPr>
          <p:cNvPr id="25" name="destacado-367"/>
          <p:cNvSpPr/>
          <p:nvPr/>
        </p:nvSpPr>
        <p:spPr>
          <a:xfrm>
            <a:off x="548640" y="4434840"/>
            <a:ext cx="11094415" cy="566928"/>
          </a:xfrm>
          <a:prstGeom prst="roundRect">
            <a:avLst>
              <a:gd name="adj" fmla="val 12903"/>
            </a:avLst>
          </a:prstGeom>
          <a:solidFill>
            <a:schemeClr val="tx2"/>
          </a:solidFill>
          <a:ln/>
        </p:spPr>
      </p:sp>
      <p:sp>
        <p:nvSpPr>
          <p:cNvPr id="26" name="destacado-t-368"/>
          <p:cNvSpPr txBox="1"/>
          <p:nvPr/>
        </p:nvSpPr>
        <p:spPr>
          <a:xfrm>
            <a:off x="822960" y="4434840"/>
            <a:ext cx="10545775" cy="566928"/>
          </a:xfrm>
          <a:prstGeom prst="rect">
            <a:avLst/>
          </a:prstGeom>
          <a:noFill/>
          <a:ln/>
        </p:spPr>
        <p:txBody>
          <a:bodyPr wrap="square" lIns="0" tIns="0" rIns="0" bIns="0" rtlCol="0" anchor="ctr"/>
          <a:lstStyle/>
          <a:p>
            <a:pPr indent="0" marL="0">
              <a:buNone/>
            </a:pPr>
            <a:r>
              <a:rPr lang="en-US" sz="1600" dirty="0">
                <a:solidFill>
                  <a:schemeClr val="bg1"/>
                </a:solidFill>
              </a:rPr>
              <a:t>Dentro de seis meses nadie recordará por qué se eligió algo; el ADR sí.</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06</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Diseño y clean code</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Principios para escribir código que otra persona (o tú en seis meses) pueda entender, cambiar y probar.</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DISEÑO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Principios de diseño</a:t>
            </a:r>
            <a:endParaRPr lang="en-US" sz="3400" dirty="0"/>
          </a:p>
        </p:txBody>
      </p:sp>
      <p:sp>
        <p:nvSpPr>
          <p:cNvPr id="5" name="tarjeta-369"/>
          <p:cNvSpPr/>
          <p:nvPr/>
        </p:nvSpPr>
        <p:spPr>
          <a:xfrm>
            <a:off x="548640" y="1481328"/>
            <a:ext cx="3515258" cy="2208276"/>
          </a:xfrm>
          <a:prstGeom prst="roundRect">
            <a:avLst>
              <a:gd name="adj" fmla="val 4141"/>
            </a:avLst>
          </a:prstGeom>
          <a:solidFill>
            <a:schemeClr val="bg2"/>
          </a:solidFill>
          <a:ln/>
        </p:spPr>
      </p:sp>
      <p:sp>
        <p:nvSpPr>
          <p:cNvPr id="6" name="circulo-370"/>
          <p:cNvSpPr/>
          <p:nvPr/>
        </p:nvSpPr>
        <p:spPr>
          <a:xfrm>
            <a:off x="749808" y="1682496"/>
            <a:ext cx="438912" cy="438912"/>
          </a:xfrm>
          <a:prstGeom prst="ellipse">
            <a:avLst/>
          </a:prstGeom>
          <a:solidFill>
            <a:schemeClr val="accent1"/>
          </a:solidFill>
          <a:ln/>
        </p:spPr>
      </p:sp>
      <p:sp>
        <p:nvSpPr>
          <p:cNvPr id="7" name="num-371"/>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372"/>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DRY</a:t>
            </a:r>
            <a:endParaRPr lang="en-US" sz="1700" dirty="0"/>
          </a:p>
        </p:txBody>
      </p:sp>
      <p:sp>
        <p:nvSpPr>
          <p:cNvPr id="9" name="desc-373"/>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No repetir conocimiento: cada regla vive en un solo lugar.</a:t>
            </a:r>
            <a:endParaRPr lang="en-US" sz="1600" dirty="0"/>
          </a:p>
        </p:txBody>
      </p:sp>
      <p:sp>
        <p:nvSpPr>
          <p:cNvPr id="10" name="tarjeta-374"/>
          <p:cNvSpPr/>
          <p:nvPr/>
        </p:nvSpPr>
        <p:spPr>
          <a:xfrm>
            <a:off x="4338218" y="1481328"/>
            <a:ext cx="3515258" cy="2208276"/>
          </a:xfrm>
          <a:prstGeom prst="roundRect">
            <a:avLst>
              <a:gd name="adj" fmla="val 4141"/>
            </a:avLst>
          </a:prstGeom>
          <a:solidFill>
            <a:schemeClr val="bg2"/>
          </a:solidFill>
          <a:ln/>
        </p:spPr>
      </p:sp>
      <p:sp>
        <p:nvSpPr>
          <p:cNvPr id="11" name="circulo-375"/>
          <p:cNvSpPr/>
          <p:nvPr/>
        </p:nvSpPr>
        <p:spPr>
          <a:xfrm>
            <a:off x="4539386" y="1682496"/>
            <a:ext cx="438912" cy="438912"/>
          </a:xfrm>
          <a:prstGeom prst="ellipse">
            <a:avLst/>
          </a:prstGeom>
          <a:solidFill>
            <a:schemeClr val="accent2"/>
          </a:solidFill>
          <a:ln/>
        </p:spPr>
      </p:sp>
      <p:sp>
        <p:nvSpPr>
          <p:cNvPr id="12" name="num-376"/>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377"/>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KISS</a:t>
            </a:r>
            <a:endParaRPr lang="en-US" sz="1700" dirty="0"/>
          </a:p>
        </p:txBody>
      </p:sp>
      <p:sp>
        <p:nvSpPr>
          <p:cNvPr id="14" name="desc-378"/>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La solución más simple que funcione.</a:t>
            </a:r>
            <a:endParaRPr lang="en-US" sz="1600" dirty="0"/>
          </a:p>
        </p:txBody>
      </p:sp>
      <p:sp>
        <p:nvSpPr>
          <p:cNvPr id="15" name="tarjeta-379"/>
          <p:cNvSpPr/>
          <p:nvPr/>
        </p:nvSpPr>
        <p:spPr>
          <a:xfrm>
            <a:off x="8127797" y="1481328"/>
            <a:ext cx="3515258" cy="2208276"/>
          </a:xfrm>
          <a:prstGeom prst="roundRect">
            <a:avLst>
              <a:gd name="adj" fmla="val 4141"/>
            </a:avLst>
          </a:prstGeom>
          <a:solidFill>
            <a:schemeClr val="bg2"/>
          </a:solidFill>
          <a:ln/>
        </p:spPr>
      </p:sp>
      <p:sp>
        <p:nvSpPr>
          <p:cNvPr id="16" name="circulo-380"/>
          <p:cNvSpPr/>
          <p:nvPr/>
        </p:nvSpPr>
        <p:spPr>
          <a:xfrm>
            <a:off x="8328965" y="1682496"/>
            <a:ext cx="438912" cy="438912"/>
          </a:xfrm>
          <a:prstGeom prst="ellipse">
            <a:avLst/>
          </a:prstGeom>
          <a:solidFill>
            <a:schemeClr val="accent3"/>
          </a:solidFill>
          <a:ln/>
        </p:spPr>
      </p:sp>
      <p:sp>
        <p:nvSpPr>
          <p:cNvPr id="17" name="num-381"/>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382"/>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YAGNI</a:t>
            </a:r>
            <a:endParaRPr lang="en-US" sz="1700" dirty="0"/>
          </a:p>
        </p:txBody>
      </p:sp>
      <p:sp>
        <p:nvSpPr>
          <p:cNvPr id="19" name="desc-383"/>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No construir "por si acaso"; agregar cuando haga falta.</a:t>
            </a:r>
            <a:endParaRPr lang="en-US" sz="1600" dirty="0"/>
          </a:p>
        </p:txBody>
      </p:sp>
      <p:sp>
        <p:nvSpPr>
          <p:cNvPr id="20" name="tarjeta-384"/>
          <p:cNvSpPr/>
          <p:nvPr/>
        </p:nvSpPr>
        <p:spPr>
          <a:xfrm>
            <a:off x="548640" y="3963924"/>
            <a:ext cx="3515258" cy="2208276"/>
          </a:xfrm>
          <a:prstGeom prst="roundRect">
            <a:avLst>
              <a:gd name="adj" fmla="val 4141"/>
            </a:avLst>
          </a:prstGeom>
          <a:solidFill>
            <a:schemeClr val="bg2"/>
          </a:solidFill>
          <a:ln/>
        </p:spPr>
      </p:sp>
      <p:sp>
        <p:nvSpPr>
          <p:cNvPr id="21" name="circulo-385"/>
          <p:cNvSpPr/>
          <p:nvPr/>
        </p:nvSpPr>
        <p:spPr>
          <a:xfrm>
            <a:off x="749808" y="4165092"/>
            <a:ext cx="438912" cy="438912"/>
          </a:xfrm>
          <a:prstGeom prst="ellipse">
            <a:avLst/>
          </a:prstGeom>
          <a:solidFill>
            <a:schemeClr val="accent4"/>
          </a:solidFill>
          <a:ln/>
        </p:spPr>
      </p:sp>
      <p:sp>
        <p:nvSpPr>
          <p:cNvPr id="22" name="num-386"/>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387"/>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Alta cohesión, bajo acoplamiento</a:t>
            </a:r>
            <a:endParaRPr lang="en-US" sz="1700" dirty="0"/>
          </a:p>
        </p:txBody>
      </p:sp>
      <p:sp>
        <p:nvSpPr>
          <p:cNvPr id="24" name="desc-388"/>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Cada módulo hace una cosa y depende poco de los demás.</a:t>
            </a:r>
            <a:endParaRPr lang="en-US" sz="1600" dirty="0"/>
          </a:p>
        </p:txBody>
      </p:sp>
      <p:sp>
        <p:nvSpPr>
          <p:cNvPr id="25" name="tarjeta-389"/>
          <p:cNvSpPr/>
          <p:nvPr/>
        </p:nvSpPr>
        <p:spPr>
          <a:xfrm>
            <a:off x="4338218" y="3963924"/>
            <a:ext cx="3515258" cy="2208276"/>
          </a:xfrm>
          <a:prstGeom prst="roundRect">
            <a:avLst>
              <a:gd name="adj" fmla="val 4141"/>
            </a:avLst>
          </a:prstGeom>
          <a:solidFill>
            <a:schemeClr val="bg2"/>
          </a:solidFill>
          <a:ln/>
        </p:spPr>
      </p:sp>
      <p:sp>
        <p:nvSpPr>
          <p:cNvPr id="26" name="circulo-390"/>
          <p:cNvSpPr/>
          <p:nvPr/>
        </p:nvSpPr>
        <p:spPr>
          <a:xfrm>
            <a:off x="4539386" y="4165092"/>
            <a:ext cx="438912" cy="438912"/>
          </a:xfrm>
          <a:prstGeom prst="ellipse">
            <a:avLst/>
          </a:prstGeom>
          <a:solidFill>
            <a:schemeClr val="accent6"/>
          </a:solidFill>
          <a:ln/>
        </p:spPr>
      </p:sp>
      <p:sp>
        <p:nvSpPr>
          <p:cNvPr id="27" name="num-391"/>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392"/>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Ley de Demeter</a:t>
            </a:r>
            <a:endParaRPr lang="en-US" sz="1700" dirty="0"/>
          </a:p>
        </p:txBody>
      </p:sp>
      <p:sp>
        <p:nvSpPr>
          <p:cNvPr id="29" name="desc-393"/>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Hablar solo con colaboradores directos: evitar a.getB().getC().hacer().</a:t>
            </a:r>
            <a:endParaRPr lang="en-US" sz="1600" dirty="0"/>
          </a:p>
        </p:txBody>
      </p:sp>
      <p:sp>
        <p:nvSpPr>
          <p:cNvPr id="30" name="tarjeta-394"/>
          <p:cNvSpPr/>
          <p:nvPr/>
        </p:nvSpPr>
        <p:spPr>
          <a:xfrm>
            <a:off x="8127797" y="3963924"/>
            <a:ext cx="3515258" cy="2208276"/>
          </a:xfrm>
          <a:prstGeom prst="roundRect">
            <a:avLst>
              <a:gd name="adj" fmla="val 4141"/>
            </a:avLst>
          </a:prstGeom>
          <a:solidFill>
            <a:schemeClr val="bg2"/>
          </a:solidFill>
          <a:ln/>
        </p:spPr>
      </p:sp>
      <p:sp>
        <p:nvSpPr>
          <p:cNvPr id="31" name="circulo-395"/>
          <p:cNvSpPr/>
          <p:nvPr/>
        </p:nvSpPr>
        <p:spPr>
          <a:xfrm>
            <a:off x="8328965" y="4165092"/>
            <a:ext cx="438912" cy="438912"/>
          </a:xfrm>
          <a:prstGeom prst="ellipse">
            <a:avLst/>
          </a:prstGeom>
          <a:solidFill>
            <a:schemeClr val="accent5"/>
          </a:solidFill>
          <a:ln/>
        </p:spPr>
      </p:sp>
      <p:sp>
        <p:nvSpPr>
          <p:cNvPr id="32" name="num-396"/>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397"/>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Composición sobre herencia</a:t>
            </a:r>
            <a:endParaRPr lang="en-US" sz="1700" dirty="0"/>
          </a:p>
        </p:txBody>
      </p:sp>
      <p:sp>
        <p:nvSpPr>
          <p:cNvPr id="34" name="desc-398"/>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Combinar objetos suele ser más flexible que heredar.</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DISEÑO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SOLID como preguntas de revisión</a:t>
            </a:r>
            <a:endParaRPr lang="en-US" sz="3400" dirty="0"/>
          </a:p>
        </p:txBody>
      </p:sp>
      <p:graphicFrame>
        <p:nvGraphicFramePr>
          <p:cNvPr id="35" name="tabla-399"/>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8960"/>
                <a:gridCol w="4023360"/>
                <a:gridCol w="3959352"/>
              </a:tblGrid>
              <a:tr h="640080">
                <a:tc>
                  <a:txBody>
                    <a:bodyPr/>
                    <a:lstStyle/>
                    <a:p>
                      <a:pPr indent="0" marL="0">
                        <a:buNone/>
                      </a:pPr>
                      <a:r>
                        <a:rPr lang="en-US" sz="1400" b="1" dirty="0">
                          <a:solidFill>
                            <a:schemeClr val="bg1"/>
                          </a:solidFill>
                        </a:rPr>
                        <a:t>Principio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Pregunta útil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Ejemplo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1"/>
                          </a:solidFill>
                        </a:rPr>
                        <a:t>S · Responsabilidad única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¿Por qué razones cambia esta clase?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Separar HTTP de las reglas de negocio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O · Abierto/cerrado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¿Una regla nueva obliga a editar todo?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Aislar una política que varía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L · Sustitución de Liskov</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 sustitución conserva el contrato?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Mismos resultados y mismos errores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I · Segregación de interfaces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¿El cliente depende de lo que no usa?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Interfaces pequeñas orientadas al uso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D · Inversión de dependencias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 importante depende de detalles?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El negocio depende de contratos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DISEÑO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Clean code en concreto</a:t>
            </a:r>
            <a:endParaRPr lang="en-US" sz="3400" dirty="0"/>
          </a:p>
        </p:txBody>
      </p:sp>
      <p:sp>
        <p:nvSpPr>
          <p:cNvPr id="5" name="tarjeta-400"/>
          <p:cNvSpPr/>
          <p:nvPr/>
        </p:nvSpPr>
        <p:spPr>
          <a:xfrm>
            <a:off x="548640" y="1481328"/>
            <a:ext cx="3515258" cy="2208276"/>
          </a:xfrm>
          <a:prstGeom prst="roundRect">
            <a:avLst>
              <a:gd name="adj" fmla="val 4141"/>
            </a:avLst>
          </a:prstGeom>
          <a:solidFill>
            <a:schemeClr val="bg2"/>
          </a:solidFill>
          <a:ln/>
        </p:spPr>
      </p:sp>
      <p:sp>
        <p:nvSpPr>
          <p:cNvPr id="6" name="circulo-401"/>
          <p:cNvSpPr/>
          <p:nvPr/>
        </p:nvSpPr>
        <p:spPr>
          <a:xfrm>
            <a:off x="749808" y="1682496"/>
            <a:ext cx="438912" cy="438912"/>
          </a:xfrm>
          <a:prstGeom prst="ellipse">
            <a:avLst/>
          </a:prstGeom>
          <a:solidFill>
            <a:schemeClr val="accent1"/>
          </a:solidFill>
          <a:ln/>
        </p:spPr>
      </p:sp>
      <p:sp>
        <p:nvSpPr>
          <p:cNvPr id="7" name="num-402"/>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403"/>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Nombres que explican</a:t>
            </a:r>
            <a:endParaRPr lang="en-US" sz="1700" dirty="0"/>
          </a:p>
        </p:txBody>
      </p:sp>
      <p:sp>
        <p:nvSpPr>
          <p:cNvPr id="9" name="desc-404"/>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tareasEnCurso, permiteMoverA… no lista2 ni flag.</a:t>
            </a:r>
            <a:endParaRPr lang="en-US" sz="1600" dirty="0"/>
          </a:p>
        </p:txBody>
      </p:sp>
      <p:sp>
        <p:nvSpPr>
          <p:cNvPr id="10" name="tarjeta-405"/>
          <p:cNvSpPr/>
          <p:nvPr/>
        </p:nvSpPr>
        <p:spPr>
          <a:xfrm>
            <a:off x="4338218" y="1481328"/>
            <a:ext cx="3515258" cy="2208276"/>
          </a:xfrm>
          <a:prstGeom prst="roundRect">
            <a:avLst>
              <a:gd name="adj" fmla="val 4141"/>
            </a:avLst>
          </a:prstGeom>
          <a:solidFill>
            <a:schemeClr val="bg2"/>
          </a:solidFill>
          <a:ln/>
        </p:spPr>
      </p:sp>
      <p:sp>
        <p:nvSpPr>
          <p:cNvPr id="11" name="circulo-406"/>
          <p:cNvSpPr/>
          <p:nvPr/>
        </p:nvSpPr>
        <p:spPr>
          <a:xfrm>
            <a:off x="4539386" y="1682496"/>
            <a:ext cx="438912" cy="438912"/>
          </a:xfrm>
          <a:prstGeom prst="ellipse">
            <a:avLst/>
          </a:prstGeom>
          <a:solidFill>
            <a:schemeClr val="accent2"/>
          </a:solidFill>
          <a:ln/>
        </p:spPr>
      </p:sp>
      <p:sp>
        <p:nvSpPr>
          <p:cNvPr id="12" name="num-407"/>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408"/>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Funciones pequeñas</a:t>
            </a:r>
            <a:endParaRPr lang="en-US" sz="1700" dirty="0"/>
          </a:p>
        </p:txBody>
      </p:sp>
      <p:sp>
        <p:nvSpPr>
          <p:cNvPr id="14" name="desc-409"/>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Una sola tarea y pocos parámetros; el nombre dice lo que hace.</a:t>
            </a:r>
            <a:endParaRPr lang="en-US" sz="1600" dirty="0"/>
          </a:p>
        </p:txBody>
      </p:sp>
      <p:sp>
        <p:nvSpPr>
          <p:cNvPr id="15" name="tarjeta-410"/>
          <p:cNvSpPr/>
          <p:nvPr/>
        </p:nvSpPr>
        <p:spPr>
          <a:xfrm>
            <a:off x="8127797" y="1481328"/>
            <a:ext cx="3515258" cy="2208276"/>
          </a:xfrm>
          <a:prstGeom prst="roundRect">
            <a:avLst>
              <a:gd name="adj" fmla="val 4141"/>
            </a:avLst>
          </a:prstGeom>
          <a:solidFill>
            <a:schemeClr val="bg2"/>
          </a:solidFill>
          <a:ln/>
        </p:spPr>
      </p:sp>
      <p:sp>
        <p:nvSpPr>
          <p:cNvPr id="16" name="circulo-411"/>
          <p:cNvSpPr/>
          <p:nvPr/>
        </p:nvSpPr>
        <p:spPr>
          <a:xfrm>
            <a:off x="8328965" y="1682496"/>
            <a:ext cx="438912" cy="438912"/>
          </a:xfrm>
          <a:prstGeom prst="ellipse">
            <a:avLst/>
          </a:prstGeom>
          <a:solidFill>
            <a:schemeClr val="accent3"/>
          </a:solidFill>
          <a:ln/>
        </p:spPr>
      </p:sp>
      <p:sp>
        <p:nvSpPr>
          <p:cNvPr id="17" name="num-412"/>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413"/>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Comentarios del porqué</a:t>
            </a:r>
            <a:endParaRPr lang="en-US" sz="1700" dirty="0"/>
          </a:p>
        </p:txBody>
      </p:sp>
      <p:sp>
        <p:nvSpPr>
          <p:cNvPr id="19" name="desc-414"/>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El código dice qué hace; el comentario explica por qué.</a:t>
            </a:r>
            <a:endParaRPr lang="en-US" sz="1600" dirty="0"/>
          </a:p>
        </p:txBody>
      </p:sp>
      <p:sp>
        <p:nvSpPr>
          <p:cNvPr id="20" name="tarjeta-415"/>
          <p:cNvSpPr/>
          <p:nvPr/>
        </p:nvSpPr>
        <p:spPr>
          <a:xfrm>
            <a:off x="548640" y="3963924"/>
            <a:ext cx="3515258" cy="2208276"/>
          </a:xfrm>
          <a:prstGeom prst="roundRect">
            <a:avLst>
              <a:gd name="adj" fmla="val 4141"/>
            </a:avLst>
          </a:prstGeom>
          <a:solidFill>
            <a:schemeClr val="bg2"/>
          </a:solidFill>
          <a:ln/>
        </p:spPr>
      </p:sp>
      <p:sp>
        <p:nvSpPr>
          <p:cNvPr id="21" name="circulo-416"/>
          <p:cNvSpPr/>
          <p:nvPr/>
        </p:nvSpPr>
        <p:spPr>
          <a:xfrm>
            <a:off x="749808" y="4165092"/>
            <a:ext cx="438912" cy="438912"/>
          </a:xfrm>
          <a:prstGeom prst="ellipse">
            <a:avLst/>
          </a:prstGeom>
          <a:solidFill>
            <a:schemeClr val="accent4"/>
          </a:solidFill>
          <a:ln/>
        </p:spPr>
      </p:sp>
      <p:sp>
        <p:nvSpPr>
          <p:cNvPr id="22" name="num-417"/>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418"/>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Sin números mágicos</a:t>
            </a:r>
            <a:endParaRPr lang="en-US" sz="1700" dirty="0"/>
          </a:p>
        </p:txBody>
      </p:sp>
      <p:sp>
        <p:nvSpPr>
          <p:cNvPr id="24" name="desc-419"/>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LIMITE_EN_CURSO = 3 en vez de un 3 suelto.</a:t>
            </a:r>
            <a:endParaRPr lang="en-US" sz="1600" dirty="0"/>
          </a:p>
        </p:txBody>
      </p:sp>
      <p:sp>
        <p:nvSpPr>
          <p:cNvPr id="25" name="tarjeta-420"/>
          <p:cNvSpPr/>
          <p:nvPr/>
        </p:nvSpPr>
        <p:spPr>
          <a:xfrm>
            <a:off x="4338218" y="3963924"/>
            <a:ext cx="3515258" cy="2208276"/>
          </a:xfrm>
          <a:prstGeom prst="roundRect">
            <a:avLst>
              <a:gd name="adj" fmla="val 4141"/>
            </a:avLst>
          </a:prstGeom>
          <a:solidFill>
            <a:schemeClr val="bg2"/>
          </a:solidFill>
          <a:ln/>
        </p:spPr>
      </p:sp>
      <p:sp>
        <p:nvSpPr>
          <p:cNvPr id="26" name="circulo-421"/>
          <p:cNvSpPr/>
          <p:nvPr/>
        </p:nvSpPr>
        <p:spPr>
          <a:xfrm>
            <a:off x="4539386" y="4165092"/>
            <a:ext cx="438912" cy="438912"/>
          </a:xfrm>
          <a:prstGeom prst="ellipse">
            <a:avLst/>
          </a:prstGeom>
          <a:solidFill>
            <a:schemeClr val="accent6"/>
          </a:solidFill>
          <a:ln/>
        </p:spPr>
      </p:sp>
      <p:sp>
        <p:nvSpPr>
          <p:cNvPr id="27" name="num-422"/>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423"/>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Errores explícitos</a:t>
            </a:r>
            <a:endParaRPr lang="en-US" sz="1700" dirty="0"/>
          </a:p>
        </p:txBody>
      </p:sp>
      <p:sp>
        <p:nvSpPr>
          <p:cNvPr id="29" name="desc-424"/>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Excepciones con nombre; evitar devolver null o códigos ocultos.</a:t>
            </a:r>
            <a:endParaRPr lang="en-US" sz="1600" dirty="0"/>
          </a:p>
        </p:txBody>
      </p:sp>
      <p:sp>
        <p:nvSpPr>
          <p:cNvPr id="30" name="tarjeta-425"/>
          <p:cNvSpPr/>
          <p:nvPr/>
        </p:nvSpPr>
        <p:spPr>
          <a:xfrm>
            <a:off x="8127797" y="3963924"/>
            <a:ext cx="3515258" cy="2208276"/>
          </a:xfrm>
          <a:prstGeom prst="roundRect">
            <a:avLst>
              <a:gd name="adj" fmla="val 4141"/>
            </a:avLst>
          </a:prstGeom>
          <a:solidFill>
            <a:schemeClr val="bg2"/>
          </a:solidFill>
          <a:ln/>
        </p:spPr>
      </p:sp>
      <p:sp>
        <p:nvSpPr>
          <p:cNvPr id="31" name="circulo-426"/>
          <p:cNvSpPr/>
          <p:nvPr/>
        </p:nvSpPr>
        <p:spPr>
          <a:xfrm>
            <a:off x="8328965" y="4165092"/>
            <a:ext cx="438912" cy="438912"/>
          </a:xfrm>
          <a:prstGeom prst="ellipse">
            <a:avLst/>
          </a:prstGeom>
          <a:solidFill>
            <a:schemeClr val="accent5"/>
          </a:solidFill>
          <a:ln/>
        </p:spPr>
      </p:sp>
      <p:sp>
        <p:nvSpPr>
          <p:cNvPr id="32" name="num-427"/>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428"/>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Formato automático</a:t>
            </a:r>
            <a:endParaRPr lang="en-US" sz="1700" dirty="0"/>
          </a:p>
        </p:txBody>
      </p:sp>
      <p:sp>
        <p:nvSpPr>
          <p:cNvPr id="34" name="desc-429"/>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Un formateador y un linter para todo el equipo.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DISEÑO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Code smells y refactorización</a:t>
            </a:r>
            <a:endParaRPr lang="en-US" sz="3400" dirty="0"/>
          </a:p>
        </p:txBody>
      </p:sp>
      <p:sp>
        <p:nvSpPr>
          <p:cNvPr id="5" name="panel-430"/>
          <p:cNvSpPr/>
          <p:nvPr/>
        </p:nvSpPr>
        <p:spPr>
          <a:xfrm>
            <a:off x="548640" y="1481328"/>
            <a:ext cx="5394960" cy="4690872"/>
          </a:xfrm>
          <a:prstGeom prst="roundRect">
            <a:avLst>
              <a:gd name="adj" fmla="val 1949"/>
            </a:avLst>
          </a:prstGeom>
          <a:solidFill>
            <a:schemeClr val="bg2"/>
          </a:solidFill>
          <a:ln/>
        </p:spPr>
      </p:sp>
      <p:sp>
        <p:nvSpPr>
          <p:cNvPr id="6" name="panel-cab-431"/>
          <p:cNvSpPr/>
          <p:nvPr/>
        </p:nvSpPr>
        <p:spPr>
          <a:xfrm>
            <a:off x="777240" y="1709928"/>
            <a:ext cx="4937760" cy="548640"/>
          </a:xfrm>
          <a:prstGeom prst="roundRect">
            <a:avLst>
              <a:gd name="adj" fmla="val 13333"/>
            </a:avLst>
          </a:prstGeom>
          <a:solidFill>
            <a:schemeClr val="accent1"/>
          </a:solidFill>
          <a:ln/>
        </p:spPr>
      </p:sp>
      <p:sp>
        <p:nvSpPr>
          <p:cNvPr id="7" name="panel-t-432"/>
          <p:cNvSpPr txBox="1"/>
          <p:nvPr/>
        </p:nvSpPr>
        <p:spPr>
          <a:xfrm>
            <a:off x="868680" y="1709928"/>
            <a:ext cx="4754880" cy="548640"/>
          </a:xfrm>
          <a:prstGeom prst="rect">
            <a:avLst/>
          </a:prstGeom>
          <a:noFill/>
          <a:ln/>
        </p:spPr>
        <p:txBody>
          <a:bodyPr wrap="square" lIns="0" tIns="0" rIns="0" bIns="0" rtlCol="0" anchor="ctr"/>
          <a:lstStyle/>
          <a:p>
            <a:pPr indent="0" marL="0">
              <a:buNone/>
            </a:pPr>
            <a:r>
              <a:rPr lang="en-US" sz="1800" b="1" dirty="0">
                <a:solidFill>
                  <a:schemeClr val="bg1"/>
                </a:solidFill>
              </a:rPr>
              <a:t>Señales de alerta (smells)</a:t>
            </a:r>
            <a:endParaRPr lang="en-US" sz="1800" dirty="0"/>
          </a:p>
        </p:txBody>
      </p:sp>
      <p:sp>
        <p:nvSpPr>
          <p:cNvPr id="8" name="lista-433"/>
          <p:cNvSpPr txBox="1"/>
          <p:nvPr/>
        </p:nvSpPr>
        <p:spPr>
          <a:xfrm>
            <a:off x="868680" y="2441448"/>
            <a:ext cx="4754880" cy="35478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Clases gigantes que hacen de todo</a:t>
            </a:r>
            <a:endParaRPr lang="en-US" sz="1600" dirty="0"/>
          </a:p>
          <a:p>
            <a:pPr marL="228600" indent="-228600">
              <a:spcAft>
                <a:spcPts val="800"/>
              </a:spcAft>
              <a:buSzPct val="100000"/>
              <a:buChar char="•"/>
            </a:pPr>
            <a:r>
              <a:rPr lang="en-US" sz="1600" dirty="0">
                <a:solidFill>
                  <a:schemeClr val="tx1"/>
                </a:solidFill>
              </a:rPr>
              <a:t>Métodos largos y anidados</a:t>
            </a:r>
            <a:endParaRPr lang="en-US" sz="1600" dirty="0"/>
          </a:p>
          <a:p>
            <a:pPr marL="228600" indent="-228600">
              <a:spcAft>
                <a:spcPts val="800"/>
              </a:spcAft>
              <a:buSzPct val="100000"/>
              <a:buChar char="•"/>
            </a:pPr>
            <a:r>
              <a:rPr lang="en-US" sz="1600" dirty="0">
                <a:solidFill>
                  <a:schemeClr val="tx1"/>
                </a:solidFill>
              </a:rPr>
              <a:t>Listas de parámetros eternas</a:t>
            </a:r>
            <a:endParaRPr lang="en-US" sz="1600" dirty="0"/>
          </a:p>
          <a:p>
            <a:pPr marL="228600" indent="-228600">
              <a:spcAft>
                <a:spcPts val="800"/>
              </a:spcAft>
              <a:buSzPct val="100000"/>
              <a:buChar char="•"/>
            </a:pPr>
            <a:r>
              <a:rPr lang="en-US" sz="1600" dirty="0">
                <a:solidFill>
                  <a:schemeClr val="tx1"/>
                </a:solidFill>
              </a:rPr>
              <a:t>Cadenas de if/else o switch repetidas</a:t>
            </a:r>
            <a:endParaRPr lang="en-US" sz="1600" dirty="0"/>
          </a:p>
          <a:p>
            <a:pPr marL="228600" indent="-228600">
              <a:spcAft>
                <a:spcPts val="800"/>
              </a:spcAft>
              <a:buSzPct val="100000"/>
              <a:buChar char="•"/>
            </a:pPr>
            <a:r>
              <a:rPr lang="en-US" sz="1600" dirty="0">
                <a:solidFill>
                  <a:schemeClr val="tx1"/>
                </a:solidFill>
              </a:rPr>
              <a:t>Código duplicado o muerto</a:t>
            </a:r>
            <a:endParaRPr lang="en-US" sz="1600" dirty="0"/>
          </a:p>
          <a:p>
            <a:pPr marL="228600" indent="-228600">
              <a:spcAft>
                <a:spcPts val="800"/>
              </a:spcAft>
              <a:buSzPct val="100000"/>
              <a:buChar char="•"/>
            </a:pPr>
            <a:r>
              <a:rPr lang="en-US" sz="1600" dirty="0">
                <a:solidFill>
                  <a:schemeClr val="tx1"/>
                </a:solidFill>
              </a:rPr>
              <a:t>Nombres que no dicen nada</a:t>
            </a:r>
            <a:endParaRPr lang="en-US" sz="1600" dirty="0"/>
          </a:p>
        </p:txBody>
      </p:sp>
      <p:sp>
        <p:nvSpPr>
          <p:cNvPr id="9" name="panel-434"/>
          <p:cNvSpPr/>
          <p:nvPr/>
        </p:nvSpPr>
        <p:spPr>
          <a:xfrm>
            <a:off x="6245352" y="1481328"/>
            <a:ext cx="5394960" cy="4690872"/>
          </a:xfrm>
          <a:prstGeom prst="roundRect">
            <a:avLst>
              <a:gd name="adj" fmla="val 1949"/>
            </a:avLst>
          </a:prstGeom>
          <a:solidFill>
            <a:schemeClr val="bg2"/>
          </a:solidFill>
          <a:ln/>
        </p:spPr>
      </p:sp>
      <p:sp>
        <p:nvSpPr>
          <p:cNvPr id="10" name="panel-cab-435"/>
          <p:cNvSpPr/>
          <p:nvPr/>
        </p:nvSpPr>
        <p:spPr>
          <a:xfrm>
            <a:off x="6473952" y="1709928"/>
            <a:ext cx="4937760" cy="548640"/>
          </a:xfrm>
          <a:prstGeom prst="roundRect">
            <a:avLst>
              <a:gd name="adj" fmla="val 13333"/>
            </a:avLst>
          </a:prstGeom>
          <a:solidFill>
            <a:schemeClr val="accent2"/>
          </a:solidFill>
          <a:ln/>
        </p:spPr>
      </p:sp>
      <p:sp>
        <p:nvSpPr>
          <p:cNvPr id="11" name="panel-t-436"/>
          <p:cNvSpPr txBox="1"/>
          <p:nvPr/>
        </p:nvSpPr>
        <p:spPr>
          <a:xfrm>
            <a:off x="6565392" y="1709928"/>
            <a:ext cx="4754880" cy="548640"/>
          </a:xfrm>
          <a:prstGeom prst="rect">
            <a:avLst/>
          </a:prstGeom>
          <a:noFill/>
          <a:ln/>
        </p:spPr>
        <p:txBody>
          <a:bodyPr wrap="square" lIns="0" tIns="0" rIns="0" bIns="0" rtlCol="0" anchor="ctr"/>
          <a:lstStyle/>
          <a:p>
            <a:pPr indent="0" marL="0">
              <a:buNone/>
            </a:pPr>
            <a:r>
              <a:rPr lang="en-US" sz="1800" b="1" dirty="0">
                <a:solidFill>
                  <a:schemeClr val="bg1"/>
                </a:solidFill>
              </a:rPr>
              <a:t>Cómo refactorizar</a:t>
            </a:r>
            <a:endParaRPr lang="en-US" sz="1800" dirty="0"/>
          </a:p>
        </p:txBody>
      </p:sp>
      <p:sp>
        <p:nvSpPr>
          <p:cNvPr id="12" name="lista-437"/>
          <p:cNvSpPr txBox="1"/>
          <p:nvPr/>
        </p:nvSpPr>
        <p:spPr>
          <a:xfrm>
            <a:off x="6565392" y="2441448"/>
            <a:ext cx="4754880" cy="35478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Primero tener pruebas que pasen</a:t>
            </a:r>
            <a:endParaRPr lang="en-US" sz="1600" dirty="0"/>
          </a:p>
          <a:p>
            <a:pPr marL="228600" indent="-228600">
              <a:spcAft>
                <a:spcPts val="800"/>
              </a:spcAft>
              <a:buSzPct val="100000"/>
              <a:buChar char="•"/>
            </a:pPr>
            <a:r>
              <a:rPr lang="en-US" sz="1600" dirty="0">
                <a:solidFill>
                  <a:schemeClr val="tx1"/>
                </a:solidFill>
              </a:rPr>
              <a:t>Un cambio pequeño a la vez</a:t>
            </a:r>
            <a:endParaRPr lang="en-US" sz="1600" dirty="0"/>
          </a:p>
          <a:p>
            <a:pPr marL="228600" indent="-228600">
              <a:spcAft>
                <a:spcPts val="800"/>
              </a:spcAft>
              <a:buSzPct val="100000"/>
              <a:buChar char="•"/>
            </a:pPr>
            <a:r>
              <a:rPr lang="en-US" sz="1600" dirty="0">
                <a:solidFill>
                  <a:schemeClr val="tx1"/>
                </a:solidFill>
              </a:rPr>
              <a:t>Ejecutar pruebas después de cada paso</a:t>
            </a:r>
            <a:endParaRPr lang="en-US" sz="1600" dirty="0"/>
          </a:p>
          <a:p>
            <a:pPr marL="228600" indent="-228600">
              <a:spcAft>
                <a:spcPts val="800"/>
              </a:spcAft>
              <a:buSzPct val="100000"/>
              <a:buChar char="•"/>
            </a:pPr>
            <a:r>
              <a:rPr lang="en-US" sz="1600" dirty="0">
                <a:solidFill>
                  <a:schemeClr val="tx1"/>
                </a:solidFill>
              </a:rPr>
              <a:t>Extraer métodos y renombrar</a:t>
            </a:r>
            <a:endParaRPr lang="en-US" sz="1600" dirty="0"/>
          </a:p>
          <a:p>
            <a:pPr marL="228600" indent="-228600">
              <a:spcAft>
                <a:spcPts val="800"/>
              </a:spcAft>
              <a:buSzPct val="100000"/>
              <a:buChar char="•"/>
            </a:pPr>
            <a:r>
              <a:rPr lang="en-US" sz="1600" dirty="0">
                <a:solidFill>
                  <a:schemeClr val="tx1"/>
                </a:solidFill>
              </a:rPr>
              <a:t>No mezclar refactor con funciones nuevas</a:t>
            </a:r>
            <a:endParaRPr lang="en-US" sz="1600" dirty="0"/>
          </a:p>
          <a:p>
            <a:pPr marL="228600" indent="-228600">
              <a:spcAft>
                <a:spcPts val="800"/>
              </a:spcAft>
              <a:buSzPct val="100000"/>
              <a:buChar char="•"/>
            </a:pPr>
            <a:r>
              <a:rPr lang="en-US" sz="1600" dirty="0">
                <a:solidFill>
                  <a:schemeClr val="tx1"/>
                </a:solidFill>
              </a:rPr>
              <a:t>Commit por cada paso estable</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DISEÑO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Patrones de diseño</a:t>
            </a:r>
            <a:endParaRPr lang="en-US" sz="3400" dirty="0"/>
          </a:p>
        </p:txBody>
      </p:sp>
      <p:sp>
        <p:nvSpPr>
          <p:cNvPr id="5" name="tarjeta-438"/>
          <p:cNvSpPr/>
          <p:nvPr/>
        </p:nvSpPr>
        <p:spPr>
          <a:xfrm>
            <a:off x="548640" y="1481328"/>
            <a:ext cx="3515258" cy="2286000"/>
          </a:xfrm>
          <a:prstGeom prst="roundRect">
            <a:avLst>
              <a:gd name="adj" fmla="val 4000"/>
            </a:avLst>
          </a:prstGeom>
          <a:solidFill>
            <a:schemeClr val="bg2"/>
          </a:solidFill>
          <a:ln/>
        </p:spPr>
      </p:sp>
      <p:sp>
        <p:nvSpPr>
          <p:cNvPr id="6" name="circulo-439"/>
          <p:cNvSpPr/>
          <p:nvPr/>
        </p:nvSpPr>
        <p:spPr>
          <a:xfrm>
            <a:off x="749808" y="1682496"/>
            <a:ext cx="438912" cy="438912"/>
          </a:xfrm>
          <a:prstGeom prst="ellipse">
            <a:avLst/>
          </a:prstGeom>
          <a:solidFill>
            <a:schemeClr val="accent1"/>
          </a:solidFill>
          <a:ln/>
        </p:spPr>
      </p:sp>
      <p:sp>
        <p:nvSpPr>
          <p:cNvPr id="7" name="num-440"/>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441"/>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Creacionales</a:t>
            </a:r>
            <a:endParaRPr lang="en-US" sz="1700" dirty="0"/>
          </a:p>
        </p:txBody>
      </p:sp>
      <p:sp>
        <p:nvSpPr>
          <p:cNvPr id="9" name="desc-442"/>
          <p:cNvSpPr txBox="1"/>
          <p:nvPr/>
        </p:nvSpPr>
        <p:spPr>
          <a:xfrm>
            <a:off x="777240" y="2267712"/>
            <a:ext cx="3058058" cy="1371600"/>
          </a:xfrm>
          <a:prstGeom prst="rect">
            <a:avLst/>
          </a:prstGeom>
          <a:noFill/>
          <a:ln/>
        </p:spPr>
        <p:txBody>
          <a:bodyPr wrap="square" lIns="0" tIns="0" rIns="0" bIns="0" rtlCol="0" anchor="t"/>
          <a:lstStyle/>
          <a:p>
            <a:pPr indent="0" marL="0">
              <a:buNone/>
            </a:pPr>
            <a:r>
              <a:rPr lang="en-US" sz="1600" dirty="0">
                <a:solidFill>
                  <a:schemeClr val="tx1"/>
                </a:solidFill>
              </a:rPr>
              <a:t>Cómo se crean objetos.</a:t>
            </a:r>
            <a:endParaRPr lang="en-US" sz="1600" dirty="0"/>
          </a:p>
          <a:p>
            <a:pPr indent="0" marL="0">
              <a:buNone/>
            </a:pPr>
            <a:r>
              <a:rPr lang="en-US" sz="1600" dirty="0">
                <a:solidFill>
                  <a:schemeClr val="tx1"/>
                </a:solidFill>
              </a:rPr>
              <a:t>Factory, Builder, Singleton.</a:t>
            </a:r>
            <a:endParaRPr lang="en-US" sz="1600" dirty="0"/>
          </a:p>
        </p:txBody>
      </p:sp>
      <p:sp>
        <p:nvSpPr>
          <p:cNvPr id="10" name="tarjeta-443"/>
          <p:cNvSpPr/>
          <p:nvPr/>
        </p:nvSpPr>
        <p:spPr>
          <a:xfrm>
            <a:off x="4338218" y="1481328"/>
            <a:ext cx="3515258" cy="2286000"/>
          </a:xfrm>
          <a:prstGeom prst="roundRect">
            <a:avLst>
              <a:gd name="adj" fmla="val 4000"/>
            </a:avLst>
          </a:prstGeom>
          <a:solidFill>
            <a:schemeClr val="bg2"/>
          </a:solidFill>
          <a:ln/>
        </p:spPr>
      </p:sp>
      <p:sp>
        <p:nvSpPr>
          <p:cNvPr id="11" name="circulo-444"/>
          <p:cNvSpPr/>
          <p:nvPr/>
        </p:nvSpPr>
        <p:spPr>
          <a:xfrm>
            <a:off x="4539386" y="1682496"/>
            <a:ext cx="438912" cy="438912"/>
          </a:xfrm>
          <a:prstGeom prst="ellipse">
            <a:avLst/>
          </a:prstGeom>
          <a:solidFill>
            <a:schemeClr val="accent2"/>
          </a:solidFill>
          <a:ln/>
        </p:spPr>
      </p:sp>
      <p:sp>
        <p:nvSpPr>
          <p:cNvPr id="12" name="num-445"/>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446"/>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Estructurales</a:t>
            </a:r>
            <a:endParaRPr lang="en-US" sz="1700" dirty="0"/>
          </a:p>
        </p:txBody>
      </p:sp>
      <p:sp>
        <p:nvSpPr>
          <p:cNvPr id="14" name="desc-447"/>
          <p:cNvSpPr txBox="1"/>
          <p:nvPr/>
        </p:nvSpPr>
        <p:spPr>
          <a:xfrm>
            <a:off x="4566818" y="2267712"/>
            <a:ext cx="3058058" cy="1371600"/>
          </a:xfrm>
          <a:prstGeom prst="rect">
            <a:avLst/>
          </a:prstGeom>
          <a:noFill/>
          <a:ln/>
        </p:spPr>
        <p:txBody>
          <a:bodyPr wrap="square" lIns="0" tIns="0" rIns="0" bIns="0" rtlCol="0" anchor="t"/>
          <a:lstStyle/>
          <a:p>
            <a:pPr indent="0" marL="0">
              <a:buNone/>
            </a:pPr>
            <a:r>
              <a:rPr lang="en-US" sz="1600" dirty="0">
                <a:solidFill>
                  <a:schemeClr val="tx1"/>
                </a:solidFill>
              </a:rPr>
              <a:t>Cómo se combinan.</a:t>
            </a:r>
            <a:endParaRPr lang="en-US" sz="1600" dirty="0"/>
          </a:p>
          <a:p>
            <a:pPr indent="0" marL="0">
              <a:buNone/>
            </a:pPr>
            <a:r>
              <a:rPr lang="en-US" sz="1600" dirty="0">
                <a:solidFill>
                  <a:schemeClr val="tx1"/>
                </a:solidFill>
              </a:rPr>
              <a:t>Adapter, Facade, Decorator, Proxy.</a:t>
            </a:r>
            <a:endParaRPr lang="en-US" sz="1600" dirty="0"/>
          </a:p>
        </p:txBody>
      </p:sp>
      <p:sp>
        <p:nvSpPr>
          <p:cNvPr id="15" name="tarjeta-448"/>
          <p:cNvSpPr/>
          <p:nvPr/>
        </p:nvSpPr>
        <p:spPr>
          <a:xfrm>
            <a:off x="8127797" y="1481328"/>
            <a:ext cx="3515258" cy="2286000"/>
          </a:xfrm>
          <a:prstGeom prst="roundRect">
            <a:avLst>
              <a:gd name="adj" fmla="val 4000"/>
            </a:avLst>
          </a:prstGeom>
          <a:solidFill>
            <a:schemeClr val="bg2"/>
          </a:solidFill>
          <a:ln/>
        </p:spPr>
      </p:sp>
      <p:sp>
        <p:nvSpPr>
          <p:cNvPr id="16" name="circulo-449"/>
          <p:cNvSpPr/>
          <p:nvPr/>
        </p:nvSpPr>
        <p:spPr>
          <a:xfrm>
            <a:off x="8328965" y="1682496"/>
            <a:ext cx="438912" cy="438912"/>
          </a:xfrm>
          <a:prstGeom prst="ellipse">
            <a:avLst/>
          </a:prstGeom>
          <a:solidFill>
            <a:schemeClr val="accent3"/>
          </a:solidFill>
          <a:ln/>
        </p:spPr>
      </p:sp>
      <p:sp>
        <p:nvSpPr>
          <p:cNvPr id="17" name="num-450"/>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451"/>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De comportamiento</a:t>
            </a:r>
            <a:endParaRPr lang="en-US" sz="1700" dirty="0"/>
          </a:p>
        </p:txBody>
      </p:sp>
      <p:sp>
        <p:nvSpPr>
          <p:cNvPr id="19" name="desc-452"/>
          <p:cNvSpPr txBox="1"/>
          <p:nvPr/>
        </p:nvSpPr>
        <p:spPr>
          <a:xfrm>
            <a:off x="8356397" y="2267712"/>
            <a:ext cx="3058058" cy="1371600"/>
          </a:xfrm>
          <a:prstGeom prst="rect">
            <a:avLst/>
          </a:prstGeom>
          <a:noFill/>
          <a:ln/>
        </p:spPr>
        <p:txBody>
          <a:bodyPr wrap="square" lIns="0" tIns="0" rIns="0" bIns="0" rtlCol="0" anchor="t"/>
          <a:lstStyle/>
          <a:p>
            <a:pPr indent="0" marL="0">
              <a:buNone/>
            </a:pPr>
            <a:r>
              <a:rPr lang="en-US" sz="1600" dirty="0">
                <a:solidFill>
                  <a:schemeClr val="tx1"/>
                </a:solidFill>
              </a:rPr>
              <a:t>Cómo colaboran.</a:t>
            </a:r>
            <a:endParaRPr lang="en-US" sz="1600" dirty="0"/>
          </a:p>
          <a:p>
            <a:pPr indent="0" marL="0">
              <a:buNone/>
            </a:pPr>
            <a:r>
              <a:rPr lang="en-US" sz="1600" dirty="0">
                <a:solidFill>
                  <a:schemeClr val="tx1"/>
                </a:solidFill>
              </a:rPr>
              <a:t>Strategy, Observer, State, Template Method.</a:t>
            </a:r>
            <a:endParaRPr lang="en-US" sz="1600" dirty="0"/>
          </a:p>
        </p:txBody>
      </p:sp>
      <p:sp>
        <p:nvSpPr>
          <p:cNvPr id="20" name="destacado-453"/>
          <p:cNvSpPr/>
          <p:nvPr/>
        </p:nvSpPr>
        <p:spPr>
          <a:xfrm>
            <a:off x="548640" y="4114800"/>
            <a:ext cx="11094415" cy="566928"/>
          </a:xfrm>
          <a:prstGeom prst="roundRect">
            <a:avLst>
              <a:gd name="adj" fmla="val 12903"/>
            </a:avLst>
          </a:prstGeom>
          <a:solidFill>
            <a:schemeClr val="tx2"/>
          </a:solidFill>
          <a:ln/>
        </p:spPr>
      </p:sp>
      <p:sp>
        <p:nvSpPr>
          <p:cNvPr id="21" name="destacado-t-454"/>
          <p:cNvSpPr txBox="1"/>
          <p:nvPr/>
        </p:nvSpPr>
        <p:spPr>
          <a:xfrm>
            <a:off x="822960" y="4114800"/>
            <a:ext cx="10545775" cy="566928"/>
          </a:xfrm>
          <a:prstGeom prst="rect">
            <a:avLst/>
          </a:prstGeom>
          <a:noFill/>
          <a:ln/>
        </p:spPr>
        <p:txBody>
          <a:bodyPr wrap="square" lIns="0" tIns="0" rIns="0" bIns="0" rtlCol="0" anchor="ctr"/>
          <a:lstStyle/>
          <a:p>
            <a:pPr indent="0" marL="0">
              <a:buNone/>
            </a:pPr>
            <a:r>
              <a:rPr lang="en-US" sz="1600" dirty="0">
                <a:solidFill>
                  <a:schemeClr val="bg1"/>
                </a:solidFill>
              </a:rPr>
              <a:t>Regla: aplica un patrón cuando aparece el problema que resuelve, no antes.</a:t>
            </a:r>
            <a:endParaRPr lang="en-US" sz="1600" dirty="0"/>
          </a:p>
        </p:txBody>
      </p:sp>
      <p:sp>
        <p:nvSpPr>
          <p:cNvPr id="22" name="texto-455"/>
          <p:cNvSpPr txBox="1"/>
          <p:nvPr/>
        </p:nvSpPr>
        <p:spPr>
          <a:xfrm>
            <a:off x="548640" y="4937760"/>
            <a:ext cx="11094415" cy="731520"/>
          </a:xfrm>
          <a:prstGeom prst="rect">
            <a:avLst/>
          </a:prstGeom>
          <a:noFill/>
          <a:ln/>
        </p:spPr>
        <p:txBody>
          <a:bodyPr wrap="square" lIns="0" tIns="0" rIns="0" bIns="0" rtlCol="0" anchor="t"/>
          <a:lstStyle/>
          <a:p>
            <a:pPr indent="0" marL="0">
              <a:buNone/>
            </a:pPr>
            <a:r>
              <a:rPr lang="en-US" sz="1600" dirty="0">
                <a:solidFill>
                  <a:schemeClr val="tx1"/>
                </a:solidFill>
              </a:rPr>
              <a:t>Patrones de aplicación que usaremos en el proyecto: Service Layer, Repository, DTO, Mapper, Inyección de dependencias, Front Controller y Advice.</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07</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Pruebas</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La evidencia repetible de que el software hace lo que se espera. No prueba la ausencia total de defectos, pero reduce el riesgo.</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PRUEBAS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La pirámide de pruebas</a:t>
            </a:r>
            <a:endParaRPr lang="en-US" sz="3400" dirty="0"/>
          </a:p>
        </p:txBody>
      </p:sp>
      <p:sp>
        <p:nvSpPr>
          <p:cNvPr id="5" name="caja-456"/>
          <p:cNvSpPr/>
          <p:nvPr/>
        </p:nvSpPr>
        <p:spPr>
          <a:xfrm>
            <a:off x="1828800" y="1664208"/>
            <a:ext cx="2926080" cy="1143000"/>
          </a:xfrm>
          <a:prstGeom prst="roundRect">
            <a:avLst>
              <a:gd name="adj" fmla="val 6400"/>
            </a:avLst>
          </a:prstGeom>
          <a:solidFill>
            <a:schemeClr val="accent1"/>
          </a:solidFill>
          <a:ln/>
        </p:spPr>
      </p:sp>
      <p:sp>
        <p:nvSpPr>
          <p:cNvPr id="6" name="caja-t-457"/>
          <p:cNvSpPr txBox="1"/>
          <p:nvPr/>
        </p:nvSpPr>
        <p:spPr>
          <a:xfrm>
            <a:off x="1920240" y="1664208"/>
            <a:ext cx="2743200" cy="1143000"/>
          </a:xfrm>
          <a:prstGeom prst="rect">
            <a:avLst/>
          </a:prstGeom>
          <a:noFill/>
          <a:ln/>
        </p:spPr>
        <p:txBody>
          <a:bodyPr wrap="square" lIns="0" tIns="0" rIns="0" bIns="0" rtlCol="0" anchor="ctr"/>
          <a:lstStyle/>
          <a:p>
            <a:pPr algn="ctr" indent="0" marL="0">
              <a:buNone/>
            </a:pPr>
            <a:r>
              <a:rPr lang="en-US" sz="2000" b="1" dirty="0">
                <a:solidFill>
                  <a:schemeClr val="bg1"/>
                </a:solidFill>
              </a:rPr>
              <a:t>E2E</a:t>
            </a:r>
            <a:endParaRPr lang="en-US" sz="2000" dirty="0"/>
          </a:p>
        </p:txBody>
      </p:sp>
      <p:sp>
        <p:nvSpPr>
          <p:cNvPr id="7" name="texto-458"/>
          <p:cNvSpPr txBox="1"/>
          <p:nvPr/>
        </p:nvSpPr>
        <p:spPr>
          <a:xfrm>
            <a:off x="6400800" y="1892808"/>
            <a:ext cx="5212080" cy="731520"/>
          </a:xfrm>
          <a:prstGeom prst="rect">
            <a:avLst/>
          </a:prstGeom>
          <a:noFill/>
          <a:ln/>
        </p:spPr>
        <p:txBody>
          <a:bodyPr wrap="square" lIns="0" tIns="0" rIns="0" bIns="0" rtlCol="0" anchor="ctr"/>
          <a:lstStyle/>
          <a:p>
            <a:pPr indent="0" marL="0">
              <a:buNone/>
            </a:pPr>
            <a:r>
              <a:rPr lang="en-US" sz="1600" dirty="0">
                <a:solidFill>
                  <a:schemeClr val="tx1"/>
                </a:solidFill>
              </a:rPr>
              <a:t>Simula al usuario en el navegador · Playwright, Cypress</a:t>
            </a:r>
            <a:endParaRPr lang="en-US" sz="1600" dirty="0"/>
          </a:p>
        </p:txBody>
      </p:sp>
      <p:sp>
        <p:nvSpPr>
          <p:cNvPr id="8" name="caja-459"/>
          <p:cNvSpPr/>
          <p:nvPr/>
        </p:nvSpPr>
        <p:spPr>
          <a:xfrm>
            <a:off x="1188720" y="3035808"/>
            <a:ext cx="4206240" cy="1143000"/>
          </a:xfrm>
          <a:prstGeom prst="roundRect">
            <a:avLst>
              <a:gd name="adj" fmla="val 6400"/>
            </a:avLst>
          </a:prstGeom>
          <a:solidFill>
            <a:schemeClr val="accent3"/>
          </a:solidFill>
          <a:ln/>
        </p:spPr>
      </p:sp>
      <p:sp>
        <p:nvSpPr>
          <p:cNvPr id="9" name="caja-t-460"/>
          <p:cNvSpPr txBox="1"/>
          <p:nvPr/>
        </p:nvSpPr>
        <p:spPr>
          <a:xfrm>
            <a:off x="1280160" y="3035808"/>
            <a:ext cx="4023360" cy="1143000"/>
          </a:xfrm>
          <a:prstGeom prst="rect">
            <a:avLst/>
          </a:prstGeom>
          <a:noFill/>
          <a:ln/>
        </p:spPr>
        <p:txBody>
          <a:bodyPr wrap="square" lIns="0" tIns="0" rIns="0" bIns="0" rtlCol="0" anchor="ctr"/>
          <a:lstStyle/>
          <a:p>
            <a:pPr algn="ctr" indent="0" marL="0">
              <a:buNone/>
            </a:pPr>
            <a:r>
              <a:rPr lang="en-US" sz="2000" b="1" dirty="0">
                <a:solidFill>
                  <a:schemeClr val="bg1"/>
                </a:solidFill>
              </a:rPr>
              <a:t>Integración</a:t>
            </a:r>
            <a:endParaRPr lang="en-US" sz="2000" dirty="0"/>
          </a:p>
        </p:txBody>
      </p:sp>
      <p:sp>
        <p:nvSpPr>
          <p:cNvPr id="10" name="texto-461"/>
          <p:cNvSpPr txBox="1"/>
          <p:nvPr/>
        </p:nvSpPr>
        <p:spPr>
          <a:xfrm>
            <a:off x="6400800" y="3264408"/>
            <a:ext cx="5212080" cy="731520"/>
          </a:xfrm>
          <a:prstGeom prst="rect">
            <a:avLst/>
          </a:prstGeom>
          <a:noFill/>
          <a:ln/>
        </p:spPr>
        <p:txBody>
          <a:bodyPr wrap="square" lIns="0" tIns="0" rIns="0" bIns="0" rtlCol="0" anchor="ctr"/>
          <a:lstStyle/>
          <a:p>
            <a:pPr indent="0" marL="0">
              <a:buNone/>
            </a:pPr>
            <a:r>
              <a:rPr lang="en-US" sz="1600" dirty="0">
                <a:solidFill>
                  <a:schemeClr val="tx1"/>
                </a:solidFill>
              </a:rPr>
              <a:t>Varias piezas juntas, base real · Testcontainers</a:t>
            </a:r>
            <a:endParaRPr lang="en-US" sz="1600" dirty="0"/>
          </a:p>
        </p:txBody>
      </p:sp>
      <p:sp>
        <p:nvSpPr>
          <p:cNvPr id="11" name="caja-462"/>
          <p:cNvSpPr/>
          <p:nvPr/>
        </p:nvSpPr>
        <p:spPr>
          <a:xfrm>
            <a:off x="548640" y="4407408"/>
            <a:ext cx="5486400" cy="1143000"/>
          </a:xfrm>
          <a:prstGeom prst="roundRect">
            <a:avLst>
              <a:gd name="adj" fmla="val 6400"/>
            </a:avLst>
          </a:prstGeom>
          <a:solidFill>
            <a:schemeClr val="accent2"/>
          </a:solidFill>
          <a:ln/>
        </p:spPr>
      </p:sp>
      <p:sp>
        <p:nvSpPr>
          <p:cNvPr id="12" name="caja-t-463"/>
          <p:cNvSpPr txBox="1"/>
          <p:nvPr/>
        </p:nvSpPr>
        <p:spPr>
          <a:xfrm>
            <a:off x="640080" y="4407408"/>
            <a:ext cx="5303520" cy="1143000"/>
          </a:xfrm>
          <a:prstGeom prst="rect">
            <a:avLst/>
          </a:prstGeom>
          <a:noFill/>
          <a:ln/>
        </p:spPr>
        <p:txBody>
          <a:bodyPr wrap="square" lIns="0" tIns="0" rIns="0" bIns="0" rtlCol="0" anchor="ctr"/>
          <a:lstStyle/>
          <a:p>
            <a:pPr algn="ctr" indent="0" marL="0">
              <a:buNone/>
            </a:pPr>
            <a:r>
              <a:rPr lang="en-US" sz="2000" b="1" dirty="0">
                <a:solidFill>
                  <a:schemeClr val="bg1"/>
                </a:solidFill>
              </a:rPr>
              <a:t>Unitarias</a:t>
            </a:r>
            <a:endParaRPr lang="en-US" sz="2000" dirty="0"/>
          </a:p>
        </p:txBody>
      </p:sp>
      <p:sp>
        <p:nvSpPr>
          <p:cNvPr id="13" name="texto-464"/>
          <p:cNvSpPr txBox="1"/>
          <p:nvPr/>
        </p:nvSpPr>
        <p:spPr>
          <a:xfrm>
            <a:off x="6400800" y="4636008"/>
            <a:ext cx="5212080" cy="731520"/>
          </a:xfrm>
          <a:prstGeom prst="rect">
            <a:avLst/>
          </a:prstGeom>
          <a:noFill/>
          <a:ln/>
        </p:spPr>
        <p:txBody>
          <a:bodyPr wrap="square" lIns="0" tIns="0" rIns="0" bIns="0" rtlCol="0" anchor="ctr"/>
          <a:lstStyle/>
          <a:p>
            <a:pPr indent="0" marL="0">
              <a:buNone/>
            </a:pPr>
            <a:r>
              <a:rPr lang="en-US" sz="1600" dirty="0">
                <a:solidFill>
                  <a:schemeClr val="tx1"/>
                </a:solidFill>
              </a:rPr>
              <a:t>Una clase aislada con mocks · JUnit, Mockito, Vitest</a:t>
            </a:r>
            <a:endParaRPr lang="en-US" sz="1600" dirty="0"/>
          </a:p>
        </p:txBody>
      </p:sp>
      <p:sp>
        <p:nvSpPr>
          <p:cNvPr id="14" name="etq-465"/>
          <p:cNvSpPr txBox="1"/>
          <p:nvPr/>
        </p:nvSpPr>
        <p:spPr>
          <a:xfrm>
            <a:off x="6400800" y="5760720"/>
            <a:ext cx="5212080" cy="320040"/>
          </a:xfrm>
          <a:prstGeom prst="rect">
            <a:avLst/>
          </a:prstGeom>
          <a:noFill/>
          <a:ln/>
        </p:spPr>
        <p:txBody>
          <a:bodyPr wrap="square" lIns="0" tIns="0" rIns="0" bIns="0" rtlCol="0" anchor="ctr"/>
          <a:lstStyle/>
          <a:p>
            <a:pPr algn="l" indent="0" marL="0">
              <a:buNone/>
            </a:pPr>
            <a:r>
              <a:rPr lang="en-US" sz="1300" dirty="0">
                <a:solidFill>
                  <a:schemeClr val="accent5"/>
                </a:solidFill>
              </a:rPr>
              <a:t>▲ más lentas y costosas · ▼ más rápidas y numerosas</a:t>
            </a:r>
            <a:endParaRPr lang="en-US" sz="13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PRUEBAS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Tipos de pruebas</a:t>
            </a:r>
            <a:endParaRPr lang="en-US" sz="3400" dirty="0"/>
          </a:p>
        </p:txBody>
      </p:sp>
      <p:graphicFrame>
        <p:nvGraphicFramePr>
          <p:cNvPr id="41" name="tabla-466"/>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743200"/>
                <a:gridCol w="4572000"/>
                <a:gridCol w="3776472"/>
              </a:tblGrid>
              <a:tr h="548640">
                <a:tc>
                  <a:txBody>
                    <a:bodyPr/>
                    <a:lstStyle/>
                    <a:p>
                      <a:pPr indent="0" marL="0">
                        <a:buNone/>
                      </a:pPr>
                      <a:r>
                        <a:rPr lang="en-US" sz="1400" b="1" dirty="0">
                          <a:solidFill>
                            <a:schemeClr val="bg1"/>
                          </a:solidFill>
                        </a:rPr>
                        <a:t>Tipo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Qué verifica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Herramientas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48640">
                <a:tc>
                  <a:txBody>
                    <a:bodyPr/>
                    <a:lstStyle/>
                    <a:p>
                      <a:pPr indent="0" marL="0">
                        <a:buNone/>
                      </a:pPr>
                      <a:r>
                        <a:rPr lang="en-US" sz="1400" b="1" dirty="0">
                          <a:solidFill>
                            <a:schemeClr val="tx1"/>
                          </a:solidFill>
                        </a:rPr>
                        <a:t>Unitaria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Una regla o clase aislada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JUnit 5, Mockito, Vitest</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Web / contrato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Rutas, JSON, validación y códigos HTTP</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MockMvc, @WebMvcTest</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Integración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Base real, migraciones, JPA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@SpringBootTest, Testcontainers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Extremo a extremo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Recorrido completo como usuario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Playwright, Cypress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Carga y rendimiento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Cuánto aguanta y con qué latencia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k6, JMeter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Seguridad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Vulnerabilidades conocidas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OWASP ZAP, análisis de dependencias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PRUEBAS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Cómo se escribe una buena prueba</a:t>
            </a:r>
            <a:endParaRPr lang="en-US" sz="3400" dirty="0"/>
          </a:p>
        </p:txBody>
      </p:sp>
      <p:sp>
        <p:nvSpPr>
          <p:cNvPr id="5" name="tarjeta-467"/>
          <p:cNvSpPr/>
          <p:nvPr/>
        </p:nvSpPr>
        <p:spPr>
          <a:xfrm>
            <a:off x="548640" y="1481328"/>
            <a:ext cx="3515258" cy="2208276"/>
          </a:xfrm>
          <a:prstGeom prst="roundRect">
            <a:avLst>
              <a:gd name="adj" fmla="val 4141"/>
            </a:avLst>
          </a:prstGeom>
          <a:solidFill>
            <a:schemeClr val="bg2"/>
          </a:solidFill>
          <a:ln/>
        </p:spPr>
      </p:sp>
      <p:sp>
        <p:nvSpPr>
          <p:cNvPr id="6" name="circulo-468"/>
          <p:cNvSpPr/>
          <p:nvPr/>
        </p:nvSpPr>
        <p:spPr>
          <a:xfrm>
            <a:off x="749808" y="1682496"/>
            <a:ext cx="438912" cy="438912"/>
          </a:xfrm>
          <a:prstGeom prst="ellipse">
            <a:avLst/>
          </a:prstGeom>
          <a:solidFill>
            <a:schemeClr val="accent1"/>
          </a:solidFill>
          <a:ln/>
        </p:spPr>
      </p:sp>
      <p:sp>
        <p:nvSpPr>
          <p:cNvPr id="7" name="num-469"/>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470"/>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Patrón AAA</a:t>
            </a:r>
            <a:endParaRPr lang="en-US" sz="1700" dirty="0"/>
          </a:p>
        </p:txBody>
      </p:sp>
      <p:sp>
        <p:nvSpPr>
          <p:cNvPr id="9" name="desc-471"/>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Arrange (preparar), Act (ejecutar), Assert (verificar).</a:t>
            </a:r>
            <a:endParaRPr lang="en-US" sz="1600" dirty="0"/>
          </a:p>
        </p:txBody>
      </p:sp>
      <p:sp>
        <p:nvSpPr>
          <p:cNvPr id="10" name="tarjeta-472"/>
          <p:cNvSpPr/>
          <p:nvPr/>
        </p:nvSpPr>
        <p:spPr>
          <a:xfrm>
            <a:off x="4338218" y="1481328"/>
            <a:ext cx="3515258" cy="2208276"/>
          </a:xfrm>
          <a:prstGeom prst="roundRect">
            <a:avLst>
              <a:gd name="adj" fmla="val 4141"/>
            </a:avLst>
          </a:prstGeom>
          <a:solidFill>
            <a:schemeClr val="bg2"/>
          </a:solidFill>
          <a:ln/>
        </p:spPr>
      </p:sp>
      <p:sp>
        <p:nvSpPr>
          <p:cNvPr id="11" name="circulo-473"/>
          <p:cNvSpPr/>
          <p:nvPr/>
        </p:nvSpPr>
        <p:spPr>
          <a:xfrm>
            <a:off x="4539386" y="1682496"/>
            <a:ext cx="438912" cy="438912"/>
          </a:xfrm>
          <a:prstGeom prst="ellipse">
            <a:avLst/>
          </a:prstGeom>
          <a:solidFill>
            <a:schemeClr val="accent2"/>
          </a:solidFill>
          <a:ln/>
        </p:spPr>
      </p:sp>
      <p:sp>
        <p:nvSpPr>
          <p:cNvPr id="12" name="num-474"/>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475"/>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TDD</a:t>
            </a:r>
            <a:endParaRPr lang="en-US" sz="1700" dirty="0"/>
          </a:p>
        </p:txBody>
      </p:sp>
      <p:sp>
        <p:nvSpPr>
          <p:cNvPr id="14" name="desc-476"/>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Rojo → verde → refactorizar, en ciclos cortos.</a:t>
            </a:r>
            <a:endParaRPr lang="en-US" sz="1600" dirty="0"/>
          </a:p>
        </p:txBody>
      </p:sp>
      <p:sp>
        <p:nvSpPr>
          <p:cNvPr id="15" name="tarjeta-477"/>
          <p:cNvSpPr/>
          <p:nvPr/>
        </p:nvSpPr>
        <p:spPr>
          <a:xfrm>
            <a:off x="8127797" y="1481328"/>
            <a:ext cx="3515258" cy="2208276"/>
          </a:xfrm>
          <a:prstGeom prst="roundRect">
            <a:avLst>
              <a:gd name="adj" fmla="val 4141"/>
            </a:avLst>
          </a:prstGeom>
          <a:solidFill>
            <a:schemeClr val="bg2"/>
          </a:solidFill>
          <a:ln/>
        </p:spPr>
      </p:sp>
      <p:sp>
        <p:nvSpPr>
          <p:cNvPr id="16" name="circulo-478"/>
          <p:cNvSpPr/>
          <p:nvPr/>
        </p:nvSpPr>
        <p:spPr>
          <a:xfrm>
            <a:off x="8328965" y="1682496"/>
            <a:ext cx="438912" cy="438912"/>
          </a:xfrm>
          <a:prstGeom prst="ellipse">
            <a:avLst/>
          </a:prstGeom>
          <a:solidFill>
            <a:schemeClr val="accent3"/>
          </a:solidFill>
          <a:ln/>
        </p:spPr>
      </p:sp>
      <p:sp>
        <p:nvSpPr>
          <p:cNvPr id="17" name="num-479"/>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480"/>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Independientes</a:t>
            </a:r>
            <a:endParaRPr lang="en-US" sz="1700" dirty="0"/>
          </a:p>
        </p:txBody>
      </p:sp>
      <p:sp>
        <p:nvSpPr>
          <p:cNvPr id="19" name="desc-481"/>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Cada prueba prepara sus datos y no depende del orden.</a:t>
            </a:r>
            <a:endParaRPr lang="en-US" sz="1600" dirty="0"/>
          </a:p>
        </p:txBody>
      </p:sp>
      <p:sp>
        <p:nvSpPr>
          <p:cNvPr id="20" name="tarjeta-482"/>
          <p:cNvSpPr/>
          <p:nvPr/>
        </p:nvSpPr>
        <p:spPr>
          <a:xfrm>
            <a:off x="548640" y="3963924"/>
            <a:ext cx="3515258" cy="2208276"/>
          </a:xfrm>
          <a:prstGeom prst="roundRect">
            <a:avLst>
              <a:gd name="adj" fmla="val 4141"/>
            </a:avLst>
          </a:prstGeom>
          <a:solidFill>
            <a:schemeClr val="bg2"/>
          </a:solidFill>
          <a:ln/>
        </p:spPr>
      </p:sp>
      <p:sp>
        <p:nvSpPr>
          <p:cNvPr id="21" name="circulo-483"/>
          <p:cNvSpPr/>
          <p:nvPr/>
        </p:nvSpPr>
        <p:spPr>
          <a:xfrm>
            <a:off x="749808" y="4165092"/>
            <a:ext cx="438912" cy="438912"/>
          </a:xfrm>
          <a:prstGeom prst="ellipse">
            <a:avLst/>
          </a:prstGeom>
          <a:solidFill>
            <a:schemeClr val="accent4"/>
          </a:solidFill>
          <a:ln/>
        </p:spPr>
      </p:sp>
      <p:sp>
        <p:nvSpPr>
          <p:cNvPr id="22" name="num-484"/>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485"/>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Por riesgo</a:t>
            </a:r>
            <a:endParaRPr lang="en-US" sz="1700" dirty="0"/>
          </a:p>
        </p:txBody>
      </p:sp>
      <p:sp>
        <p:nvSpPr>
          <p:cNvPr id="24" name="desc-486"/>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Casos límite, errores, persistencia y concurrencia primero.</a:t>
            </a:r>
            <a:endParaRPr lang="en-US" sz="1600" dirty="0"/>
          </a:p>
        </p:txBody>
      </p:sp>
      <p:sp>
        <p:nvSpPr>
          <p:cNvPr id="25" name="tarjeta-487"/>
          <p:cNvSpPr/>
          <p:nvPr/>
        </p:nvSpPr>
        <p:spPr>
          <a:xfrm>
            <a:off x="4338218" y="3963924"/>
            <a:ext cx="3515258" cy="2208276"/>
          </a:xfrm>
          <a:prstGeom prst="roundRect">
            <a:avLst>
              <a:gd name="adj" fmla="val 4141"/>
            </a:avLst>
          </a:prstGeom>
          <a:solidFill>
            <a:schemeClr val="bg2"/>
          </a:solidFill>
          <a:ln/>
        </p:spPr>
      </p:sp>
      <p:sp>
        <p:nvSpPr>
          <p:cNvPr id="26" name="circulo-488"/>
          <p:cNvSpPr/>
          <p:nvPr/>
        </p:nvSpPr>
        <p:spPr>
          <a:xfrm>
            <a:off x="4539386" y="4165092"/>
            <a:ext cx="438912" cy="438912"/>
          </a:xfrm>
          <a:prstGeom prst="ellipse">
            <a:avLst/>
          </a:prstGeom>
          <a:solidFill>
            <a:schemeClr val="accent6"/>
          </a:solidFill>
          <a:ln/>
        </p:spPr>
      </p:sp>
      <p:sp>
        <p:nvSpPr>
          <p:cNvPr id="27" name="num-489"/>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490"/>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Nombres que describen</a:t>
            </a:r>
            <a:endParaRPr lang="en-US" sz="1700" dirty="0"/>
          </a:p>
        </p:txBody>
      </p:sp>
      <p:sp>
        <p:nvSpPr>
          <p:cNvPr id="29" name="desc-491"/>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rechazaLaCuartaTareaEnCurso dice qué se espera.</a:t>
            </a:r>
            <a:endParaRPr lang="en-US" sz="1600" dirty="0"/>
          </a:p>
        </p:txBody>
      </p:sp>
      <p:sp>
        <p:nvSpPr>
          <p:cNvPr id="30" name="tarjeta-492"/>
          <p:cNvSpPr/>
          <p:nvPr/>
        </p:nvSpPr>
        <p:spPr>
          <a:xfrm>
            <a:off x="8127797" y="3963924"/>
            <a:ext cx="3515258" cy="2208276"/>
          </a:xfrm>
          <a:prstGeom prst="roundRect">
            <a:avLst>
              <a:gd name="adj" fmla="val 4141"/>
            </a:avLst>
          </a:prstGeom>
          <a:solidFill>
            <a:schemeClr val="bg2"/>
          </a:solidFill>
          <a:ln/>
        </p:spPr>
      </p:sp>
      <p:sp>
        <p:nvSpPr>
          <p:cNvPr id="31" name="circulo-493"/>
          <p:cNvSpPr/>
          <p:nvPr/>
        </p:nvSpPr>
        <p:spPr>
          <a:xfrm>
            <a:off x="8328965" y="4165092"/>
            <a:ext cx="438912" cy="438912"/>
          </a:xfrm>
          <a:prstGeom prst="ellipse">
            <a:avLst/>
          </a:prstGeom>
          <a:solidFill>
            <a:schemeClr val="accent5"/>
          </a:solidFill>
          <a:ln/>
        </p:spPr>
      </p:sp>
      <p:sp>
        <p:nvSpPr>
          <p:cNvPr id="32" name="num-494"/>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495"/>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Cobertura como guía</a:t>
            </a:r>
            <a:endParaRPr lang="en-US" sz="1700" dirty="0"/>
          </a:p>
        </p:txBody>
      </p:sp>
      <p:sp>
        <p:nvSpPr>
          <p:cNvPr id="34" name="desc-496"/>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Útil para ver lo no probado; no es la meta.</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08</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Git y control de versiones</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Historial completo del proyecto, trabajo en paralelo y revisión de cambios antes de integrarlos.</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GIT</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Conceptos básicos de Git</a:t>
            </a:r>
            <a:endParaRPr lang="en-US" sz="3400" dirty="0"/>
          </a:p>
        </p:txBody>
      </p:sp>
      <p:sp>
        <p:nvSpPr>
          <p:cNvPr id="5" name="tarjeta-497"/>
          <p:cNvSpPr/>
          <p:nvPr/>
        </p:nvSpPr>
        <p:spPr>
          <a:xfrm>
            <a:off x="548640" y="1481328"/>
            <a:ext cx="3515258" cy="2208276"/>
          </a:xfrm>
          <a:prstGeom prst="roundRect">
            <a:avLst>
              <a:gd name="adj" fmla="val 4141"/>
            </a:avLst>
          </a:prstGeom>
          <a:solidFill>
            <a:schemeClr val="bg2"/>
          </a:solidFill>
          <a:ln/>
        </p:spPr>
      </p:sp>
      <p:sp>
        <p:nvSpPr>
          <p:cNvPr id="6" name="circulo-498"/>
          <p:cNvSpPr/>
          <p:nvPr/>
        </p:nvSpPr>
        <p:spPr>
          <a:xfrm>
            <a:off x="749808" y="1682496"/>
            <a:ext cx="438912" cy="438912"/>
          </a:xfrm>
          <a:prstGeom prst="ellipse">
            <a:avLst/>
          </a:prstGeom>
          <a:solidFill>
            <a:schemeClr val="accent1"/>
          </a:solidFill>
          <a:ln/>
        </p:spPr>
      </p:sp>
      <p:sp>
        <p:nvSpPr>
          <p:cNvPr id="7" name="num-499"/>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500"/>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Repositorio</a:t>
            </a:r>
            <a:endParaRPr lang="en-US" sz="1700" dirty="0"/>
          </a:p>
        </p:txBody>
      </p:sp>
      <p:sp>
        <p:nvSpPr>
          <p:cNvPr id="9" name="desc-501"/>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La carpeta con todo el historial (.git).</a:t>
            </a:r>
            <a:endParaRPr lang="en-US" sz="1600" dirty="0"/>
          </a:p>
        </p:txBody>
      </p:sp>
      <p:sp>
        <p:nvSpPr>
          <p:cNvPr id="10" name="tarjeta-502"/>
          <p:cNvSpPr/>
          <p:nvPr/>
        </p:nvSpPr>
        <p:spPr>
          <a:xfrm>
            <a:off x="4338218" y="1481328"/>
            <a:ext cx="3515258" cy="2208276"/>
          </a:xfrm>
          <a:prstGeom prst="roundRect">
            <a:avLst>
              <a:gd name="adj" fmla="val 4141"/>
            </a:avLst>
          </a:prstGeom>
          <a:solidFill>
            <a:schemeClr val="bg2"/>
          </a:solidFill>
          <a:ln/>
        </p:spPr>
      </p:sp>
      <p:sp>
        <p:nvSpPr>
          <p:cNvPr id="11" name="circulo-503"/>
          <p:cNvSpPr/>
          <p:nvPr/>
        </p:nvSpPr>
        <p:spPr>
          <a:xfrm>
            <a:off x="4539386" y="1682496"/>
            <a:ext cx="438912" cy="438912"/>
          </a:xfrm>
          <a:prstGeom prst="ellipse">
            <a:avLst/>
          </a:prstGeom>
          <a:solidFill>
            <a:schemeClr val="accent2"/>
          </a:solidFill>
          <a:ln/>
        </p:spPr>
      </p:sp>
      <p:sp>
        <p:nvSpPr>
          <p:cNvPr id="12" name="num-504"/>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505"/>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Commit</a:t>
            </a:r>
            <a:endParaRPr lang="en-US" sz="1700" dirty="0"/>
          </a:p>
        </p:txBody>
      </p:sp>
      <p:sp>
        <p:nvSpPr>
          <p:cNvPr id="14" name="desc-506"/>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Una foto del proyecto: pequeña, atómica y con mensaje claro.</a:t>
            </a:r>
            <a:endParaRPr lang="en-US" sz="1600" dirty="0"/>
          </a:p>
        </p:txBody>
      </p:sp>
      <p:sp>
        <p:nvSpPr>
          <p:cNvPr id="15" name="tarjeta-507"/>
          <p:cNvSpPr/>
          <p:nvPr/>
        </p:nvSpPr>
        <p:spPr>
          <a:xfrm>
            <a:off x="8127797" y="1481328"/>
            <a:ext cx="3515258" cy="2208276"/>
          </a:xfrm>
          <a:prstGeom prst="roundRect">
            <a:avLst>
              <a:gd name="adj" fmla="val 4141"/>
            </a:avLst>
          </a:prstGeom>
          <a:solidFill>
            <a:schemeClr val="bg2"/>
          </a:solidFill>
          <a:ln/>
        </p:spPr>
      </p:sp>
      <p:sp>
        <p:nvSpPr>
          <p:cNvPr id="16" name="circulo-508"/>
          <p:cNvSpPr/>
          <p:nvPr/>
        </p:nvSpPr>
        <p:spPr>
          <a:xfrm>
            <a:off x="8328965" y="1682496"/>
            <a:ext cx="438912" cy="438912"/>
          </a:xfrm>
          <a:prstGeom prst="ellipse">
            <a:avLst/>
          </a:prstGeom>
          <a:solidFill>
            <a:schemeClr val="accent3"/>
          </a:solidFill>
          <a:ln/>
        </p:spPr>
      </p:sp>
      <p:sp>
        <p:nvSpPr>
          <p:cNvPr id="17" name="num-509"/>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510"/>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Rama (branch)</a:t>
            </a:r>
            <a:endParaRPr lang="en-US" sz="1700" dirty="0"/>
          </a:p>
        </p:txBody>
      </p:sp>
      <p:sp>
        <p:nvSpPr>
          <p:cNvPr id="19" name="desc-511"/>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Una línea de trabajo paralela, como feature/mover-tarea.</a:t>
            </a:r>
            <a:endParaRPr lang="en-US" sz="1600" dirty="0"/>
          </a:p>
        </p:txBody>
      </p:sp>
      <p:sp>
        <p:nvSpPr>
          <p:cNvPr id="20" name="tarjeta-512"/>
          <p:cNvSpPr/>
          <p:nvPr/>
        </p:nvSpPr>
        <p:spPr>
          <a:xfrm>
            <a:off x="548640" y="3963924"/>
            <a:ext cx="3515258" cy="2208276"/>
          </a:xfrm>
          <a:prstGeom prst="roundRect">
            <a:avLst>
              <a:gd name="adj" fmla="val 4141"/>
            </a:avLst>
          </a:prstGeom>
          <a:solidFill>
            <a:schemeClr val="bg2"/>
          </a:solidFill>
          <a:ln/>
        </p:spPr>
      </p:sp>
      <p:sp>
        <p:nvSpPr>
          <p:cNvPr id="21" name="circulo-513"/>
          <p:cNvSpPr/>
          <p:nvPr/>
        </p:nvSpPr>
        <p:spPr>
          <a:xfrm>
            <a:off x="749808" y="4165092"/>
            <a:ext cx="438912" cy="438912"/>
          </a:xfrm>
          <a:prstGeom prst="ellipse">
            <a:avLst/>
          </a:prstGeom>
          <a:solidFill>
            <a:schemeClr val="accent4"/>
          </a:solidFill>
          <a:ln/>
        </p:spPr>
      </p:sp>
      <p:sp>
        <p:nvSpPr>
          <p:cNvPr id="22" name="num-514"/>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515"/>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Merge y rebase</a:t>
            </a:r>
            <a:endParaRPr lang="en-US" sz="1700" dirty="0"/>
          </a:p>
        </p:txBody>
      </p:sp>
      <p:sp>
        <p:nvSpPr>
          <p:cNvPr id="24" name="desc-516"/>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Integrar ramas. Merge conserva historia; rebase la alinea.</a:t>
            </a:r>
            <a:endParaRPr lang="en-US" sz="1600" dirty="0"/>
          </a:p>
        </p:txBody>
      </p:sp>
      <p:sp>
        <p:nvSpPr>
          <p:cNvPr id="25" name="tarjeta-517"/>
          <p:cNvSpPr/>
          <p:nvPr/>
        </p:nvSpPr>
        <p:spPr>
          <a:xfrm>
            <a:off x="4338218" y="3963924"/>
            <a:ext cx="3515258" cy="2208276"/>
          </a:xfrm>
          <a:prstGeom prst="roundRect">
            <a:avLst>
              <a:gd name="adj" fmla="val 4141"/>
            </a:avLst>
          </a:prstGeom>
          <a:solidFill>
            <a:schemeClr val="bg2"/>
          </a:solidFill>
          <a:ln/>
        </p:spPr>
      </p:sp>
      <p:sp>
        <p:nvSpPr>
          <p:cNvPr id="26" name="circulo-518"/>
          <p:cNvSpPr/>
          <p:nvPr/>
        </p:nvSpPr>
        <p:spPr>
          <a:xfrm>
            <a:off x="4539386" y="4165092"/>
            <a:ext cx="438912" cy="438912"/>
          </a:xfrm>
          <a:prstGeom prst="ellipse">
            <a:avLst/>
          </a:prstGeom>
          <a:solidFill>
            <a:schemeClr val="accent6"/>
          </a:solidFill>
          <a:ln/>
        </p:spPr>
      </p:sp>
      <p:sp>
        <p:nvSpPr>
          <p:cNvPr id="27" name="num-519"/>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520"/>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Remoto</a:t>
            </a:r>
            <a:endParaRPr lang="en-US" sz="1700" dirty="0"/>
          </a:p>
        </p:txBody>
      </p:sp>
      <p:sp>
        <p:nvSpPr>
          <p:cNvPr id="29" name="desc-521"/>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push sube, pull/fetch traen cambios de GitHub o GitLab.</a:t>
            </a:r>
            <a:endParaRPr lang="en-US" sz="1600" dirty="0"/>
          </a:p>
        </p:txBody>
      </p:sp>
      <p:sp>
        <p:nvSpPr>
          <p:cNvPr id="30" name="tarjeta-522"/>
          <p:cNvSpPr/>
          <p:nvPr/>
        </p:nvSpPr>
        <p:spPr>
          <a:xfrm>
            <a:off x="8127797" y="3963924"/>
            <a:ext cx="3515258" cy="2208276"/>
          </a:xfrm>
          <a:prstGeom prst="roundRect">
            <a:avLst>
              <a:gd name="adj" fmla="val 4141"/>
            </a:avLst>
          </a:prstGeom>
          <a:solidFill>
            <a:schemeClr val="bg2"/>
          </a:solidFill>
          <a:ln/>
        </p:spPr>
      </p:sp>
      <p:sp>
        <p:nvSpPr>
          <p:cNvPr id="31" name="circulo-523"/>
          <p:cNvSpPr/>
          <p:nvPr/>
        </p:nvSpPr>
        <p:spPr>
          <a:xfrm>
            <a:off x="8328965" y="4165092"/>
            <a:ext cx="438912" cy="438912"/>
          </a:xfrm>
          <a:prstGeom prst="ellipse">
            <a:avLst/>
          </a:prstGeom>
          <a:solidFill>
            <a:schemeClr val="accent5"/>
          </a:solidFill>
          <a:ln/>
        </p:spPr>
      </p:sp>
      <p:sp>
        <p:nvSpPr>
          <p:cNvPr id="32" name="num-524"/>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525"/>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Pull Request</a:t>
            </a:r>
            <a:endParaRPr lang="en-US" sz="1700" dirty="0"/>
          </a:p>
        </p:txBody>
      </p:sp>
      <p:sp>
        <p:nvSpPr>
          <p:cNvPr id="34" name="desc-526"/>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Propuesta de cambio que otros revisan antes de integrarla.</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GIT</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Estrategias de ramas</a:t>
            </a:r>
            <a:endParaRPr lang="en-US" sz="3400" dirty="0"/>
          </a:p>
        </p:txBody>
      </p:sp>
      <p:graphicFrame>
        <p:nvGraphicFramePr>
          <p:cNvPr id="45" name="tabla-527"/>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377440"/>
                <a:gridCol w="5394960"/>
                <a:gridCol w="3319272"/>
              </a:tblGrid>
              <a:tr h="822960">
                <a:tc>
                  <a:txBody>
                    <a:bodyPr/>
                    <a:lstStyle/>
                    <a:p>
                      <a:pPr indent="0" marL="0">
                        <a:buNone/>
                      </a:pPr>
                      <a:r>
                        <a:rPr lang="en-US" sz="1400" b="1" dirty="0">
                          <a:solidFill>
                            <a:schemeClr val="bg1"/>
                          </a:solidFill>
                        </a:rPr>
                        <a:t>Estrategia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Cómo funciona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Para quién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822960">
                <a:tc>
                  <a:txBody>
                    <a:bodyPr/>
                    <a:lstStyle/>
                    <a:p>
                      <a:pPr indent="0" marL="0">
                        <a:buNone/>
                      </a:pPr>
                      <a:r>
                        <a:rPr lang="en-US" sz="1400" b="1" dirty="0">
                          <a:solidFill>
                            <a:schemeClr val="tx1"/>
                          </a:solidFill>
                        </a:rPr>
                        <a:t>GitHub Flow</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main siempre desplegable; ramas cortas feature/x con Pull Request</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 mayoría de los equipos (recomendada)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822960">
                <a:tc>
                  <a:txBody>
                    <a:bodyPr/>
                    <a:lstStyle/>
                    <a:p>
                      <a:pPr indent="0" marL="0">
                        <a:buNone/>
                      </a:pPr>
                      <a:r>
                        <a:rPr lang="en-US" sz="1400" b="1" dirty="0">
                          <a:solidFill>
                            <a:schemeClr val="tx1"/>
                          </a:solidFill>
                        </a:rPr>
                        <a:t>Git Flow</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main, develop, feature/*, release/* y hotfix/*</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Productos con versiones formales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822960">
                <a:tc>
                  <a:txBody>
                    <a:bodyPr/>
                    <a:lstStyle/>
                    <a:p>
                      <a:pPr indent="0" marL="0">
                        <a:buNone/>
                      </a:pPr>
                      <a:r>
                        <a:rPr lang="en-US" sz="1400" b="1" dirty="0">
                          <a:solidFill>
                            <a:schemeClr val="tx1"/>
                          </a:solidFill>
                        </a:rPr>
                        <a:t>Trunk-based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Todos integran a main varias veces al día con feature flags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Equipos maduros con mucha automatización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6" name="destacado-528"/>
          <p:cNvSpPr/>
          <p:nvPr/>
        </p:nvSpPr>
        <p:spPr>
          <a:xfrm>
            <a:off x="548640" y="5212080"/>
            <a:ext cx="11094415" cy="566928"/>
          </a:xfrm>
          <a:prstGeom prst="roundRect">
            <a:avLst>
              <a:gd name="adj" fmla="val 12903"/>
            </a:avLst>
          </a:prstGeom>
          <a:solidFill>
            <a:schemeClr val="tx2"/>
          </a:solidFill>
          <a:ln/>
        </p:spPr>
      </p:sp>
      <p:sp>
        <p:nvSpPr>
          <p:cNvPr id="7" name="destacado-t-529"/>
          <p:cNvSpPr txBox="1"/>
          <p:nvPr/>
        </p:nvSpPr>
        <p:spPr>
          <a:xfrm>
            <a:off x="822960" y="5212080"/>
            <a:ext cx="10545775" cy="566928"/>
          </a:xfrm>
          <a:prstGeom prst="rect">
            <a:avLst/>
          </a:prstGeom>
          <a:noFill/>
          <a:ln/>
        </p:spPr>
        <p:txBody>
          <a:bodyPr wrap="square" lIns="0" tIns="0" rIns="0" bIns="0" rtlCol="0" anchor="ctr"/>
          <a:lstStyle/>
          <a:p>
            <a:pPr indent="0" marL="0">
              <a:buNone/>
            </a:pPr>
            <a:r>
              <a:rPr lang="en-US" sz="1600" dirty="0">
                <a:solidFill>
                  <a:schemeClr val="bg1"/>
                </a:solidFill>
              </a:rPr>
              <a:t>Ramas protegidas: nadie empuja directo a main; se entra por PR aprobado y con CI en verde.</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GIT</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Flujo de trabajo con Pull Requests</a:t>
            </a:r>
            <a:endParaRPr lang="en-US" sz="3400" dirty="0"/>
          </a:p>
        </p:txBody>
      </p:sp>
      <p:sp>
        <p:nvSpPr>
          <p:cNvPr id="5" name="paso-530"/>
          <p:cNvSpPr/>
          <p:nvPr/>
        </p:nvSpPr>
        <p:spPr>
          <a:xfrm>
            <a:off x="548640" y="1847088"/>
            <a:ext cx="1529029" cy="822960"/>
          </a:xfrm>
          <a:prstGeom prst="roundRect">
            <a:avLst>
              <a:gd name="adj" fmla="val 11111"/>
            </a:avLst>
          </a:prstGeom>
          <a:solidFill>
            <a:schemeClr val="tx2"/>
          </a:solidFill>
          <a:ln/>
        </p:spPr>
      </p:sp>
      <p:sp>
        <p:nvSpPr>
          <p:cNvPr id="6" name="paso-t-531"/>
          <p:cNvSpPr txBox="1"/>
          <p:nvPr/>
        </p:nvSpPr>
        <p:spPr>
          <a:xfrm>
            <a:off x="621792"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Historia</a:t>
            </a:r>
            <a:endParaRPr lang="en-US" sz="1500" dirty="0"/>
          </a:p>
        </p:txBody>
      </p:sp>
      <p:sp>
        <p:nvSpPr>
          <p:cNvPr id="7" name="flecha-532"/>
          <p:cNvSpPr/>
          <p:nvPr/>
        </p:nvSpPr>
        <p:spPr>
          <a:xfrm>
            <a:off x="2141677" y="2139696"/>
            <a:ext cx="256032" cy="237744"/>
          </a:xfrm>
          <a:prstGeom prst="rightArrow">
            <a:avLst/>
          </a:prstGeom>
          <a:solidFill>
            <a:schemeClr val="accent5"/>
          </a:solidFill>
          <a:ln/>
        </p:spPr>
      </p:sp>
      <p:sp>
        <p:nvSpPr>
          <p:cNvPr id="8" name="paso-d-533"/>
          <p:cNvSpPr txBox="1"/>
          <p:nvPr/>
        </p:nvSpPr>
        <p:spPr>
          <a:xfrm>
            <a:off x="548640" y="2852928"/>
            <a:ext cx="1529029" cy="1280160"/>
          </a:xfrm>
          <a:prstGeom prst="rect">
            <a:avLst/>
          </a:prstGeom>
          <a:noFill/>
          <a:ln/>
        </p:spPr>
        <p:txBody>
          <a:bodyPr wrap="square" lIns="0" tIns="0" rIns="0" bIns="0" rtlCol="0" anchor="t"/>
          <a:lstStyle/>
          <a:p>
            <a:pPr indent="0" marL="0">
              <a:buNone/>
            </a:pPr>
            <a:r>
              <a:rPr lang="en-US" sz="1400" dirty="0">
                <a:solidFill>
                  <a:schemeClr val="tx1"/>
                </a:solidFill>
              </a:rPr>
              <a:t>Una historia pequeña y clara</a:t>
            </a:r>
            <a:endParaRPr lang="en-US" sz="1400" dirty="0"/>
          </a:p>
        </p:txBody>
      </p:sp>
      <p:sp>
        <p:nvSpPr>
          <p:cNvPr id="9" name="paso-534"/>
          <p:cNvSpPr/>
          <p:nvPr/>
        </p:nvSpPr>
        <p:spPr>
          <a:xfrm>
            <a:off x="2461717" y="1847088"/>
            <a:ext cx="1529029" cy="822960"/>
          </a:xfrm>
          <a:prstGeom prst="roundRect">
            <a:avLst>
              <a:gd name="adj" fmla="val 11111"/>
            </a:avLst>
          </a:prstGeom>
          <a:solidFill>
            <a:schemeClr val="tx2"/>
          </a:solidFill>
          <a:ln/>
        </p:spPr>
      </p:sp>
      <p:sp>
        <p:nvSpPr>
          <p:cNvPr id="10" name="paso-t-535"/>
          <p:cNvSpPr txBox="1"/>
          <p:nvPr/>
        </p:nvSpPr>
        <p:spPr>
          <a:xfrm>
            <a:off x="2534869"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Rama</a:t>
            </a:r>
            <a:endParaRPr lang="en-US" sz="1500" dirty="0"/>
          </a:p>
        </p:txBody>
      </p:sp>
      <p:sp>
        <p:nvSpPr>
          <p:cNvPr id="11" name="flecha-536"/>
          <p:cNvSpPr/>
          <p:nvPr/>
        </p:nvSpPr>
        <p:spPr>
          <a:xfrm>
            <a:off x="4054754" y="2139696"/>
            <a:ext cx="256032" cy="237744"/>
          </a:xfrm>
          <a:prstGeom prst="rightArrow">
            <a:avLst/>
          </a:prstGeom>
          <a:solidFill>
            <a:schemeClr val="accent5"/>
          </a:solidFill>
          <a:ln/>
        </p:spPr>
      </p:sp>
      <p:sp>
        <p:nvSpPr>
          <p:cNvPr id="12" name="paso-d-537"/>
          <p:cNvSpPr txBox="1"/>
          <p:nvPr/>
        </p:nvSpPr>
        <p:spPr>
          <a:xfrm>
            <a:off x="2461717" y="2852928"/>
            <a:ext cx="1529029" cy="1280160"/>
          </a:xfrm>
          <a:prstGeom prst="rect">
            <a:avLst/>
          </a:prstGeom>
          <a:noFill/>
          <a:ln/>
        </p:spPr>
        <p:txBody>
          <a:bodyPr wrap="square" lIns="0" tIns="0" rIns="0" bIns="0" rtlCol="0" anchor="t"/>
          <a:lstStyle/>
          <a:p>
            <a:pPr indent="0" marL="0">
              <a:buNone/>
            </a:pPr>
            <a:r>
              <a:rPr lang="en-US" sz="1400" dirty="0">
                <a:solidFill>
                  <a:schemeClr val="tx1"/>
                </a:solidFill>
              </a:rPr>
              <a:t>feature/nombre-corto desde main</a:t>
            </a:r>
            <a:endParaRPr lang="en-US" sz="1400" dirty="0"/>
          </a:p>
        </p:txBody>
      </p:sp>
      <p:sp>
        <p:nvSpPr>
          <p:cNvPr id="13" name="paso-538"/>
          <p:cNvSpPr/>
          <p:nvPr/>
        </p:nvSpPr>
        <p:spPr>
          <a:xfrm>
            <a:off x="4374794" y="1847088"/>
            <a:ext cx="1529029" cy="822960"/>
          </a:xfrm>
          <a:prstGeom prst="roundRect">
            <a:avLst>
              <a:gd name="adj" fmla="val 11111"/>
            </a:avLst>
          </a:prstGeom>
          <a:solidFill>
            <a:schemeClr val="tx2"/>
          </a:solidFill>
          <a:ln/>
        </p:spPr>
      </p:sp>
      <p:sp>
        <p:nvSpPr>
          <p:cNvPr id="14" name="paso-t-539"/>
          <p:cNvSpPr txBox="1"/>
          <p:nvPr/>
        </p:nvSpPr>
        <p:spPr>
          <a:xfrm>
            <a:off x="4447946"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Commits</a:t>
            </a:r>
            <a:endParaRPr lang="en-US" sz="1500" dirty="0"/>
          </a:p>
        </p:txBody>
      </p:sp>
      <p:sp>
        <p:nvSpPr>
          <p:cNvPr id="15" name="flecha-540"/>
          <p:cNvSpPr/>
          <p:nvPr/>
        </p:nvSpPr>
        <p:spPr>
          <a:xfrm>
            <a:off x="5967832" y="2139696"/>
            <a:ext cx="256032" cy="237744"/>
          </a:xfrm>
          <a:prstGeom prst="rightArrow">
            <a:avLst/>
          </a:prstGeom>
          <a:solidFill>
            <a:schemeClr val="accent5"/>
          </a:solidFill>
          <a:ln/>
        </p:spPr>
      </p:sp>
      <p:sp>
        <p:nvSpPr>
          <p:cNvPr id="16" name="paso-d-541"/>
          <p:cNvSpPr txBox="1"/>
          <p:nvPr/>
        </p:nvSpPr>
        <p:spPr>
          <a:xfrm>
            <a:off x="4374794" y="2852928"/>
            <a:ext cx="1529029" cy="1280160"/>
          </a:xfrm>
          <a:prstGeom prst="rect">
            <a:avLst/>
          </a:prstGeom>
          <a:noFill/>
          <a:ln/>
        </p:spPr>
        <p:txBody>
          <a:bodyPr wrap="square" lIns="0" tIns="0" rIns="0" bIns="0" rtlCol="0" anchor="t"/>
          <a:lstStyle/>
          <a:p>
            <a:pPr indent="0" marL="0">
              <a:buNone/>
            </a:pPr>
            <a:r>
              <a:rPr lang="en-US" sz="1400" dirty="0">
                <a:solidFill>
                  <a:schemeClr val="tx1"/>
                </a:solidFill>
              </a:rPr>
              <a:t>Pequeños y con mensajes convencionales</a:t>
            </a:r>
            <a:endParaRPr lang="en-US" sz="1400" dirty="0"/>
          </a:p>
        </p:txBody>
      </p:sp>
      <p:sp>
        <p:nvSpPr>
          <p:cNvPr id="17" name="paso-542"/>
          <p:cNvSpPr/>
          <p:nvPr/>
        </p:nvSpPr>
        <p:spPr>
          <a:xfrm>
            <a:off x="6287872" y="1847088"/>
            <a:ext cx="1529029" cy="822960"/>
          </a:xfrm>
          <a:prstGeom prst="roundRect">
            <a:avLst>
              <a:gd name="adj" fmla="val 11111"/>
            </a:avLst>
          </a:prstGeom>
          <a:solidFill>
            <a:schemeClr val="tx2"/>
          </a:solidFill>
          <a:ln/>
        </p:spPr>
      </p:sp>
      <p:sp>
        <p:nvSpPr>
          <p:cNvPr id="18" name="paso-t-543"/>
          <p:cNvSpPr txBox="1"/>
          <p:nvPr/>
        </p:nvSpPr>
        <p:spPr>
          <a:xfrm>
            <a:off x="6361024"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Pull Request</a:t>
            </a:r>
            <a:endParaRPr lang="en-US" sz="1500" dirty="0"/>
          </a:p>
        </p:txBody>
      </p:sp>
      <p:sp>
        <p:nvSpPr>
          <p:cNvPr id="19" name="flecha-544"/>
          <p:cNvSpPr/>
          <p:nvPr/>
        </p:nvSpPr>
        <p:spPr>
          <a:xfrm>
            <a:off x="7880909" y="2139696"/>
            <a:ext cx="256032" cy="237744"/>
          </a:xfrm>
          <a:prstGeom prst="rightArrow">
            <a:avLst/>
          </a:prstGeom>
          <a:solidFill>
            <a:schemeClr val="accent5"/>
          </a:solidFill>
          <a:ln/>
        </p:spPr>
      </p:sp>
      <p:sp>
        <p:nvSpPr>
          <p:cNvPr id="20" name="paso-d-545"/>
          <p:cNvSpPr txBox="1"/>
          <p:nvPr/>
        </p:nvSpPr>
        <p:spPr>
          <a:xfrm>
            <a:off x="6287872" y="2852928"/>
            <a:ext cx="1529029" cy="1280160"/>
          </a:xfrm>
          <a:prstGeom prst="rect">
            <a:avLst/>
          </a:prstGeom>
          <a:noFill/>
          <a:ln/>
        </p:spPr>
        <p:txBody>
          <a:bodyPr wrap="square" lIns="0" tIns="0" rIns="0" bIns="0" rtlCol="0" anchor="t"/>
          <a:lstStyle/>
          <a:p>
            <a:pPr indent="0" marL="0">
              <a:buNone/>
            </a:pPr>
            <a:r>
              <a:rPr lang="en-US" sz="1400" dirty="0">
                <a:solidFill>
                  <a:schemeClr val="tx1"/>
                </a:solidFill>
              </a:rPr>
              <a:t>Qué cambia, por qué y cómo se probó</a:t>
            </a:r>
            <a:endParaRPr lang="en-US" sz="1400" dirty="0"/>
          </a:p>
        </p:txBody>
      </p:sp>
      <p:sp>
        <p:nvSpPr>
          <p:cNvPr id="21" name="paso-546"/>
          <p:cNvSpPr/>
          <p:nvPr/>
        </p:nvSpPr>
        <p:spPr>
          <a:xfrm>
            <a:off x="8200949" y="1847088"/>
            <a:ext cx="1529029" cy="822960"/>
          </a:xfrm>
          <a:prstGeom prst="roundRect">
            <a:avLst>
              <a:gd name="adj" fmla="val 11111"/>
            </a:avLst>
          </a:prstGeom>
          <a:solidFill>
            <a:schemeClr val="tx2"/>
          </a:solidFill>
          <a:ln/>
        </p:spPr>
      </p:sp>
      <p:sp>
        <p:nvSpPr>
          <p:cNvPr id="22" name="paso-t-547"/>
          <p:cNvSpPr txBox="1"/>
          <p:nvPr/>
        </p:nvSpPr>
        <p:spPr>
          <a:xfrm>
            <a:off x="8274101"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Revisión + CI</a:t>
            </a:r>
            <a:endParaRPr lang="en-US" sz="1500" dirty="0"/>
          </a:p>
        </p:txBody>
      </p:sp>
      <p:sp>
        <p:nvSpPr>
          <p:cNvPr id="23" name="flecha-548"/>
          <p:cNvSpPr/>
          <p:nvPr/>
        </p:nvSpPr>
        <p:spPr>
          <a:xfrm>
            <a:off x="9793986" y="2139696"/>
            <a:ext cx="256032" cy="237744"/>
          </a:xfrm>
          <a:prstGeom prst="rightArrow">
            <a:avLst/>
          </a:prstGeom>
          <a:solidFill>
            <a:schemeClr val="accent5"/>
          </a:solidFill>
          <a:ln/>
        </p:spPr>
      </p:sp>
      <p:sp>
        <p:nvSpPr>
          <p:cNvPr id="24" name="paso-d-549"/>
          <p:cNvSpPr txBox="1"/>
          <p:nvPr/>
        </p:nvSpPr>
        <p:spPr>
          <a:xfrm>
            <a:off x="8200949" y="2852928"/>
            <a:ext cx="1529029" cy="1280160"/>
          </a:xfrm>
          <a:prstGeom prst="rect">
            <a:avLst/>
          </a:prstGeom>
          <a:noFill/>
          <a:ln/>
        </p:spPr>
        <p:txBody>
          <a:bodyPr wrap="square" lIns="0" tIns="0" rIns="0" bIns="0" rtlCol="0" anchor="t"/>
          <a:lstStyle/>
          <a:p>
            <a:pPr indent="0" marL="0">
              <a:buNone/>
            </a:pPr>
            <a:r>
              <a:rPr lang="en-US" sz="1400" dirty="0">
                <a:solidFill>
                  <a:schemeClr val="tx1"/>
                </a:solidFill>
              </a:rPr>
              <a:t>Un compañero revisa; las pruebas pasan</a:t>
            </a:r>
            <a:endParaRPr lang="en-US" sz="1400" dirty="0"/>
          </a:p>
        </p:txBody>
      </p:sp>
      <p:sp>
        <p:nvSpPr>
          <p:cNvPr id="25" name="paso-550"/>
          <p:cNvSpPr/>
          <p:nvPr/>
        </p:nvSpPr>
        <p:spPr>
          <a:xfrm>
            <a:off x="10114026" y="1847088"/>
            <a:ext cx="1529029" cy="822960"/>
          </a:xfrm>
          <a:prstGeom prst="roundRect">
            <a:avLst>
              <a:gd name="adj" fmla="val 11111"/>
            </a:avLst>
          </a:prstGeom>
          <a:solidFill>
            <a:schemeClr val="accent1"/>
          </a:solidFill>
          <a:ln/>
        </p:spPr>
      </p:sp>
      <p:sp>
        <p:nvSpPr>
          <p:cNvPr id="26" name="paso-t-551"/>
          <p:cNvSpPr txBox="1"/>
          <p:nvPr/>
        </p:nvSpPr>
        <p:spPr>
          <a:xfrm>
            <a:off x="10187178" y="184708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Merge</a:t>
            </a:r>
            <a:endParaRPr lang="en-US" sz="1500" dirty="0"/>
          </a:p>
        </p:txBody>
      </p:sp>
      <p:sp>
        <p:nvSpPr>
          <p:cNvPr id="27" name="paso-d-552"/>
          <p:cNvSpPr txBox="1"/>
          <p:nvPr/>
        </p:nvSpPr>
        <p:spPr>
          <a:xfrm>
            <a:off x="10114026" y="2852928"/>
            <a:ext cx="1529029" cy="1280160"/>
          </a:xfrm>
          <a:prstGeom prst="rect">
            <a:avLst/>
          </a:prstGeom>
          <a:noFill/>
          <a:ln/>
        </p:spPr>
        <p:txBody>
          <a:bodyPr wrap="square" lIns="0" tIns="0" rIns="0" bIns="0" rtlCol="0" anchor="t"/>
          <a:lstStyle/>
          <a:p>
            <a:pPr indent="0" marL="0">
              <a:buNone/>
            </a:pPr>
            <a:r>
              <a:rPr lang="en-US" sz="1400" dirty="0">
                <a:solidFill>
                  <a:schemeClr val="tx1"/>
                </a:solidFill>
              </a:rPr>
              <a:t>Se integra a main y se borra la rama</a:t>
            </a:r>
            <a:endParaRPr lang="en-US" sz="1400" dirty="0"/>
          </a:p>
        </p:txBody>
      </p:sp>
      <p:sp>
        <p:nvSpPr>
          <p:cNvPr id="28" name="destacado-553"/>
          <p:cNvSpPr/>
          <p:nvPr/>
        </p:nvSpPr>
        <p:spPr>
          <a:xfrm>
            <a:off x="548640" y="4937760"/>
            <a:ext cx="11094415" cy="566928"/>
          </a:xfrm>
          <a:prstGeom prst="roundRect">
            <a:avLst>
              <a:gd name="adj" fmla="val 12903"/>
            </a:avLst>
          </a:prstGeom>
          <a:solidFill>
            <a:schemeClr val="tx2"/>
          </a:solidFill>
          <a:ln/>
        </p:spPr>
      </p:sp>
      <p:sp>
        <p:nvSpPr>
          <p:cNvPr id="29" name="destacado-t-554"/>
          <p:cNvSpPr txBox="1"/>
          <p:nvPr/>
        </p:nvSpPr>
        <p:spPr>
          <a:xfrm>
            <a:off x="822960" y="4937760"/>
            <a:ext cx="10545775" cy="566928"/>
          </a:xfrm>
          <a:prstGeom prst="rect">
            <a:avLst/>
          </a:prstGeom>
          <a:noFill/>
          <a:ln/>
        </p:spPr>
        <p:txBody>
          <a:bodyPr wrap="square" lIns="0" tIns="0" rIns="0" bIns="0" rtlCol="0" anchor="ctr"/>
          <a:lstStyle/>
          <a:p>
            <a:pPr indent="0" marL="0">
              <a:buNone/>
            </a:pPr>
            <a:r>
              <a:rPr lang="en-US" sz="1600" dirty="0">
                <a:solidFill>
                  <a:schemeClr val="bg1"/>
                </a:solidFill>
              </a:rPr>
              <a:t>Revisar código ajeno también es trabajo: se planifica y se valora.</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GIT</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Convenciones que ordenan el repositorio</a:t>
            </a:r>
            <a:endParaRPr lang="en-US" sz="3400" dirty="0"/>
          </a:p>
        </p:txBody>
      </p:sp>
      <p:sp>
        <p:nvSpPr>
          <p:cNvPr id="5" name="codigo-fondo-555"/>
          <p:cNvSpPr/>
          <p:nvPr/>
        </p:nvSpPr>
        <p:spPr>
          <a:xfrm>
            <a:off x="548640" y="1481328"/>
            <a:ext cx="5760720" cy="4690872"/>
          </a:xfrm>
          <a:prstGeom prst="roundRect">
            <a:avLst>
              <a:gd name="adj" fmla="val 1559"/>
            </a:avLst>
          </a:prstGeom>
          <a:solidFill>
            <a:schemeClr val="tx2"/>
          </a:solidFill>
          <a:ln/>
        </p:spPr>
      </p:sp>
      <p:sp>
        <p:nvSpPr>
          <p:cNvPr id="6" name="codigo-etq-556"/>
          <p:cNvSpPr txBox="1"/>
          <p:nvPr/>
        </p:nvSpPr>
        <p:spPr>
          <a:xfrm>
            <a:off x="822960" y="1645920"/>
            <a:ext cx="5212080" cy="274320"/>
          </a:xfrm>
          <a:prstGeom prst="rect">
            <a:avLst/>
          </a:prstGeom>
          <a:noFill/>
          <a:ln/>
        </p:spPr>
        <p:txBody>
          <a:bodyPr wrap="square" lIns="0" tIns="0" rIns="0" bIns="0" rtlCol="0" anchor="ctr"/>
          <a:lstStyle/>
          <a:p>
            <a:pPr indent="0" marL="0">
              <a:buNone/>
            </a:pPr>
            <a:r>
              <a:rPr lang="en-US" sz="1100" b="1" dirty="0">
                <a:solidFill>
                  <a:schemeClr val="accent3"/>
                </a:solidFill>
              </a:rPr>
              <a:t>CONVENTIONAL COMMITS Y SEMVER</a:t>
            </a:r>
            <a:endParaRPr lang="en-US" sz="1100" dirty="0"/>
          </a:p>
        </p:txBody>
      </p:sp>
      <p:sp>
        <p:nvSpPr>
          <p:cNvPr id="7" name="codigo-557"/>
          <p:cNvSpPr txBox="1"/>
          <p:nvPr/>
        </p:nvSpPr>
        <p:spPr>
          <a:xfrm>
            <a:off x="822960" y="1984248"/>
            <a:ext cx="5212080" cy="4005072"/>
          </a:xfrm>
          <a:prstGeom prst="rect">
            <a:avLst/>
          </a:prstGeom>
          <a:noFill/>
          <a:ln/>
        </p:spPr>
        <p:txBody>
          <a:bodyPr wrap="square" lIns="0" tIns="0" rIns="0" bIns="0" rtlCol="0" anchor="t"/>
          <a:lstStyle/>
          <a:p>
            <a:pPr indent="0" marL="0">
              <a:buNone/>
            </a:pPr>
            <a:r>
              <a:rPr lang="en-US" sz="1400" dirty="0">
                <a:solidFill>
                  <a:srgbClr val="E8EDF5"/>
                </a:solidFill>
                <a:latin typeface="Courier New" pitchFamily="34" charset="0"/>
                <a:ea typeface="Courier New" pitchFamily="34" charset="-122"/>
                <a:cs typeface="Courier New" pitchFamily="34" charset="-120"/>
              </a:rPr>
              <a:t>feat: mover tareas entre columnas</a:t>
            </a:r>
            <a:endParaRPr lang="en-US" sz="1400" dirty="0"/>
          </a:p>
          <a:p>
            <a:pPr indent="0" marL="0">
              <a:buNone/>
            </a:pPr>
            <a:r>
              <a:rPr lang="en-US" sz="1400" dirty="0">
                <a:solidFill>
                  <a:srgbClr val="E8EDF5"/>
                </a:solidFill>
                <a:latin typeface="Courier New" pitchFamily="34" charset="0"/>
                <a:ea typeface="Courier New" pitchFamily="34" charset="-122"/>
                <a:cs typeface="Courier New" pitchFamily="34" charset="-120"/>
              </a:rPr>
              <a:t>fix: rechazar la cuarta tarea en curso</a:t>
            </a:r>
            <a:endParaRPr lang="en-US" sz="1400" dirty="0"/>
          </a:p>
          <a:p>
            <a:pPr indent="0" marL="0">
              <a:buNone/>
            </a:pPr>
            <a:r>
              <a:rPr lang="en-US" sz="1400" dirty="0">
                <a:solidFill>
                  <a:srgbClr val="E8EDF5"/>
                </a:solidFill>
                <a:latin typeface="Courier New" pitchFamily="34" charset="0"/>
                <a:ea typeface="Courier New" pitchFamily="34" charset="-122"/>
                <a:cs typeface="Courier New" pitchFamily="34" charset="-120"/>
              </a:rPr>
              <a:t>test: casos de transición inválida</a:t>
            </a:r>
            <a:endParaRPr lang="en-US" sz="1400" dirty="0"/>
          </a:p>
          <a:p>
            <a:pPr indent="0" marL="0">
              <a:buNone/>
            </a:pPr>
            <a:r>
              <a:rPr lang="en-US" sz="1400" dirty="0">
                <a:solidFill>
                  <a:srgbClr val="E8EDF5"/>
                </a:solidFill>
                <a:latin typeface="Courier New" pitchFamily="34" charset="0"/>
                <a:ea typeface="Courier New" pitchFamily="34" charset="-122"/>
                <a:cs typeface="Courier New" pitchFamily="34" charset="-120"/>
              </a:rPr>
              <a:t>docs: guía de despliegue</a:t>
            </a:r>
            <a:endParaRPr lang="en-US" sz="1400" dirty="0"/>
          </a:p>
          <a:p>
            <a:pPr indent="0" marL="0">
              <a:buNone/>
            </a:pPr>
            <a:r>
              <a:rPr lang="en-US" sz="1400" dirty="0">
                <a:solidFill>
                  <a:srgbClr val="E8EDF5"/>
                </a:solidFill>
                <a:latin typeface="Courier New" pitchFamily="34" charset="0"/>
                <a:ea typeface="Courier New" pitchFamily="34" charset="-122"/>
                <a:cs typeface="Courier New" pitchFamily="34" charset="-120"/>
              </a:rPr>
              <a:t>refactor: transiciones explícitas</a:t>
            </a:r>
            <a:endParaRPr lang="en-US" sz="1400" dirty="0"/>
          </a:p>
          <a:p>
            <a:pPr indent="0" marL="0">
              <a:buNone/>
            </a:pPr>
            <a:r>
              <a:rPr lang="en-US" sz="1400" dirty="0">
                <a:solidFill>
                  <a:srgbClr val="E8EDF5"/>
                </a:solidFill>
                <a:latin typeface="Courier New" pitchFamily="34" charset="0"/>
                <a:ea typeface="Courier New" pitchFamily="34" charset="-122"/>
                <a:cs typeface="Courier New" pitchFamily="34" charset="-120"/>
              </a:rPr>
              <a:t>ci: workflow de GitHub Actions</a:t>
            </a:r>
            <a:endParaRPr lang="en-US" sz="1400" dirty="0"/>
          </a:p>
          <a:p>
            <a:pPr indent="0" marL="0">
              <a:buNone/>
            </a:pPr>
            <a:endParaRPr lang="en-US" sz="1400" dirty="0"/>
          </a:p>
          <a:p>
            <a:pPr indent="0" marL="0">
              <a:buNone/>
            </a:pPr>
            <a:r>
              <a:rPr lang="en-US" sz="1400" dirty="0">
                <a:solidFill>
                  <a:srgbClr val="E8EDF5"/>
                </a:solidFill>
                <a:latin typeface="Courier New" pitchFamily="34" charset="0"/>
                <a:ea typeface="Courier New" pitchFamily="34" charset="-122"/>
                <a:cs typeface="Courier New" pitchFamily="34" charset="-120"/>
              </a:rPr>
              <a:t># Versionado semántico</a:t>
            </a:r>
            <a:endParaRPr lang="en-US" sz="1400" dirty="0"/>
          </a:p>
          <a:p>
            <a:pPr indent="0" marL="0">
              <a:buNone/>
            </a:pPr>
            <a:r>
              <a:rPr lang="en-US" sz="1400" dirty="0">
                <a:solidFill>
                  <a:srgbClr val="E8EDF5"/>
                </a:solidFill>
                <a:latin typeface="Courier New" pitchFamily="34" charset="0"/>
                <a:ea typeface="Courier New" pitchFamily="34" charset="-122"/>
                <a:cs typeface="Courier New" pitchFamily="34" charset="-120"/>
              </a:rPr>
              <a:t>1.4.2  →  MAYOR.MENOR.PARCHE</a:t>
            </a:r>
            <a:endParaRPr lang="en-US" sz="1400" dirty="0"/>
          </a:p>
          <a:p>
            <a:pPr indent="0" marL="0">
              <a:buNone/>
            </a:pPr>
            <a:r>
              <a:rPr lang="en-US" sz="1400" dirty="0">
                <a:solidFill>
                  <a:srgbClr val="E8EDF5"/>
                </a:solidFill>
                <a:latin typeface="Courier New" pitchFamily="34" charset="0"/>
                <a:ea typeface="Courier New" pitchFamily="34" charset="-122"/>
                <a:cs typeface="Courier New" pitchFamily="34" charset="-120"/>
              </a:rPr>
              <a:t>2.0.0  rompe compatibilidad</a:t>
            </a:r>
            <a:endParaRPr lang="en-US" sz="1400" dirty="0"/>
          </a:p>
          <a:p>
            <a:pPr indent="0" marL="0">
              <a:buNone/>
            </a:pPr>
            <a:r>
              <a:rPr lang="en-US" sz="1400" dirty="0">
                <a:solidFill>
                  <a:srgbClr val="E8EDF5"/>
                </a:solidFill>
                <a:latin typeface="Courier New" pitchFamily="34" charset="0"/>
                <a:ea typeface="Courier New" pitchFamily="34" charset="-122"/>
                <a:cs typeface="Courier New" pitchFamily="34" charset="-120"/>
              </a:rPr>
              <a:t>1.5.0  agrega una función</a:t>
            </a:r>
            <a:endParaRPr lang="en-US" sz="1400" dirty="0"/>
          </a:p>
          <a:p>
            <a:pPr indent="0" marL="0">
              <a:buNone/>
            </a:pPr>
            <a:r>
              <a:rPr lang="en-US" sz="1400" dirty="0">
                <a:solidFill>
                  <a:srgbClr val="E8EDF5"/>
                </a:solidFill>
                <a:latin typeface="Courier New" pitchFamily="34" charset="0"/>
                <a:ea typeface="Courier New" pitchFamily="34" charset="-122"/>
                <a:cs typeface="Courier New" pitchFamily="34" charset="-120"/>
              </a:rPr>
              <a:t>1.4.3  corrige un error</a:t>
            </a:r>
            <a:endParaRPr lang="en-US" sz="1400" dirty="0"/>
          </a:p>
        </p:txBody>
      </p:sp>
      <p:sp>
        <p:nvSpPr>
          <p:cNvPr id="8" name="lista-558"/>
          <p:cNvSpPr txBox="1"/>
          <p:nvPr/>
        </p:nvSpPr>
        <p:spPr>
          <a:xfrm>
            <a:off x="6675120" y="1572768"/>
            <a:ext cx="4965192" cy="4572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Un commit = un cambio lógico</a:t>
            </a:r>
            <a:endParaRPr lang="en-US" sz="1600" dirty="0"/>
          </a:p>
          <a:p>
            <a:pPr marL="228600" indent="-228600">
              <a:spcAft>
                <a:spcPts val="800"/>
              </a:spcAft>
              <a:buSzPct val="100000"/>
              <a:buChar char="•"/>
            </a:pPr>
            <a:r>
              <a:rPr lang="en-US" sz="1600" dirty="0">
                <a:solidFill>
                  <a:schemeClr val="tx1"/>
                </a:solidFill>
              </a:rPr>
              <a:t>Mensaje en imperativo y con tipo</a:t>
            </a:r>
            <a:endParaRPr lang="en-US" sz="1600" dirty="0"/>
          </a:p>
          <a:p>
            <a:pPr marL="228600" indent="-228600">
              <a:spcAft>
                <a:spcPts val="800"/>
              </a:spcAft>
              <a:buSzPct val="100000"/>
              <a:buChar char="•"/>
            </a:pPr>
            <a:r>
              <a:rPr lang="en-US" sz="1600" dirty="0">
                <a:solidFill>
                  <a:schemeClr val="tx1"/>
                </a:solidFill>
              </a:rPr>
              <a:t>.gitignore desde el primer día: target/, node_modules/, logs/, .env</a:t>
            </a:r>
            <a:endParaRPr lang="en-US" sz="1600" dirty="0"/>
          </a:p>
          <a:p>
            <a:pPr marL="228600" indent="-228600">
              <a:spcAft>
                <a:spcPts val="800"/>
              </a:spcAft>
              <a:buSzPct val="100000"/>
              <a:buChar char="•"/>
            </a:pPr>
            <a:r>
              <a:rPr lang="en-US" sz="1600" dirty="0">
                <a:solidFill>
                  <a:schemeClr val="tx1"/>
                </a:solidFill>
              </a:rPr>
              <a:t>Nunca subir secretos: si ocurre, rotar la clave aunque se borre el commit</a:t>
            </a:r>
            <a:endParaRPr lang="en-US" sz="1600" dirty="0"/>
          </a:p>
          <a:p>
            <a:pPr marL="228600" indent="-228600">
              <a:spcAft>
                <a:spcPts val="800"/>
              </a:spcAft>
              <a:buSzPct val="100000"/>
              <a:buChar char="•"/>
            </a:pPr>
            <a:r>
              <a:rPr lang="en-US" sz="1600" dirty="0">
                <a:solidFill>
                  <a:schemeClr val="tx1"/>
                </a:solidFill>
              </a:rPr>
              <a:t>Etiquetar versiones (git tag v1.0.0)</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09</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DevOps</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Una cultura que une desarrollo y operación, y automatiza todo lo repetitivo: compilar, probar, empaquetar y desplegar.</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DEVOPS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DevOps es cultura antes que herramientas</a:t>
            </a:r>
            <a:endParaRPr lang="en-US" sz="3400" dirty="0"/>
          </a:p>
        </p:txBody>
      </p:sp>
      <p:sp>
        <p:nvSpPr>
          <p:cNvPr id="5" name="tarjeta-559"/>
          <p:cNvSpPr/>
          <p:nvPr/>
        </p:nvSpPr>
        <p:spPr>
          <a:xfrm>
            <a:off x="548640" y="1481328"/>
            <a:ext cx="1999427" cy="2743200"/>
          </a:xfrm>
          <a:prstGeom prst="roundRect">
            <a:avLst>
              <a:gd name="adj" fmla="val 4573"/>
            </a:avLst>
          </a:prstGeom>
          <a:solidFill>
            <a:schemeClr val="bg2"/>
          </a:solidFill>
          <a:ln/>
        </p:spPr>
      </p:sp>
      <p:sp>
        <p:nvSpPr>
          <p:cNvPr id="6" name="circulo-560"/>
          <p:cNvSpPr/>
          <p:nvPr/>
        </p:nvSpPr>
        <p:spPr>
          <a:xfrm>
            <a:off x="749808" y="1682496"/>
            <a:ext cx="438912" cy="438912"/>
          </a:xfrm>
          <a:prstGeom prst="ellipse">
            <a:avLst/>
          </a:prstGeom>
          <a:solidFill>
            <a:schemeClr val="accent1"/>
          </a:solidFill>
          <a:ln/>
        </p:spPr>
      </p:sp>
      <p:sp>
        <p:nvSpPr>
          <p:cNvPr id="7" name="num-561"/>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8" name="titulo-562"/>
          <p:cNvSpPr txBox="1"/>
          <p:nvPr/>
        </p:nvSpPr>
        <p:spPr>
          <a:xfrm>
            <a:off x="1325880" y="1664208"/>
            <a:ext cx="1039307"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Cultura</a:t>
            </a:r>
            <a:endParaRPr lang="en-US" sz="1500" dirty="0"/>
          </a:p>
        </p:txBody>
      </p:sp>
      <p:sp>
        <p:nvSpPr>
          <p:cNvPr id="9" name="desc-563"/>
          <p:cNvSpPr txBox="1"/>
          <p:nvPr/>
        </p:nvSpPr>
        <p:spPr>
          <a:xfrm>
            <a:off x="777240" y="2267712"/>
            <a:ext cx="1542227" cy="1828800"/>
          </a:xfrm>
          <a:prstGeom prst="rect">
            <a:avLst/>
          </a:prstGeom>
          <a:noFill/>
          <a:ln/>
        </p:spPr>
        <p:txBody>
          <a:bodyPr wrap="square" lIns="0" tIns="0" rIns="0" bIns="0" rtlCol="0" anchor="t"/>
          <a:lstStyle/>
          <a:p>
            <a:pPr indent="0" marL="0">
              <a:buNone/>
            </a:pPr>
            <a:r>
              <a:rPr lang="en-US" sz="1400" dirty="0">
                <a:solidFill>
                  <a:schemeClr val="tx1"/>
                </a:solidFill>
              </a:rPr>
              <a:t>Responsabilidad compartida del producto en producción.</a:t>
            </a:r>
            <a:endParaRPr lang="en-US" sz="1400" dirty="0"/>
          </a:p>
        </p:txBody>
      </p:sp>
      <p:sp>
        <p:nvSpPr>
          <p:cNvPr id="10" name="tarjeta-564"/>
          <p:cNvSpPr/>
          <p:nvPr/>
        </p:nvSpPr>
        <p:spPr>
          <a:xfrm>
            <a:off x="2822387" y="1481328"/>
            <a:ext cx="1999427" cy="2743200"/>
          </a:xfrm>
          <a:prstGeom prst="roundRect">
            <a:avLst>
              <a:gd name="adj" fmla="val 4573"/>
            </a:avLst>
          </a:prstGeom>
          <a:solidFill>
            <a:schemeClr val="bg2"/>
          </a:solidFill>
          <a:ln/>
        </p:spPr>
      </p:sp>
      <p:sp>
        <p:nvSpPr>
          <p:cNvPr id="11" name="circulo-565"/>
          <p:cNvSpPr/>
          <p:nvPr/>
        </p:nvSpPr>
        <p:spPr>
          <a:xfrm>
            <a:off x="3023555" y="1682496"/>
            <a:ext cx="438912" cy="438912"/>
          </a:xfrm>
          <a:prstGeom prst="ellipse">
            <a:avLst/>
          </a:prstGeom>
          <a:solidFill>
            <a:schemeClr val="accent2"/>
          </a:solidFill>
          <a:ln/>
        </p:spPr>
      </p:sp>
      <p:sp>
        <p:nvSpPr>
          <p:cNvPr id="12" name="num-566"/>
          <p:cNvSpPr txBox="1"/>
          <p:nvPr/>
        </p:nvSpPr>
        <p:spPr>
          <a:xfrm>
            <a:off x="302355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13" name="titulo-567"/>
          <p:cNvSpPr txBox="1"/>
          <p:nvPr/>
        </p:nvSpPr>
        <p:spPr>
          <a:xfrm>
            <a:off x="3599627" y="1664208"/>
            <a:ext cx="1039307"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Automatizar</a:t>
            </a:r>
            <a:endParaRPr lang="en-US" sz="1500" dirty="0"/>
          </a:p>
        </p:txBody>
      </p:sp>
      <p:sp>
        <p:nvSpPr>
          <p:cNvPr id="14" name="desc-568"/>
          <p:cNvSpPr txBox="1"/>
          <p:nvPr/>
        </p:nvSpPr>
        <p:spPr>
          <a:xfrm>
            <a:off x="3050987" y="2267712"/>
            <a:ext cx="1542227" cy="1828800"/>
          </a:xfrm>
          <a:prstGeom prst="rect">
            <a:avLst/>
          </a:prstGeom>
          <a:noFill/>
          <a:ln/>
        </p:spPr>
        <p:txBody>
          <a:bodyPr wrap="square" lIns="0" tIns="0" rIns="0" bIns="0" rtlCol="0" anchor="t"/>
          <a:lstStyle/>
          <a:p>
            <a:pPr indent="0" marL="0">
              <a:buNone/>
            </a:pPr>
            <a:r>
              <a:rPr lang="en-US" sz="1400" dirty="0">
                <a:solidFill>
                  <a:schemeClr val="tx1"/>
                </a:solidFill>
              </a:rPr>
              <a:t>Build, pruebas, despliegue e infraestructura sin pasos manuales.</a:t>
            </a:r>
            <a:endParaRPr lang="en-US" sz="1400" dirty="0"/>
          </a:p>
        </p:txBody>
      </p:sp>
      <p:sp>
        <p:nvSpPr>
          <p:cNvPr id="15" name="tarjeta-569"/>
          <p:cNvSpPr/>
          <p:nvPr/>
        </p:nvSpPr>
        <p:spPr>
          <a:xfrm>
            <a:off x="5096134" y="1481328"/>
            <a:ext cx="1999427" cy="2743200"/>
          </a:xfrm>
          <a:prstGeom prst="roundRect">
            <a:avLst>
              <a:gd name="adj" fmla="val 4573"/>
            </a:avLst>
          </a:prstGeom>
          <a:solidFill>
            <a:schemeClr val="bg2"/>
          </a:solidFill>
          <a:ln/>
        </p:spPr>
      </p:sp>
      <p:sp>
        <p:nvSpPr>
          <p:cNvPr id="16" name="circulo-570"/>
          <p:cNvSpPr/>
          <p:nvPr/>
        </p:nvSpPr>
        <p:spPr>
          <a:xfrm>
            <a:off x="5297302" y="1682496"/>
            <a:ext cx="438912" cy="438912"/>
          </a:xfrm>
          <a:prstGeom prst="ellipse">
            <a:avLst/>
          </a:prstGeom>
          <a:solidFill>
            <a:schemeClr val="accent3"/>
          </a:solidFill>
          <a:ln/>
        </p:spPr>
      </p:sp>
      <p:sp>
        <p:nvSpPr>
          <p:cNvPr id="17" name="num-571"/>
          <p:cNvSpPr txBox="1"/>
          <p:nvPr/>
        </p:nvSpPr>
        <p:spPr>
          <a:xfrm>
            <a:off x="529730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L</a:t>
            </a:r>
            <a:endParaRPr lang="en-US" sz="1400" dirty="0"/>
          </a:p>
        </p:txBody>
      </p:sp>
      <p:sp>
        <p:nvSpPr>
          <p:cNvPr id="18" name="titulo-572"/>
          <p:cNvSpPr txBox="1"/>
          <p:nvPr/>
        </p:nvSpPr>
        <p:spPr>
          <a:xfrm>
            <a:off x="5873374" y="1664208"/>
            <a:ext cx="1039307"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Lean</a:t>
            </a:r>
            <a:endParaRPr lang="en-US" sz="1500" dirty="0"/>
          </a:p>
        </p:txBody>
      </p:sp>
      <p:sp>
        <p:nvSpPr>
          <p:cNvPr id="19" name="desc-573"/>
          <p:cNvSpPr txBox="1"/>
          <p:nvPr/>
        </p:nvSpPr>
        <p:spPr>
          <a:xfrm>
            <a:off x="5324734" y="2267712"/>
            <a:ext cx="1542227" cy="1828800"/>
          </a:xfrm>
          <a:prstGeom prst="rect">
            <a:avLst/>
          </a:prstGeom>
          <a:noFill/>
          <a:ln/>
        </p:spPr>
        <p:txBody>
          <a:bodyPr wrap="square" lIns="0" tIns="0" rIns="0" bIns="0" rtlCol="0" anchor="t"/>
          <a:lstStyle/>
          <a:p>
            <a:pPr indent="0" marL="0">
              <a:buNone/>
            </a:pPr>
            <a:r>
              <a:rPr lang="en-US" sz="1400" dirty="0">
                <a:solidFill>
                  <a:schemeClr val="tx1"/>
                </a:solidFill>
              </a:rPr>
              <a:t>Lotes pequeños y flujo continuo; eliminar esperas.</a:t>
            </a:r>
            <a:endParaRPr lang="en-US" sz="1400" dirty="0"/>
          </a:p>
        </p:txBody>
      </p:sp>
      <p:sp>
        <p:nvSpPr>
          <p:cNvPr id="20" name="tarjeta-574"/>
          <p:cNvSpPr/>
          <p:nvPr/>
        </p:nvSpPr>
        <p:spPr>
          <a:xfrm>
            <a:off x="7369881" y="1481328"/>
            <a:ext cx="1999427" cy="2743200"/>
          </a:xfrm>
          <a:prstGeom prst="roundRect">
            <a:avLst>
              <a:gd name="adj" fmla="val 4573"/>
            </a:avLst>
          </a:prstGeom>
          <a:solidFill>
            <a:schemeClr val="bg2"/>
          </a:solidFill>
          <a:ln/>
        </p:spPr>
      </p:sp>
      <p:sp>
        <p:nvSpPr>
          <p:cNvPr id="21" name="circulo-575"/>
          <p:cNvSpPr/>
          <p:nvPr/>
        </p:nvSpPr>
        <p:spPr>
          <a:xfrm>
            <a:off x="7571049" y="1682496"/>
            <a:ext cx="438912" cy="438912"/>
          </a:xfrm>
          <a:prstGeom prst="ellipse">
            <a:avLst/>
          </a:prstGeom>
          <a:solidFill>
            <a:schemeClr val="accent4"/>
          </a:solidFill>
          <a:ln/>
        </p:spPr>
      </p:sp>
      <p:sp>
        <p:nvSpPr>
          <p:cNvPr id="22" name="num-576"/>
          <p:cNvSpPr txBox="1"/>
          <p:nvPr/>
        </p:nvSpPr>
        <p:spPr>
          <a:xfrm>
            <a:off x="757104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M</a:t>
            </a:r>
            <a:endParaRPr lang="en-US" sz="1400" dirty="0"/>
          </a:p>
        </p:txBody>
      </p:sp>
      <p:sp>
        <p:nvSpPr>
          <p:cNvPr id="23" name="titulo-577"/>
          <p:cNvSpPr txBox="1"/>
          <p:nvPr/>
        </p:nvSpPr>
        <p:spPr>
          <a:xfrm>
            <a:off x="8147121" y="1664208"/>
            <a:ext cx="1039307"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Medición</a:t>
            </a:r>
            <a:endParaRPr lang="en-US" sz="1500" dirty="0"/>
          </a:p>
        </p:txBody>
      </p:sp>
      <p:sp>
        <p:nvSpPr>
          <p:cNvPr id="24" name="desc-578"/>
          <p:cNvSpPr txBox="1"/>
          <p:nvPr/>
        </p:nvSpPr>
        <p:spPr>
          <a:xfrm>
            <a:off x="7598481" y="2267712"/>
            <a:ext cx="1542227" cy="1828800"/>
          </a:xfrm>
          <a:prstGeom prst="rect">
            <a:avLst/>
          </a:prstGeom>
          <a:noFill/>
          <a:ln/>
        </p:spPr>
        <p:txBody>
          <a:bodyPr wrap="square" lIns="0" tIns="0" rIns="0" bIns="0" rtlCol="0" anchor="t"/>
          <a:lstStyle/>
          <a:p>
            <a:pPr indent="0" marL="0">
              <a:buNone/>
            </a:pPr>
            <a:r>
              <a:rPr lang="en-US" sz="1400" dirty="0">
                <a:solidFill>
                  <a:schemeClr val="tx1"/>
                </a:solidFill>
              </a:rPr>
              <a:t>Métricas DORA y de operación para decidir.</a:t>
            </a:r>
            <a:endParaRPr lang="en-US" sz="1400" dirty="0"/>
          </a:p>
        </p:txBody>
      </p:sp>
      <p:sp>
        <p:nvSpPr>
          <p:cNvPr id="25" name="tarjeta-579"/>
          <p:cNvSpPr/>
          <p:nvPr/>
        </p:nvSpPr>
        <p:spPr>
          <a:xfrm>
            <a:off x="9643628" y="1481328"/>
            <a:ext cx="1999427" cy="2743200"/>
          </a:xfrm>
          <a:prstGeom prst="roundRect">
            <a:avLst>
              <a:gd name="adj" fmla="val 4573"/>
            </a:avLst>
          </a:prstGeom>
          <a:solidFill>
            <a:schemeClr val="bg2"/>
          </a:solidFill>
          <a:ln/>
        </p:spPr>
      </p:sp>
      <p:sp>
        <p:nvSpPr>
          <p:cNvPr id="26" name="circulo-580"/>
          <p:cNvSpPr/>
          <p:nvPr/>
        </p:nvSpPr>
        <p:spPr>
          <a:xfrm>
            <a:off x="9844796" y="1682496"/>
            <a:ext cx="438912" cy="438912"/>
          </a:xfrm>
          <a:prstGeom prst="ellipse">
            <a:avLst/>
          </a:prstGeom>
          <a:solidFill>
            <a:schemeClr val="accent6"/>
          </a:solidFill>
          <a:ln/>
        </p:spPr>
      </p:sp>
      <p:sp>
        <p:nvSpPr>
          <p:cNvPr id="27" name="num-581"/>
          <p:cNvSpPr txBox="1"/>
          <p:nvPr/>
        </p:nvSpPr>
        <p:spPr>
          <a:xfrm>
            <a:off x="984479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S</a:t>
            </a:r>
            <a:endParaRPr lang="en-US" sz="1400" dirty="0"/>
          </a:p>
        </p:txBody>
      </p:sp>
      <p:sp>
        <p:nvSpPr>
          <p:cNvPr id="28" name="titulo-582"/>
          <p:cNvSpPr txBox="1"/>
          <p:nvPr/>
        </p:nvSpPr>
        <p:spPr>
          <a:xfrm>
            <a:off x="10420868" y="1664208"/>
            <a:ext cx="1039307" cy="475488"/>
          </a:xfrm>
          <a:prstGeom prst="rect">
            <a:avLst/>
          </a:prstGeom>
          <a:noFill/>
          <a:ln/>
        </p:spPr>
        <p:txBody>
          <a:bodyPr wrap="square" lIns="0" tIns="0" rIns="0" bIns="0" rtlCol="0" anchor="ctr">
            <a:normAutofit/>
          </a:bodyPr>
          <a:lstStyle/>
          <a:p>
            <a:pPr indent="0" marL="0">
              <a:buNone/>
            </a:pPr>
            <a:r>
              <a:rPr lang="en-US" sz="1500" b="1" dirty="0">
                <a:solidFill>
                  <a:schemeClr val="tx2"/>
                </a:solidFill>
              </a:rPr>
              <a:t>Compartir</a:t>
            </a:r>
            <a:endParaRPr lang="en-US" sz="1500" dirty="0"/>
          </a:p>
        </p:txBody>
      </p:sp>
      <p:sp>
        <p:nvSpPr>
          <p:cNvPr id="29" name="desc-583"/>
          <p:cNvSpPr txBox="1"/>
          <p:nvPr/>
        </p:nvSpPr>
        <p:spPr>
          <a:xfrm>
            <a:off x="9872228" y="2267712"/>
            <a:ext cx="1542227" cy="1828800"/>
          </a:xfrm>
          <a:prstGeom prst="rect">
            <a:avLst/>
          </a:prstGeom>
          <a:noFill/>
          <a:ln/>
        </p:spPr>
        <p:txBody>
          <a:bodyPr wrap="square" lIns="0" tIns="0" rIns="0" bIns="0" rtlCol="0" anchor="t"/>
          <a:lstStyle/>
          <a:p>
            <a:pPr indent="0" marL="0">
              <a:buNone/>
            </a:pPr>
            <a:r>
              <a:rPr lang="en-US" sz="1400" dirty="0">
                <a:solidFill>
                  <a:schemeClr val="tx1"/>
                </a:solidFill>
              </a:rPr>
              <a:t>Conocimiento, herramientas y aprendizajes de incidentes.</a:t>
            </a:r>
            <a:endParaRPr lang="en-US" sz="1400" dirty="0"/>
          </a:p>
        </p:txBody>
      </p:sp>
      <p:sp>
        <p:nvSpPr>
          <p:cNvPr id="30" name="destacado-584"/>
          <p:cNvSpPr/>
          <p:nvPr/>
        </p:nvSpPr>
        <p:spPr>
          <a:xfrm>
            <a:off x="548640" y="4617720"/>
            <a:ext cx="11094415" cy="566928"/>
          </a:xfrm>
          <a:prstGeom prst="roundRect">
            <a:avLst>
              <a:gd name="adj" fmla="val 12903"/>
            </a:avLst>
          </a:prstGeom>
          <a:solidFill>
            <a:schemeClr val="tx2"/>
          </a:solidFill>
          <a:ln/>
        </p:spPr>
      </p:sp>
      <p:sp>
        <p:nvSpPr>
          <p:cNvPr id="31" name="destacado-t-585"/>
          <p:cNvSpPr txBox="1"/>
          <p:nvPr/>
        </p:nvSpPr>
        <p:spPr>
          <a:xfrm>
            <a:off x="822960" y="4617720"/>
            <a:ext cx="10545775" cy="566928"/>
          </a:xfrm>
          <a:prstGeom prst="rect">
            <a:avLst/>
          </a:prstGeom>
          <a:noFill/>
          <a:ln/>
        </p:spPr>
        <p:txBody>
          <a:bodyPr wrap="square" lIns="0" tIns="0" rIns="0" bIns="0" rtlCol="0" anchor="ctr"/>
          <a:lstStyle/>
          <a:p>
            <a:pPr indent="0" marL="0">
              <a:buNone/>
            </a:pPr>
            <a:r>
              <a:rPr lang="en-US" sz="1600" dirty="0">
                <a:solidFill>
                  <a:schemeClr val="bg1"/>
                </a:solidFill>
              </a:rPr>
              <a:t>Métricas DORA: frecuencia de despliegue · tiempo de entrega · tasa de fallos · tiempo de recuperación</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DEVOPS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Integración y entrega continuas (CI/CD)</a:t>
            </a:r>
            <a:endParaRPr lang="en-US" sz="3400" dirty="0"/>
          </a:p>
        </p:txBody>
      </p:sp>
      <p:sp>
        <p:nvSpPr>
          <p:cNvPr id="5" name="paso-586"/>
          <p:cNvSpPr/>
          <p:nvPr/>
        </p:nvSpPr>
        <p:spPr>
          <a:xfrm>
            <a:off x="548640" y="1572768"/>
            <a:ext cx="1334110" cy="822960"/>
          </a:xfrm>
          <a:prstGeom prst="roundRect">
            <a:avLst>
              <a:gd name="adj" fmla="val 11111"/>
            </a:avLst>
          </a:prstGeom>
          <a:solidFill>
            <a:schemeClr val="tx2"/>
          </a:solidFill>
          <a:ln/>
        </p:spPr>
      </p:sp>
      <p:sp>
        <p:nvSpPr>
          <p:cNvPr id="6" name="paso-t-587"/>
          <p:cNvSpPr txBox="1"/>
          <p:nvPr/>
        </p:nvSpPr>
        <p:spPr>
          <a:xfrm>
            <a:off x="621792" y="1572768"/>
            <a:ext cx="1187806" cy="822960"/>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push / PR</a:t>
            </a:r>
            <a:endParaRPr lang="en-US" sz="1400" dirty="0"/>
          </a:p>
        </p:txBody>
      </p:sp>
      <p:sp>
        <p:nvSpPr>
          <p:cNvPr id="7" name="flecha-588"/>
          <p:cNvSpPr/>
          <p:nvPr/>
        </p:nvSpPr>
        <p:spPr>
          <a:xfrm>
            <a:off x="1946758" y="1865376"/>
            <a:ext cx="164592" cy="237744"/>
          </a:xfrm>
          <a:prstGeom prst="rightArrow">
            <a:avLst/>
          </a:prstGeom>
          <a:solidFill>
            <a:schemeClr val="accent5"/>
          </a:solidFill>
          <a:ln/>
        </p:spPr>
      </p:sp>
      <p:sp>
        <p:nvSpPr>
          <p:cNvPr id="8" name="paso-589"/>
          <p:cNvSpPr/>
          <p:nvPr/>
        </p:nvSpPr>
        <p:spPr>
          <a:xfrm>
            <a:off x="2175358" y="1572768"/>
            <a:ext cx="1334110" cy="822960"/>
          </a:xfrm>
          <a:prstGeom prst="roundRect">
            <a:avLst>
              <a:gd name="adj" fmla="val 11111"/>
            </a:avLst>
          </a:prstGeom>
          <a:solidFill>
            <a:schemeClr val="tx2"/>
          </a:solidFill>
          <a:ln/>
        </p:spPr>
      </p:sp>
      <p:sp>
        <p:nvSpPr>
          <p:cNvPr id="9" name="paso-t-590"/>
          <p:cNvSpPr txBox="1"/>
          <p:nvPr/>
        </p:nvSpPr>
        <p:spPr>
          <a:xfrm>
            <a:off x="2248510" y="1572768"/>
            <a:ext cx="1187806" cy="822960"/>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Compilar</a:t>
            </a:r>
            <a:endParaRPr lang="en-US" sz="1400" dirty="0"/>
          </a:p>
        </p:txBody>
      </p:sp>
      <p:sp>
        <p:nvSpPr>
          <p:cNvPr id="10" name="flecha-591"/>
          <p:cNvSpPr/>
          <p:nvPr/>
        </p:nvSpPr>
        <p:spPr>
          <a:xfrm>
            <a:off x="3573475" y="1865376"/>
            <a:ext cx="164592" cy="237744"/>
          </a:xfrm>
          <a:prstGeom prst="rightArrow">
            <a:avLst/>
          </a:prstGeom>
          <a:solidFill>
            <a:schemeClr val="accent5"/>
          </a:solidFill>
          <a:ln/>
        </p:spPr>
      </p:sp>
      <p:sp>
        <p:nvSpPr>
          <p:cNvPr id="11" name="paso-592"/>
          <p:cNvSpPr/>
          <p:nvPr/>
        </p:nvSpPr>
        <p:spPr>
          <a:xfrm>
            <a:off x="3802075" y="1572768"/>
            <a:ext cx="1334110" cy="822960"/>
          </a:xfrm>
          <a:prstGeom prst="roundRect">
            <a:avLst>
              <a:gd name="adj" fmla="val 11111"/>
            </a:avLst>
          </a:prstGeom>
          <a:solidFill>
            <a:schemeClr val="tx2"/>
          </a:solidFill>
          <a:ln/>
        </p:spPr>
      </p:sp>
      <p:sp>
        <p:nvSpPr>
          <p:cNvPr id="12" name="paso-t-593"/>
          <p:cNvSpPr txBox="1"/>
          <p:nvPr/>
        </p:nvSpPr>
        <p:spPr>
          <a:xfrm>
            <a:off x="3875227" y="1572768"/>
            <a:ext cx="1187806" cy="822960"/>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Pruebas</a:t>
            </a:r>
            <a:endParaRPr lang="en-US" sz="1400" dirty="0"/>
          </a:p>
        </p:txBody>
      </p:sp>
      <p:sp>
        <p:nvSpPr>
          <p:cNvPr id="13" name="flecha-594"/>
          <p:cNvSpPr/>
          <p:nvPr/>
        </p:nvSpPr>
        <p:spPr>
          <a:xfrm>
            <a:off x="5200193" y="1865376"/>
            <a:ext cx="164592" cy="237744"/>
          </a:xfrm>
          <a:prstGeom prst="rightArrow">
            <a:avLst/>
          </a:prstGeom>
          <a:solidFill>
            <a:schemeClr val="accent5"/>
          </a:solidFill>
          <a:ln/>
        </p:spPr>
      </p:sp>
      <p:sp>
        <p:nvSpPr>
          <p:cNvPr id="14" name="paso-595"/>
          <p:cNvSpPr/>
          <p:nvPr/>
        </p:nvSpPr>
        <p:spPr>
          <a:xfrm>
            <a:off x="5428793" y="1572768"/>
            <a:ext cx="1334110" cy="822960"/>
          </a:xfrm>
          <a:prstGeom prst="roundRect">
            <a:avLst>
              <a:gd name="adj" fmla="val 11111"/>
            </a:avLst>
          </a:prstGeom>
          <a:solidFill>
            <a:schemeClr val="tx2"/>
          </a:solidFill>
          <a:ln/>
        </p:spPr>
      </p:sp>
      <p:sp>
        <p:nvSpPr>
          <p:cNvPr id="15" name="paso-t-596"/>
          <p:cNvSpPr txBox="1"/>
          <p:nvPr/>
        </p:nvSpPr>
        <p:spPr>
          <a:xfrm>
            <a:off x="5501945" y="1572768"/>
            <a:ext cx="1187806" cy="822960"/>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Análisis estático</a:t>
            </a:r>
            <a:endParaRPr lang="en-US" sz="1400" dirty="0"/>
          </a:p>
        </p:txBody>
      </p:sp>
      <p:sp>
        <p:nvSpPr>
          <p:cNvPr id="16" name="flecha-597"/>
          <p:cNvSpPr/>
          <p:nvPr/>
        </p:nvSpPr>
        <p:spPr>
          <a:xfrm>
            <a:off x="6826910" y="1865376"/>
            <a:ext cx="164592" cy="237744"/>
          </a:xfrm>
          <a:prstGeom prst="rightArrow">
            <a:avLst/>
          </a:prstGeom>
          <a:solidFill>
            <a:schemeClr val="accent5"/>
          </a:solidFill>
          <a:ln/>
        </p:spPr>
      </p:sp>
      <p:sp>
        <p:nvSpPr>
          <p:cNvPr id="17" name="paso-598"/>
          <p:cNvSpPr/>
          <p:nvPr/>
        </p:nvSpPr>
        <p:spPr>
          <a:xfrm>
            <a:off x="7055510" y="1572768"/>
            <a:ext cx="1334110" cy="822960"/>
          </a:xfrm>
          <a:prstGeom prst="roundRect">
            <a:avLst>
              <a:gd name="adj" fmla="val 11111"/>
            </a:avLst>
          </a:prstGeom>
          <a:solidFill>
            <a:schemeClr val="tx2"/>
          </a:solidFill>
          <a:ln/>
        </p:spPr>
      </p:sp>
      <p:sp>
        <p:nvSpPr>
          <p:cNvPr id="18" name="paso-t-599"/>
          <p:cNvSpPr txBox="1"/>
          <p:nvPr/>
        </p:nvSpPr>
        <p:spPr>
          <a:xfrm>
            <a:off x="7128662" y="1572768"/>
            <a:ext cx="1187806" cy="822960"/>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Imagen Docker</a:t>
            </a:r>
            <a:endParaRPr lang="en-US" sz="1400" dirty="0"/>
          </a:p>
        </p:txBody>
      </p:sp>
      <p:sp>
        <p:nvSpPr>
          <p:cNvPr id="19" name="flecha-600"/>
          <p:cNvSpPr/>
          <p:nvPr/>
        </p:nvSpPr>
        <p:spPr>
          <a:xfrm>
            <a:off x="8453628" y="1865376"/>
            <a:ext cx="164592" cy="237744"/>
          </a:xfrm>
          <a:prstGeom prst="rightArrow">
            <a:avLst/>
          </a:prstGeom>
          <a:solidFill>
            <a:schemeClr val="accent5"/>
          </a:solidFill>
          <a:ln/>
        </p:spPr>
      </p:sp>
      <p:sp>
        <p:nvSpPr>
          <p:cNvPr id="20" name="paso-601"/>
          <p:cNvSpPr/>
          <p:nvPr/>
        </p:nvSpPr>
        <p:spPr>
          <a:xfrm>
            <a:off x="8682228" y="1572768"/>
            <a:ext cx="1334110" cy="822960"/>
          </a:xfrm>
          <a:prstGeom prst="roundRect">
            <a:avLst>
              <a:gd name="adj" fmla="val 11111"/>
            </a:avLst>
          </a:prstGeom>
          <a:solidFill>
            <a:schemeClr val="tx2"/>
          </a:solidFill>
          <a:ln/>
        </p:spPr>
      </p:sp>
      <p:sp>
        <p:nvSpPr>
          <p:cNvPr id="21" name="paso-t-602"/>
          <p:cNvSpPr txBox="1"/>
          <p:nvPr/>
        </p:nvSpPr>
        <p:spPr>
          <a:xfrm>
            <a:off x="8755380" y="1572768"/>
            <a:ext cx="1187806" cy="822960"/>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Staging</a:t>
            </a:r>
            <a:endParaRPr lang="en-US" sz="1400" dirty="0"/>
          </a:p>
        </p:txBody>
      </p:sp>
      <p:sp>
        <p:nvSpPr>
          <p:cNvPr id="22" name="flecha-603"/>
          <p:cNvSpPr/>
          <p:nvPr/>
        </p:nvSpPr>
        <p:spPr>
          <a:xfrm>
            <a:off x="10080346" y="1865376"/>
            <a:ext cx="164592" cy="237744"/>
          </a:xfrm>
          <a:prstGeom prst="rightArrow">
            <a:avLst/>
          </a:prstGeom>
          <a:solidFill>
            <a:schemeClr val="accent5"/>
          </a:solidFill>
          <a:ln/>
        </p:spPr>
      </p:sp>
      <p:sp>
        <p:nvSpPr>
          <p:cNvPr id="23" name="paso-604"/>
          <p:cNvSpPr/>
          <p:nvPr/>
        </p:nvSpPr>
        <p:spPr>
          <a:xfrm>
            <a:off x="10308946" y="1572768"/>
            <a:ext cx="1334110" cy="822960"/>
          </a:xfrm>
          <a:prstGeom prst="roundRect">
            <a:avLst>
              <a:gd name="adj" fmla="val 11111"/>
            </a:avLst>
          </a:prstGeom>
          <a:solidFill>
            <a:schemeClr val="accent1"/>
          </a:solidFill>
          <a:ln/>
        </p:spPr>
      </p:sp>
      <p:sp>
        <p:nvSpPr>
          <p:cNvPr id="24" name="paso-t-605"/>
          <p:cNvSpPr txBox="1"/>
          <p:nvPr/>
        </p:nvSpPr>
        <p:spPr>
          <a:xfrm>
            <a:off x="10382098" y="1572768"/>
            <a:ext cx="1187806" cy="822960"/>
          </a:xfrm>
          <a:prstGeom prst="rect">
            <a:avLst/>
          </a:prstGeom>
          <a:noFill/>
          <a:ln/>
        </p:spPr>
        <p:txBody>
          <a:bodyPr wrap="square" lIns="0" tIns="0" rIns="0" bIns="0" rtlCol="0" anchor="ctr">
            <a:normAutofit/>
          </a:bodyPr>
          <a:lstStyle/>
          <a:p>
            <a:pPr algn="ctr" indent="0" marL="0">
              <a:buNone/>
            </a:pPr>
            <a:r>
              <a:rPr lang="en-US" sz="1400" b="1" dirty="0">
                <a:solidFill>
                  <a:schemeClr val="bg1"/>
                </a:solidFill>
              </a:rPr>
              <a:t>Producción</a:t>
            </a:r>
            <a:endParaRPr lang="en-US" sz="1400" dirty="0"/>
          </a:p>
        </p:txBody>
      </p:sp>
      <p:graphicFrame>
        <p:nvGraphicFramePr>
          <p:cNvPr id="50" name="tabla-606"/>
          <p:cNvGraphicFramePr>
            <a:graphicFrameLocks noGrp="1"/>
          </p:cNvGraphicFramePr>
          <p:nvPr>
            <p:extLst>
              <p:ext uri="{D42A27DB-BD31-4B8C-83A1-F6EECF244321}">
                <p14:modId xmlns:p14="http://schemas.microsoft.com/office/powerpoint/2010/main" val="1579011935"/>
              </p:ext>
            </p:extLst>
          </p:nvPr>
        </p:nvGraphicFramePr>
        <p:xfrm>
          <a:off x="548640" y="3017520"/>
          <a:ext cx="11094415" cy="914400"/>
        </p:xfrm>
        <a:graphic>
          <a:graphicData uri="http://schemas.openxmlformats.org/drawingml/2006/table">
            <a:tbl>
              <a:tblPr/>
              <a:tblGrid>
                <a:gridCol w="3108960"/>
                <a:gridCol w="4114800"/>
                <a:gridCol w="3867912"/>
              </a:tblGrid>
              <a:tr h="640080">
                <a:tc>
                  <a:txBody>
                    <a:bodyPr/>
                    <a:lstStyle/>
                    <a:p>
                      <a:pPr indent="0" marL="0">
                        <a:buNone/>
                      </a:pPr>
                      <a:r>
                        <a:rPr lang="en-US" sz="1400" b="1" dirty="0">
                          <a:solidFill>
                            <a:schemeClr val="bg1"/>
                          </a:solidFill>
                        </a:rPr>
                        <a:t>Práctica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Qué automatiza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Herramientas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1"/>
                          </a:solidFill>
                        </a:rPr>
                        <a:t>Integración continua (CI)</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Compilar y probar cada cambio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GitHub Actions, GitLab CI, Jenkins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Entrega continua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Dejar una versión lista para desplegar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Pipelines con aprobación manual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Despliegue continuo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Publicar automáticamente si todo pasa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Argo CD, pipelines sin aprobación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DEVOPS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Contenedores: Docker, Compose y Kubernetes</a:t>
            </a:r>
            <a:endParaRPr lang="en-US" sz="3400" dirty="0"/>
          </a:p>
        </p:txBody>
      </p:sp>
      <p:sp>
        <p:nvSpPr>
          <p:cNvPr id="5" name="tarjeta-607"/>
          <p:cNvSpPr/>
          <p:nvPr/>
        </p:nvSpPr>
        <p:spPr>
          <a:xfrm>
            <a:off x="548640" y="1481328"/>
            <a:ext cx="3515258" cy="2208276"/>
          </a:xfrm>
          <a:prstGeom prst="roundRect">
            <a:avLst>
              <a:gd name="adj" fmla="val 4141"/>
            </a:avLst>
          </a:prstGeom>
          <a:solidFill>
            <a:schemeClr val="bg2"/>
          </a:solidFill>
          <a:ln/>
        </p:spPr>
      </p:sp>
      <p:sp>
        <p:nvSpPr>
          <p:cNvPr id="6" name="circulo-608"/>
          <p:cNvSpPr/>
          <p:nvPr/>
        </p:nvSpPr>
        <p:spPr>
          <a:xfrm>
            <a:off x="749808" y="1682496"/>
            <a:ext cx="438912" cy="438912"/>
          </a:xfrm>
          <a:prstGeom prst="ellipse">
            <a:avLst/>
          </a:prstGeom>
          <a:solidFill>
            <a:schemeClr val="accent1"/>
          </a:solidFill>
          <a:ln/>
        </p:spPr>
      </p:sp>
      <p:sp>
        <p:nvSpPr>
          <p:cNvPr id="7" name="num-609"/>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610"/>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Imagen</a:t>
            </a:r>
            <a:endParaRPr lang="en-US" sz="1700" dirty="0"/>
          </a:p>
        </p:txBody>
      </p:sp>
      <p:sp>
        <p:nvSpPr>
          <p:cNvPr id="9" name="desc-611"/>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Plantilla inmutable: aplicación + entorno. Se construye con un Dockerfile.</a:t>
            </a:r>
            <a:endParaRPr lang="en-US" sz="1600" dirty="0"/>
          </a:p>
        </p:txBody>
      </p:sp>
      <p:sp>
        <p:nvSpPr>
          <p:cNvPr id="10" name="tarjeta-612"/>
          <p:cNvSpPr/>
          <p:nvPr/>
        </p:nvSpPr>
        <p:spPr>
          <a:xfrm>
            <a:off x="4338218" y="1481328"/>
            <a:ext cx="3515258" cy="2208276"/>
          </a:xfrm>
          <a:prstGeom prst="roundRect">
            <a:avLst>
              <a:gd name="adj" fmla="val 4141"/>
            </a:avLst>
          </a:prstGeom>
          <a:solidFill>
            <a:schemeClr val="bg2"/>
          </a:solidFill>
          <a:ln/>
        </p:spPr>
      </p:sp>
      <p:sp>
        <p:nvSpPr>
          <p:cNvPr id="11" name="circulo-613"/>
          <p:cNvSpPr/>
          <p:nvPr/>
        </p:nvSpPr>
        <p:spPr>
          <a:xfrm>
            <a:off x="4539386" y="1682496"/>
            <a:ext cx="438912" cy="438912"/>
          </a:xfrm>
          <a:prstGeom prst="ellipse">
            <a:avLst/>
          </a:prstGeom>
          <a:solidFill>
            <a:schemeClr val="accent2"/>
          </a:solidFill>
          <a:ln/>
        </p:spPr>
      </p:sp>
      <p:sp>
        <p:nvSpPr>
          <p:cNvPr id="12" name="num-614"/>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615"/>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Contenedor</a:t>
            </a:r>
            <a:endParaRPr lang="en-US" sz="1700" dirty="0"/>
          </a:p>
        </p:txBody>
      </p:sp>
      <p:sp>
        <p:nvSpPr>
          <p:cNvPr id="14" name="desc-616"/>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Una imagen en ejecución, aislada, configurada por variables.</a:t>
            </a:r>
            <a:endParaRPr lang="en-US" sz="1600" dirty="0"/>
          </a:p>
        </p:txBody>
      </p:sp>
      <p:sp>
        <p:nvSpPr>
          <p:cNvPr id="15" name="tarjeta-617"/>
          <p:cNvSpPr/>
          <p:nvPr/>
        </p:nvSpPr>
        <p:spPr>
          <a:xfrm>
            <a:off x="8127797" y="1481328"/>
            <a:ext cx="3515258" cy="2208276"/>
          </a:xfrm>
          <a:prstGeom prst="roundRect">
            <a:avLst>
              <a:gd name="adj" fmla="val 4141"/>
            </a:avLst>
          </a:prstGeom>
          <a:solidFill>
            <a:schemeClr val="bg2"/>
          </a:solidFill>
          <a:ln/>
        </p:spPr>
      </p:sp>
      <p:sp>
        <p:nvSpPr>
          <p:cNvPr id="16" name="circulo-618"/>
          <p:cNvSpPr/>
          <p:nvPr/>
        </p:nvSpPr>
        <p:spPr>
          <a:xfrm>
            <a:off x="8328965" y="1682496"/>
            <a:ext cx="438912" cy="438912"/>
          </a:xfrm>
          <a:prstGeom prst="ellipse">
            <a:avLst/>
          </a:prstGeom>
          <a:solidFill>
            <a:schemeClr val="accent3"/>
          </a:solidFill>
          <a:ln/>
        </p:spPr>
      </p:sp>
      <p:sp>
        <p:nvSpPr>
          <p:cNvPr id="17" name="num-619"/>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620"/>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Volumen</a:t>
            </a:r>
            <a:endParaRPr lang="en-US" sz="1700" dirty="0"/>
          </a:p>
        </p:txBody>
      </p:sp>
      <p:sp>
        <p:nvSpPr>
          <p:cNvPr id="19" name="desc-621"/>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Almacenamiento que sobrevive al contenedor (datos de PostgreSQL).</a:t>
            </a:r>
            <a:endParaRPr lang="en-US" sz="1600" dirty="0"/>
          </a:p>
        </p:txBody>
      </p:sp>
      <p:sp>
        <p:nvSpPr>
          <p:cNvPr id="20" name="tarjeta-622"/>
          <p:cNvSpPr/>
          <p:nvPr/>
        </p:nvSpPr>
        <p:spPr>
          <a:xfrm>
            <a:off x="548640" y="3963924"/>
            <a:ext cx="3515258" cy="2208276"/>
          </a:xfrm>
          <a:prstGeom prst="roundRect">
            <a:avLst>
              <a:gd name="adj" fmla="val 4141"/>
            </a:avLst>
          </a:prstGeom>
          <a:solidFill>
            <a:schemeClr val="bg2"/>
          </a:solidFill>
          <a:ln/>
        </p:spPr>
      </p:sp>
      <p:sp>
        <p:nvSpPr>
          <p:cNvPr id="21" name="circulo-623"/>
          <p:cNvSpPr/>
          <p:nvPr/>
        </p:nvSpPr>
        <p:spPr>
          <a:xfrm>
            <a:off x="749808" y="4165092"/>
            <a:ext cx="438912" cy="438912"/>
          </a:xfrm>
          <a:prstGeom prst="ellipse">
            <a:avLst/>
          </a:prstGeom>
          <a:solidFill>
            <a:schemeClr val="accent4"/>
          </a:solidFill>
          <a:ln/>
        </p:spPr>
      </p:sp>
      <p:sp>
        <p:nvSpPr>
          <p:cNvPr id="22" name="num-624"/>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625"/>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Registro</a:t>
            </a:r>
            <a:endParaRPr lang="en-US" sz="1700" dirty="0"/>
          </a:p>
        </p:txBody>
      </p:sp>
      <p:sp>
        <p:nvSpPr>
          <p:cNvPr id="24" name="desc-626"/>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Donde se publican las imágenes versionadas: Docker Hub, GHCR.</a:t>
            </a:r>
            <a:endParaRPr lang="en-US" sz="1600" dirty="0"/>
          </a:p>
        </p:txBody>
      </p:sp>
      <p:sp>
        <p:nvSpPr>
          <p:cNvPr id="25" name="tarjeta-627"/>
          <p:cNvSpPr/>
          <p:nvPr/>
        </p:nvSpPr>
        <p:spPr>
          <a:xfrm>
            <a:off x="4338218" y="3963924"/>
            <a:ext cx="3515258" cy="2208276"/>
          </a:xfrm>
          <a:prstGeom prst="roundRect">
            <a:avLst>
              <a:gd name="adj" fmla="val 4141"/>
            </a:avLst>
          </a:prstGeom>
          <a:solidFill>
            <a:schemeClr val="bg2"/>
          </a:solidFill>
          <a:ln/>
        </p:spPr>
      </p:sp>
      <p:sp>
        <p:nvSpPr>
          <p:cNvPr id="26" name="circulo-628"/>
          <p:cNvSpPr/>
          <p:nvPr/>
        </p:nvSpPr>
        <p:spPr>
          <a:xfrm>
            <a:off x="4539386" y="4165092"/>
            <a:ext cx="438912" cy="438912"/>
          </a:xfrm>
          <a:prstGeom prst="ellipse">
            <a:avLst/>
          </a:prstGeom>
          <a:solidFill>
            <a:schemeClr val="accent6"/>
          </a:solidFill>
          <a:ln/>
        </p:spPr>
      </p:sp>
      <p:sp>
        <p:nvSpPr>
          <p:cNvPr id="27" name="num-629"/>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630"/>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Docker Compose</a:t>
            </a:r>
            <a:endParaRPr lang="en-US" sz="1700" dirty="0"/>
          </a:p>
        </p:txBody>
      </p:sp>
      <p:sp>
        <p:nvSpPr>
          <p:cNvPr id="29" name="desc-631"/>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Levanta varios contenedores juntos con un archivo YAML.</a:t>
            </a:r>
            <a:endParaRPr lang="en-US" sz="1600" dirty="0"/>
          </a:p>
        </p:txBody>
      </p:sp>
      <p:sp>
        <p:nvSpPr>
          <p:cNvPr id="30" name="tarjeta-632"/>
          <p:cNvSpPr/>
          <p:nvPr/>
        </p:nvSpPr>
        <p:spPr>
          <a:xfrm>
            <a:off x="8127797" y="3963924"/>
            <a:ext cx="3515258" cy="2208276"/>
          </a:xfrm>
          <a:prstGeom prst="roundRect">
            <a:avLst>
              <a:gd name="adj" fmla="val 4141"/>
            </a:avLst>
          </a:prstGeom>
          <a:solidFill>
            <a:schemeClr val="bg2"/>
          </a:solidFill>
          <a:ln/>
        </p:spPr>
      </p:sp>
      <p:sp>
        <p:nvSpPr>
          <p:cNvPr id="31" name="circulo-633"/>
          <p:cNvSpPr/>
          <p:nvPr/>
        </p:nvSpPr>
        <p:spPr>
          <a:xfrm>
            <a:off x="8328965" y="4165092"/>
            <a:ext cx="438912" cy="438912"/>
          </a:xfrm>
          <a:prstGeom prst="ellipse">
            <a:avLst/>
          </a:prstGeom>
          <a:solidFill>
            <a:schemeClr val="accent5"/>
          </a:solidFill>
          <a:ln/>
        </p:spPr>
      </p:sp>
      <p:sp>
        <p:nvSpPr>
          <p:cNvPr id="32" name="num-634"/>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635"/>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Kubernetes</a:t>
            </a:r>
            <a:endParaRPr lang="en-US" sz="1700" dirty="0"/>
          </a:p>
        </p:txBody>
      </p:sp>
      <p:sp>
        <p:nvSpPr>
          <p:cNvPr id="34" name="desc-636"/>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Orquesta muchos contenedores: escalado, reinicio y balanceo.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DEVOPS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Ambientes, configuración e IaC</a:t>
            </a:r>
            <a:endParaRPr lang="en-US" sz="3400" dirty="0"/>
          </a:p>
        </p:txBody>
      </p:sp>
      <p:sp>
        <p:nvSpPr>
          <p:cNvPr id="5" name="paso-637"/>
          <p:cNvSpPr/>
          <p:nvPr/>
        </p:nvSpPr>
        <p:spPr>
          <a:xfrm>
            <a:off x="548640" y="1481328"/>
            <a:ext cx="2485568" cy="731520"/>
          </a:xfrm>
          <a:prstGeom prst="roundRect">
            <a:avLst>
              <a:gd name="adj" fmla="val 12500"/>
            </a:avLst>
          </a:prstGeom>
          <a:solidFill>
            <a:schemeClr val="tx2"/>
          </a:solidFill>
          <a:ln/>
        </p:spPr>
      </p:sp>
      <p:sp>
        <p:nvSpPr>
          <p:cNvPr id="6" name="paso-t-638"/>
          <p:cNvSpPr txBox="1"/>
          <p:nvPr/>
        </p:nvSpPr>
        <p:spPr>
          <a:xfrm>
            <a:off x="621792" y="1481328"/>
            <a:ext cx="2339264" cy="73152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Desarrollo</a:t>
            </a:r>
            <a:endParaRPr lang="en-US" sz="1600" dirty="0"/>
          </a:p>
        </p:txBody>
      </p:sp>
      <p:sp>
        <p:nvSpPr>
          <p:cNvPr id="7" name="flecha-639"/>
          <p:cNvSpPr/>
          <p:nvPr/>
        </p:nvSpPr>
        <p:spPr>
          <a:xfrm>
            <a:off x="3098216" y="1728216"/>
            <a:ext cx="256032" cy="237744"/>
          </a:xfrm>
          <a:prstGeom prst="rightArrow">
            <a:avLst/>
          </a:prstGeom>
          <a:solidFill>
            <a:schemeClr val="accent5"/>
          </a:solidFill>
          <a:ln/>
        </p:spPr>
      </p:sp>
      <p:sp>
        <p:nvSpPr>
          <p:cNvPr id="8" name="paso-d-640"/>
          <p:cNvSpPr txBox="1"/>
          <p:nvPr/>
        </p:nvSpPr>
        <p:spPr>
          <a:xfrm>
            <a:off x="548640" y="2395728"/>
            <a:ext cx="2485568" cy="457200"/>
          </a:xfrm>
          <a:prstGeom prst="rect">
            <a:avLst/>
          </a:prstGeom>
          <a:noFill/>
          <a:ln/>
        </p:spPr>
        <p:txBody>
          <a:bodyPr wrap="square" lIns="0" tIns="0" rIns="0" bIns="0" rtlCol="0" anchor="t"/>
          <a:lstStyle/>
          <a:p>
            <a:pPr indent="0" marL="0">
              <a:buNone/>
            </a:pPr>
            <a:r>
              <a:rPr lang="en-US" sz="1400" dirty="0">
                <a:solidFill>
                  <a:schemeClr val="tx1"/>
                </a:solidFill>
              </a:rPr>
              <a:t>Tu máquina</a:t>
            </a:r>
            <a:endParaRPr lang="en-US" sz="1400" dirty="0"/>
          </a:p>
        </p:txBody>
      </p:sp>
      <p:sp>
        <p:nvSpPr>
          <p:cNvPr id="9" name="paso-641"/>
          <p:cNvSpPr/>
          <p:nvPr/>
        </p:nvSpPr>
        <p:spPr>
          <a:xfrm>
            <a:off x="3418256" y="1481328"/>
            <a:ext cx="2485568" cy="731520"/>
          </a:xfrm>
          <a:prstGeom prst="roundRect">
            <a:avLst>
              <a:gd name="adj" fmla="val 12500"/>
            </a:avLst>
          </a:prstGeom>
          <a:solidFill>
            <a:schemeClr val="tx2"/>
          </a:solidFill>
          <a:ln/>
        </p:spPr>
      </p:sp>
      <p:sp>
        <p:nvSpPr>
          <p:cNvPr id="10" name="paso-t-642"/>
          <p:cNvSpPr txBox="1"/>
          <p:nvPr/>
        </p:nvSpPr>
        <p:spPr>
          <a:xfrm>
            <a:off x="3491408" y="1481328"/>
            <a:ext cx="2339264" cy="73152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Pruebas / QA</a:t>
            </a:r>
            <a:endParaRPr lang="en-US" sz="1600" dirty="0"/>
          </a:p>
        </p:txBody>
      </p:sp>
      <p:sp>
        <p:nvSpPr>
          <p:cNvPr id="11" name="flecha-643"/>
          <p:cNvSpPr/>
          <p:nvPr/>
        </p:nvSpPr>
        <p:spPr>
          <a:xfrm>
            <a:off x="5967832" y="1728216"/>
            <a:ext cx="256032" cy="237744"/>
          </a:xfrm>
          <a:prstGeom prst="rightArrow">
            <a:avLst/>
          </a:prstGeom>
          <a:solidFill>
            <a:schemeClr val="accent5"/>
          </a:solidFill>
          <a:ln/>
        </p:spPr>
      </p:sp>
      <p:sp>
        <p:nvSpPr>
          <p:cNvPr id="12" name="paso-d-644"/>
          <p:cNvSpPr txBox="1"/>
          <p:nvPr/>
        </p:nvSpPr>
        <p:spPr>
          <a:xfrm>
            <a:off x="3418256" y="2395728"/>
            <a:ext cx="2485568" cy="457200"/>
          </a:xfrm>
          <a:prstGeom prst="rect">
            <a:avLst/>
          </a:prstGeom>
          <a:noFill/>
          <a:ln/>
        </p:spPr>
        <p:txBody>
          <a:bodyPr wrap="square" lIns="0" tIns="0" rIns="0" bIns="0" rtlCol="0" anchor="t"/>
          <a:lstStyle/>
          <a:p>
            <a:pPr indent="0" marL="0">
              <a:buNone/>
            </a:pPr>
            <a:r>
              <a:rPr lang="en-US" sz="1400" dirty="0">
                <a:solidFill>
                  <a:schemeClr val="tx1"/>
                </a:solidFill>
              </a:rPr>
              <a:t>Verificación del equipo</a:t>
            </a:r>
            <a:endParaRPr lang="en-US" sz="1400" dirty="0"/>
          </a:p>
        </p:txBody>
      </p:sp>
      <p:sp>
        <p:nvSpPr>
          <p:cNvPr id="13" name="paso-645"/>
          <p:cNvSpPr/>
          <p:nvPr/>
        </p:nvSpPr>
        <p:spPr>
          <a:xfrm>
            <a:off x="6287872" y="1481328"/>
            <a:ext cx="2485568" cy="731520"/>
          </a:xfrm>
          <a:prstGeom prst="roundRect">
            <a:avLst>
              <a:gd name="adj" fmla="val 12500"/>
            </a:avLst>
          </a:prstGeom>
          <a:solidFill>
            <a:schemeClr val="tx2"/>
          </a:solidFill>
          <a:ln/>
        </p:spPr>
      </p:sp>
      <p:sp>
        <p:nvSpPr>
          <p:cNvPr id="14" name="paso-t-646"/>
          <p:cNvSpPr txBox="1"/>
          <p:nvPr/>
        </p:nvSpPr>
        <p:spPr>
          <a:xfrm>
            <a:off x="6361024" y="1481328"/>
            <a:ext cx="2339264" cy="73152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Staging</a:t>
            </a:r>
            <a:endParaRPr lang="en-US" sz="1600" dirty="0"/>
          </a:p>
        </p:txBody>
      </p:sp>
      <p:sp>
        <p:nvSpPr>
          <p:cNvPr id="15" name="flecha-647"/>
          <p:cNvSpPr/>
          <p:nvPr/>
        </p:nvSpPr>
        <p:spPr>
          <a:xfrm>
            <a:off x="8837447" y="1728216"/>
            <a:ext cx="256032" cy="237744"/>
          </a:xfrm>
          <a:prstGeom prst="rightArrow">
            <a:avLst/>
          </a:prstGeom>
          <a:solidFill>
            <a:schemeClr val="accent5"/>
          </a:solidFill>
          <a:ln/>
        </p:spPr>
      </p:sp>
      <p:sp>
        <p:nvSpPr>
          <p:cNvPr id="16" name="paso-d-648"/>
          <p:cNvSpPr txBox="1"/>
          <p:nvPr/>
        </p:nvSpPr>
        <p:spPr>
          <a:xfrm>
            <a:off x="6287872" y="2395728"/>
            <a:ext cx="2485568" cy="457200"/>
          </a:xfrm>
          <a:prstGeom prst="rect">
            <a:avLst/>
          </a:prstGeom>
          <a:noFill/>
          <a:ln/>
        </p:spPr>
        <p:txBody>
          <a:bodyPr wrap="square" lIns="0" tIns="0" rIns="0" bIns="0" rtlCol="0" anchor="t"/>
          <a:lstStyle/>
          <a:p>
            <a:pPr indent="0" marL="0">
              <a:buNone/>
            </a:pPr>
            <a:r>
              <a:rPr lang="en-US" sz="1400" dirty="0">
                <a:solidFill>
                  <a:schemeClr val="tx1"/>
                </a:solidFill>
              </a:rPr>
              <a:t>Copia fiel de producción</a:t>
            </a:r>
            <a:endParaRPr lang="en-US" sz="1400" dirty="0"/>
          </a:p>
        </p:txBody>
      </p:sp>
      <p:sp>
        <p:nvSpPr>
          <p:cNvPr id="17" name="paso-649"/>
          <p:cNvSpPr/>
          <p:nvPr/>
        </p:nvSpPr>
        <p:spPr>
          <a:xfrm>
            <a:off x="9157487" y="1481328"/>
            <a:ext cx="2485568" cy="731520"/>
          </a:xfrm>
          <a:prstGeom prst="roundRect">
            <a:avLst>
              <a:gd name="adj" fmla="val 12500"/>
            </a:avLst>
          </a:prstGeom>
          <a:solidFill>
            <a:schemeClr val="accent1"/>
          </a:solidFill>
          <a:ln/>
        </p:spPr>
      </p:sp>
      <p:sp>
        <p:nvSpPr>
          <p:cNvPr id="18" name="paso-t-650"/>
          <p:cNvSpPr txBox="1"/>
          <p:nvPr/>
        </p:nvSpPr>
        <p:spPr>
          <a:xfrm>
            <a:off x="9230639" y="1481328"/>
            <a:ext cx="2339264" cy="73152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Producción</a:t>
            </a:r>
            <a:endParaRPr lang="en-US" sz="1600" dirty="0"/>
          </a:p>
        </p:txBody>
      </p:sp>
      <p:sp>
        <p:nvSpPr>
          <p:cNvPr id="19" name="paso-d-651"/>
          <p:cNvSpPr txBox="1"/>
          <p:nvPr/>
        </p:nvSpPr>
        <p:spPr>
          <a:xfrm>
            <a:off x="9157487" y="2395728"/>
            <a:ext cx="2485568" cy="457200"/>
          </a:xfrm>
          <a:prstGeom prst="rect">
            <a:avLst/>
          </a:prstGeom>
          <a:noFill/>
          <a:ln/>
        </p:spPr>
        <p:txBody>
          <a:bodyPr wrap="square" lIns="0" tIns="0" rIns="0" bIns="0" rtlCol="0" anchor="t"/>
          <a:lstStyle/>
          <a:p>
            <a:pPr indent="0" marL="0">
              <a:buNone/>
            </a:pPr>
            <a:r>
              <a:rPr lang="en-US" sz="1400" dirty="0">
                <a:solidFill>
                  <a:schemeClr val="tx1"/>
                </a:solidFill>
              </a:rPr>
              <a:t>Usuarios reales</a:t>
            </a:r>
            <a:endParaRPr lang="en-US" sz="1400" dirty="0"/>
          </a:p>
        </p:txBody>
      </p:sp>
      <p:sp>
        <p:nvSpPr>
          <p:cNvPr id="20" name="tarjeta-652"/>
          <p:cNvSpPr/>
          <p:nvPr/>
        </p:nvSpPr>
        <p:spPr>
          <a:xfrm>
            <a:off x="548640" y="3063240"/>
            <a:ext cx="3515258" cy="2194560"/>
          </a:xfrm>
          <a:prstGeom prst="roundRect">
            <a:avLst>
              <a:gd name="adj" fmla="val 4167"/>
            </a:avLst>
          </a:prstGeom>
          <a:solidFill>
            <a:schemeClr val="bg2"/>
          </a:solidFill>
          <a:ln/>
        </p:spPr>
      </p:sp>
      <p:sp>
        <p:nvSpPr>
          <p:cNvPr id="21" name="circulo-653"/>
          <p:cNvSpPr/>
          <p:nvPr/>
        </p:nvSpPr>
        <p:spPr>
          <a:xfrm>
            <a:off x="749808" y="3264408"/>
            <a:ext cx="438912" cy="438912"/>
          </a:xfrm>
          <a:prstGeom prst="ellipse">
            <a:avLst/>
          </a:prstGeom>
          <a:solidFill>
            <a:schemeClr val="accent2"/>
          </a:solidFill>
          <a:ln/>
        </p:spPr>
      </p:sp>
      <p:sp>
        <p:nvSpPr>
          <p:cNvPr id="22" name="num-654"/>
          <p:cNvSpPr txBox="1"/>
          <p:nvPr/>
        </p:nvSpPr>
        <p:spPr>
          <a:xfrm>
            <a:off x="749808" y="326440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3" name="titulo-655"/>
          <p:cNvSpPr txBox="1"/>
          <p:nvPr/>
        </p:nvSpPr>
        <p:spPr>
          <a:xfrm>
            <a:off x="1325880" y="3246120"/>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Configuración externa</a:t>
            </a:r>
            <a:endParaRPr lang="en-US" sz="1700" dirty="0"/>
          </a:p>
        </p:txBody>
      </p:sp>
      <p:sp>
        <p:nvSpPr>
          <p:cNvPr id="24" name="desc-656"/>
          <p:cNvSpPr txBox="1"/>
          <p:nvPr/>
        </p:nvSpPr>
        <p:spPr>
          <a:xfrm>
            <a:off x="777240" y="3849624"/>
            <a:ext cx="3058058" cy="1280160"/>
          </a:xfrm>
          <a:prstGeom prst="rect">
            <a:avLst/>
          </a:prstGeom>
          <a:noFill/>
          <a:ln/>
        </p:spPr>
        <p:txBody>
          <a:bodyPr wrap="square" lIns="0" tIns="0" rIns="0" bIns="0" rtlCol="0" anchor="t"/>
          <a:lstStyle/>
          <a:p>
            <a:pPr indent="0" marL="0">
              <a:buNone/>
            </a:pPr>
            <a:r>
              <a:rPr lang="en-US" sz="1600" dirty="0">
                <a:solidFill>
                  <a:schemeClr val="tx1"/>
                </a:solidFill>
              </a:rPr>
              <a:t>Variables de entorno por ambiente: DB_HOST, DB_USER, perfiles de Spring.</a:t>
            </a:r>
            <a:endParaRPr lang="en-US" sz="1600" dirty="0"/>
          </a:p>
        </p:txBody>
      </p:sp>
      <p:sp>
        <p:nvSpPr>
          <p:cNvPr id="25" name="tarjeta-657"/>
          <p:cNvSpPr/>
          <p:nvPr/>
        </p:nvSpPr>
        <p:spPr>
          <a:xfrm>
            <a:off x="4338218" y="3063240"/>
            <a:ext cx="3515258" cy="2194560"/>
          </a:xfrm>
          <a:prstGeom prst="roundRect">
            <a:avLst>
              <a:gd name="adj" fmla="val 4167"/>
            </a:avLst>
          </a:prstGeom>
          <a:solidFill>
            <a:schemeClr val="bg2"/>
          </a:solidFill>
          <a:ln/>
        </p:spPr>
      </p:sp>
      <p:sp>
        <p:nvSpPr>
          <p:cNvPr id="26" name="circulo-658"/>
          <p:cNvSpPr/>
          <p:nvPr/>
        </p:nvSpPr>
        <p:spPr>
          <a:xfrm>
            <a:off x="4539386" y="3264408"/>
            <a:ext cx="438912" cy="438912"/>
          </a:xfrm>
          <a:prstGeom prst="ellipse">
            <a:avLst/>
          </a:prstGeom>
          <a:solidFill>
            <a:schemeClr val="accent3"/>
          </a:solidFill>
          <a:ln/>
        </p:spPr>
      </p:sp>
      <p:sp>
        <p:nvSpPr>
          <p:cNvPr id="27" name="num-659"/>
          <p:cNvSpPr txBox="1"/>
          <p:nvPr/>
        </p:nvSpPr>
        <p:spPr>
          <a:xfrm>
            <a:off x="4539386" y="326440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8" name="titulo-660"/>
          <p:cNvSpPr txBox="1"/>
          <p:nvPr/>
        </p:nvSpPr>
        <p:spPr>
          <a:xfrm>
            <a:off x="5115458" y="3246120"/>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Infraestructura como código</a:t>
            </a:r>
            <a:endParaRPr lang="en-US" sz="1700" dirty="0"/>
          </a:p>
        </p:txBody>
      </p:sp>
      <p:sp>
        <p:nvSpPr>
          <p:cNvPr id="29" name="desc-661"/>
          <p:cNvSpPr txBox="1"/>
          <p:nvPr/>
        </p:nvSpPr>
        <p:spPr>
          <a:xfrm>
            <a:off x="4566818" y="3849624"/>
            <a:ext cx="3058058" cy="1280160"/>
          </a:xfrm>
          <a:prstGeom prst="rect">
            <a:avLst/>
          </a:prstGeom>
          <a:noFill/>
          <a:ln/>
        </p:spPr>
        <p:txBody>
          <a:bodyPr wrap="square" lIns="0" tIns="0" rIns="0" bIns="0" rtlCol="0" anchor="t"/>
          <a:lstStyle/>
          <a:p>
            <a:pPr indent="0" marL="0">
              <a:buNone/>
            </a:pPr>
            <a:r>
              <a:rPr lang="en-US" sz="1600" dirty="0">
                <a:solidFill>
                  <a:schemeClr val="tx1"/>
                </a:solidFill>
              </a:rPr>
              <a:t>Terraform o Ansible: la infraestructura se revisa en un PR.</a:t>
            </a:r>
            <a:endParaRPr lang="en-US" sz="1600" dirty="0"/>
          </a:p>
        </p:txBody>
      </p:sp>
      <p:sp>
        <p:nvSpPr>
          <p:cNvPr id="30" name="tarjeta-662"/>
          <p:cNvSpPr/>
          <p:nvPr/>
        </p:nvSpPr>
        <p:spPr>
          <a:xfrm>
            <a:off x="8127797" y="3063240"/>
            <a:ext cx="3515258" cy="2194560"/>
          </a:xfrm>
          <a:prstGeom prst="roundRect">
            <a:avLst>
              <a:gd name="adj" fmla="val 4167"/>
            </a:avLst>
          </a:prstGeom>
          <a:solidFill>
            <a:schemeClr val="bg2"/>
          </a:solidFill>
          <a:ln/>
        </p:spPr>
      </p:sp>
      <p:sp>
        <p:nvSpPr>
          <p:cNvPr id="31" name="circulo-663"/>
          <p:cNvSpPr/>
          <p:nvPr/>
        </p:nvSpPr>
        <p:spPr>
          <a:xfrm>
            <a:off x="8328965" y="3264408"/>
            <a:ext cx="438912" cy="438912"/>
          </a:xfrm>
          <a:prstGeom prst="ellipse">
            <a:avLst/>
          </a:prstGeom>
          <a:solidFill>
            <a:schemeClr val="accent4"/>
          </a:solidFill>
          <a:ln/>
        </p:spPr>
      </p:sp>
      <p:sp>
        <p:nvSpPr>
          <p:cNvPr id="32" name="num-664"/>
          <p:cNvSpPr txBox="1"/>
          <p:nvPr/>
        </p:nvSpPr>
        <p:spPr>
          <a:xfrm>
            <a:off x="8328965" y="326440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3" name="titulo-665"/>
          <p:cNvSpPr txBox="1"/>
          <p:nvPr/>
        </p:nvSpPr>
        <p:spPr>
          <a:xfrm>
            <a:off x="8905037" y="3246120"/>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Secretos fuera del código</a:t>
            </a:r>
            <a:endParaRPr lang="en-US" sz="1700" dirty="0"/>
          </a:p>
        </p:txBody>
      </p:sp>
      <p:sp>
        <p:nvSpPr>
          <p:cNvPr id="34" name="desc-666"/>
          <p:cNvSpPr txBox="1"/>
          <p:nvPr/>
        </p:nvSpPr>
        <p:spPr>
          <a:xfrm>
            <a:off x="8356397" y="3849624"/>
            <a:ext cx="3058058" cy="1280160"/>
          </a:xfrm>
          <a:prstGeom prst="rect">
            <a:avLst/>
          </a:prstGeom>
          <a:noFill/>
          <a:ln/>
        </p:spPr>
        <p:txBody>
          <a:bodyPr wrap="square" lIns="0" tIns="0" rIns="0" bIns="0" rtlCol="0" anchor="t"/>
          <a:lstStyle/>
          <a:p>
            <a:pPr indent="0" marL="0">
              <a:buNone/>
            </a:pPr>
            <a:r>
              <a:rPr lang="en-US" sz="1600" dirty="0">
                <a:solidFill>
                  <a:schemeClr val="tx1"/>
                </a:solidFill>
              </a:rPr>
              <a:t>Gestores de secretos del proveedor o del pipeline.</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10</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Servidores y despliegue</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Dónde se ejecuta el software, qué piezas necesita un despliegue real y cómo publicar sin cortar el servicio.</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DESPLIEGUE</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Dónde se ejecuta el software</a:t>
            </a:r>
            <a:endParaRPr lang="en-US" sz="3400" dirty="0"/>
          </a:p>
        </p:txBody>
      </p:sp>
      <p:graphicFrame>
        <p:nvGraphicFramePr>
          <p:cNvPr id="54" name="tabla-667"/>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834640"/>
                <a:gridCol w="3931920"/>
                <a:gridCol w="4325112"/>
              </a:tblGrid>
              <a:tr h="548640">
                <a:tc>
                  <a:txBody>
                    <a:bodyPr/>
                    <a:lstStyle/>
                    <a:p>
                      <a:pPr indent="0" marL="0">
                        <a:buNone/>
                      </a:pPr>
                      <a:r>
                        <a:rPr lang="en-US" sz="1400" b="1" dirty="0">
                          <a:solidFill>
                            <a:schemeClr val="bg1"/>
                          </a:solidFill>
                        </a:rPr>
                        <a:t>Opción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Qué 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Ejemplos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48640">
                <a:tc>
                  <a:txBody>
                    <a:bodyPr/>
                    <a:lstStyle/>
                    <a:p>
                      <a:pPr indent="0" marL="0">
                        <a:buNone/>
                      </a:pPr>
                      <a:r>
                        <a:rPr lang="en-US" sz="1400" b="1" dirty="0">
                          <a:solidFill>
                            <a:schemeClr val="tx1"/>
                          </a:solidFill>
                        </a:rPr>
                        <a:t>On-premise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Servidores propios de la organización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Data center de la empresa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VPS / IaaS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Máquina virtual que tú administras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DigitalOcean Droplet, AWS EC2, Azure VM</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PaaS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Subes el código y ellos lo ejecutan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Render, Railway, Heroku, Azure App Service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Contenedores gestionados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Ejecutan tu imagen Docker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Google Cloud Run, AWS Fargate, Azure Container Apps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Kubernetes gestionado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Clúster administrado por el proveedor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EKS, GKE, AKS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Hosting estático + CDN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Archivos del frontend compilado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Vercel, Netlify, Cloudflare Pages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Base de datos gestionada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PostgreSQL administrado con respaldos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Supabase, Neon, AWS RDS, Azure Database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DESPLIEGUE</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Piezas de un despliegue real</a:t>
            </a:r>
            <a:endParaRPr lang="en-US" sz="3400" dirty="0"/>
          </a:p>
        </p:txBody>
      </p:sp>
      <p:sp>
        <p:nvSpPr>
          <p:cNvPr id="5" name="caja-668"/>
          <p:cNvSpPr/>
          <p:nvPr/>
        </p:nvSpPr>
        <p:spPr>
          <a:xfrm>
            <a:off x="548640" y="1847088"/>
            <a:ext cx="1572768" cy="914400"/>
          </a:xfrm>
          <a:prstGeom prst="roundRect">
            <a:avLst>
              <a:gd name="adj" fmla="val 8000"/>
            </a:avLst>
          </a:prstGeom>
          <a:solidFill>
            <a:schemeClr val="accent5"/>
          </a:solidFill>
          <a:ln/>
        </p:spPr>
      </p:sp>
      <p:sp>
        <p:nvSpPr>
          <p:cNvPr id="6" name="caja-t-669"/>
          <p:cNvSpPr txBox="1"/>
          <p:nvPr/>
        </p:nvSpPr>
        <p:spPr>
          <a:xfrm>
            <a:off x="640080" y="1847088"/>
            <a:ext cx="1389888" cy="914400"/>
          </a:xfrm>
          <a:prstGeom prst="rect">
            <a:avLst/>
          </a:prstGeom>
          <a:noFill/>
          <a:ln/>
        </p:spPr>
        <p:txBody>
          <a:bodyPr wrap="square" lIns="0" tIns="0" rIns="0" bIns="0" rtlCol="0" anchor="ctr"/>
          <a:lstStyle/>
          <a:p>
            <a:pPr algn="ctr" indent="0" marL="0">
              <a:buNone/>
            </a:pPr>
            <a:r>
              <a:rPr lang="en-US" sz="1500" b="1" dirty="0">
                <a:solidFill>
                  <a:schemeClr val="bg1"/>
                </a:solidFill>
              </a:rPr>
              <a:t>Usuario</a:t>
            </a:r>
            <a:endParaRPr lang="en-US" sz="1500" dirty="0"/>
          </a:p>
        </p:txBody>
      </p:sp>
      <p:sp>
        <p:nvSpPr>
          <p:cNvPr id="7" name="linea-670"/>
          <p:cNvSpPr/>
          <p:nvPr/>
        </p:nvSpPr>
        <p:spPr>
          <a:xfrm>
            <a:off x="2157984" y="2304288"/>
            <a:ext cx="256032" cy="0"/>
          </a:xfrm>
          <a:prstGeom prst="line">
            <a:avLst/>
          </a:prstGeom>
          <a:noFill/>
          <a:ln w="22225">
            <a:solidFill>
              <a:schemeClr val="accent5"/>
            </a:solidFill>
            <a:prstDash val="solid"/>
            <a:tailEnd type="triangle"/>
          </a:ln>
        </p:spPr>
      </p:sp>
      <p:sp>
        <p:nvSpPr>
          <p:cNvPr id="8" name="caja-671"/>
          <p:cNvSpPr/>
          <p:nvPr/>
        </p:nvSpPr>
        <p:spPr>
          <a:xfrm>
            <a:off x="2450592" y="1847088"/>
            <a:ext cx="1572768" cy="914400"/>
          </a:xfrm>
          <a:prstGeom prst="roundRect">
            <a:avLst>
              <a:gd name="adj" fmla="val 8000"/>
            </a:avLst>
          </a:prstGeom>
          <a:solidFill>
            <a:schemeClr val="accent4"/>
          </a:solidFill>
          <a:ln/>
        </p:spPr>
      </p:sp>
      <p:sp>
        <p:nvSpPr>
          <p:cNvPr id="9" name="caja-t-672"/>
          <p:cNvSpPr txBox="1"/>
          <p:nvPr/>
        </p:nvSpPr>
        <p:spPr>
          <a:xfrm>
            <a:off x="2542032" y="1847088"/>
            <a:ext cx="1389888" cy="914400"/>
          </a:xfrm>
          <a:prstGeom prst="rect">
            <a:avLst/>
          </a:prstGeom>
          <a:noFill/>
          <a:ln/>
        </p:spPr>
        <p:txBody>
          <a:bodyPr wrap="square" lIns="0" tIns="0" rIns="0" bIns="0" rtlCol="0" anchor="ctr"/>
          <a:lstStyle/>
          <a:p>
            <a:pPr algn="ctr" indent="0" marL="0">
              <a:buNone/>
            </a:pPr>
            <a:r>
              <a:rPr lang="en-US" sz="1500" b="1" dirty="0">
                <a:solidFill>
                  <a:schemeClr val="bg1"/>
                </a:solidFill>
              </a:rPr>
              <a:t>DNS</a:t>
            </a:r>
            <a:endParaRPr lang="en-US" sz="1500" dirty="0"/>
          </a:p>
        </p:txBody>
      </p:sp>
      <p:sp>
        <p:nvSpPr>
          <p:cNvPr id="10" name="linea-673"/>
          <p:cNvSpPr/>
          <p:nvPr/>
        </p:nvSpPr>
        <p:spPr>
          <a:xfrm>
            <a:off x="4059936" y="2304288"/>
            <a:ext cx="256032" cy="0"/>
          </a:xfrm>
          <a:prstGeom prst="line">
            <a:avLst/>
          </a:prstGeom>
          <a:noFill/>
          <a:ln w="22225">
            <a:solidFill>
              <a:schemeClr val="accent5"/>
            </a:solidFill>
            <a:prstDash val="solid"/>
            <a:tailEnd type="triangle"/>
          </a:ln>
        </p:spPr>
      </p:sp>
      <p:sp>
        <p:nvSpPr>
          <p:cNvPr id="11" name="caja-674"/>
          <p:cNvSpPr/>
          <p:nvPr/>
        </p:nvSpPr>
        <p:spPr>
          <a:xfrm>
            <a:off x="4352544" y="1847088"/>
            <a:ext cx="1572768" cy="914400"/>
          </a:xfrm>
          <a:prstGeom prst="roundRect">
            <a:avLst>
              <a:gd name="adj" fmla="val 8000"/>
            </a:avLst>
          </a:prstGeom>
          <a:solidFill>
            <a:schemeClr val="accent4"/>
          </a:solidFill>
          <a:ln/>
        </p:spPr>
      </p:sp>
      <p:sp>
        <p:nvSpPr>
          <p:cNvPr id="12" name="caja-t-675"/>
          <p:cNvSpPr txBox="1"/>
          <p:nvPr/>
        </p:nvSpPr>
        <p:spPr>
          <a:xfrm>
            <a:off x="4443984" y="1847088"/>
            <a:ext cx="1389888" cy="914400"/>
          </a:xfrm>
          <a:prstGeom prst="rect">
            <a:avLst/>
          </a:prstGeom>
          <a:noFill/>
          <a:ln/>
        </p:spPr>
        <p:txBody>
          <a:bodyPr wrap="square" lIns="0" tIns="0" rIns="0" bIns="0" rtlCol="0" anchor="ctr"/>
          <a:lstStyle/>
          <a:p>
            <a:pPr algn="ctr" indent="0" marL="0">
              <a:buNone/>
            </a:pPr>
            <a:r>
              <a:rPr lang="en-US" sz="1500" b="1" dirty="0">
                <a:solidFill>
                  <a:schemeClr val="bg1"/>
                </a:solidFill>
              </a:rPr>
              <a:t>Proxy HTTPS</a:t>
            </a:r>
            <a:endParaRPr lang="en-US" sz="1500" dirty="0"/>
          </a:p>
        </p:txBody>
      </p:sp>
      <p:sp>
        <p:nvSpPr>
          <p:cNvPr id="13" name="linea-676"/>
          <p:cNvSpPr/>
          <p:nvPr/>
        </p:nvSpPr>
        <p:spPr>
          <a:xfrm>
            <a:off x="5961888" y="2304288"/>
            <a:ext cx="256032" cy="0"/>
          </a:xfrm>
          <a:prstGeom prst="line">
            <a:avLst/>
          </a:prstGeom>
          <a:noFill/>
          <a:ln w="22225">
            <a:solidFill>
              <a:schemeClr val="accent5"/>
            </a:solidFill>
            <a:prstDash val="solid"/>
            <a:tailEnd type="triangle"/>
          </a:ln>
        </p:spPr>
      </p:sp>
      <p:sp>
        <p:nvSpPr>
          <p:cNvPr id="14" name="caja-677"/>
          <p:cNvSpPr/>
          <p:nvPr/>
        </p:nvSpPr>
        <p:spPr>
          <a:xfrm>
            <a:off x="6254496" y="1847088"/>
            <a:ext cx="1572768" cy="914400"/>
          </a:xfrm>
          <a:prstGeom prst="roundRect">
            <a:avLst>
              <a:gd name="adj" fmla="val 8000"/>
            </a:avLst>
          </a:prstGeom>
          <a:solidFill>
            <a:schemeClr val="accent4"/>
          </a:solidFill>
          <a:ln/>
        </p:spPr>
      </p:sp>
      <p:sp>
        <p:nvSpPr>
          <p:cNvPr id="15" name="caja-t-678"/>
          <p:cNvSpPr txBox="1"/>
          <p:nvPr/>
        </p:nvSpPr>
        <p:spPr>
          <a:xfrm>
            <a:off x="6345936" y="1847088"/>
            <a:ext cx="1389888" cy="914400"/>
          </a:xfrm>
          <a:prstGeom prst="rect">
            <a:avLst/>
          </a:prstGeom>
          <a:noFill/>
          <a:ln/>
        </p:spPr>
        <p:txBody>
          <a:bodyPr wrap="square" lIns="0" tIns="0" rIns="0" bIns="0" rtlCol="0" anchor="ctr"/>
          <a:lstStyle/>
          <a:p>
            <a:pPr algn="ctr" indent="0" marL="0">
              <a:buNone/>
            </a:pPr>
            <a:r>
              <a:rPr lang="en-US" sz="1500" b="1" dirty="0">
                <a:solidFill>
                  <a:schemeClr val="bg1"/>
                </a:solidFill>
              </a:rPr>
              <a:t>Balanceador</a:t>
            </a:r>
            <a:endParaRPr lang="en-US" sz="1500" dirty="0"/>
          </a:p>
        </p:txBody>
      </p:sp>
      <p:sp>
        <p:nvSpPr>
          <p:cNvPr id="16" name="linea-679"/>
          <p:cNvSpPr/>
          <p:nvPr/>
        </p:nvSpPr>
        <p:spPr>
          <a:xfrm>
            <a:off x="7863840" y="2304288"/>
            <a:ext cx="256032" cy="0"/>
          </a:xfrm>
          <a:prstGeom prst="line">
            <a:avLst/>
          </a:prstGeom>
          <a:noFill/>
          <a:ln w="22225">
            <a:solidFill>
              <a:schemeClr val="accent5"/>
            </a:solidFill>
            <a:prstDash val="solid"/>
            <a:tailEnd type="triangle"/>
          </a:ln>
        </p:spPr>
      </p:sp>
      <p:sp>
        <p:nvSpPr>
          <p:cNvPr id="17" name="caja-680"/>
          <p:cNvSpPr/>
          <p:nvPr/>
        </p:nvSpPr>
        <p:spPr>
          <a:xfrm>
            <a:off x="8156448" y="1847088"/>
            <a:ext cx="1572768" cy="914400"/>
          </a:xfrm>
          <a:prstGeom prst="roundRect">
            <a:avLst>
              <a:gd name="adj" fmla="val 8000"/>
            </a:avLst>
          </a:prstGeom>
          <a:solidFill>
            <a:schemeClr val="tx2"/>
          </a:solidFill>
          <a:ln/>
        </p:spPr>
      </p:sp>
      <p:sp>
        <p:nvSpPr>
          <p:cNvPr id="18" name="caja-t-681"/>
          <p:cNvSpPr txBox="1"/>
          <p:nvPr/>
        </p:nvSpPr>
        <p:spPr>
          <a:xfrm>
            <a:off x="8247888" y="1847088"/>
            <a:ext cx="1389888" cy="914400"/>
          </a:xfrm>
          <a:prstGeom prst="rect">
            <a:avLst/>
          </a:prstGeom>
          <a:noFill/>
          <a:ln/>
        </p:spPr>
        <p:txBody>
          <a:bodyPr wrap="square" lIns="0" tIns="0" rIns="0" bIns="0" rtlCol="0" anchor="ctr"/>
          <a:lstStyle/>
          <a:p>
            <a:pPr algn="ctr" indent="0" marL="0">
              <a:buNone/>
            </a:pPr>
            <a:r>
              <a:rPr lang="en-US" sz="1500" b="1" dirty="0">
                <a:solidFill>
                  <a:schemeClr val="bg1"/>
                </a:solidFill>
              </a:rPr>
              <a:t>Instancias de la app</a:t>
            </a:r>
            <a:endParaRPr lang="en-US" sz="1500" dirty="0"/>
          </a:p>
        </p:txBody>
      </p:sp>
      <p:sp>
        <p:nvSpPr>
          <p:cNvPr id="19" name="linea-682"/>
          <p:cNvSpPr/>
          <p:nvPr/>
        </p:nvSpPr>
        <p:spPr>
          <a:xfrm>
            <a:off x="9765792" y="2304288"/>
            <a:ext cx="256032" cy="0"/>
          </a:xfrm>
          <a:prstGeom prst="line">
            <a:avLst/>
          </a:prstGeom>
          <a:noFill/>
          <a:ln w="22225">
            <a:solidFill>
              <a:schemeClr val="accent5"/>
            </a:solidFill>
            <a:prstDash val="solid"/>
            <a:tailEnd type="triangle"/>
          </a:ln>
        </p:spPr>
      </p:sp>
      <p:sp>
        <p:nvSpPr>
          <p:cNvPr id="20" name="caja-683"/>
          <p:cNvSpPr/>
          <p:nvPr/>
        </p:nvSpPr>
        <p:spPr>
          <a:xfrm>
            <a:off x="10058400" y="1847088"/>
            <a:ext cx="1572768" cy="914400"/>
          </a:xfrm>
          <a:prstGeom prst="roundRect">
            <a:avLst>
              <a:gd name="adj" fmla="val 8000"/>
            </a:avLst>
          </a:prstGeom>
          <a:solidFill>
            <a:schemeClr val="accent1"/>
          </a:solidFill>
          <a:ln/>
        </p:spPr>
      </p:sp>
      <p:sp>
        <p:nvSpPr>
          <p:cNvPr id="21" name="caja-t-684"/>
          <p:cNvSpPr txBox="1"/>
          <p:nvPr/>
        </p:nvSpPr>
        <p:spPr>
          <a:xfrm>
            <a:off x="10149840" y="1847088"/>
            <a:ext cx="1389888" cy="914400"/>
          </a:xfrm>
          <a:prstGeom prst="rect">
            <a:avLst/>
          </a:prstGeom>
          <a:noFill/>
          <a:ln/>
        </p:spPr>
        <p:txBody>
          <a:bodyPr wrap="square" lIns="0" tIns="0" rIns="0" bIns="0" rtlCol="0" anchor="ctr"/>
          <a:lstStyle/>
          <a:p>
            <a:pPr algn="ctr" indent="0" marL="0">
              <a:buNone/>
            </a:pPr>
            <a:r>
              <a:rPr lang="en-US" sz="1500" b="1" dirty="0">
                <a:solidFill>
                  <a:schemeClr val="bg1"/>
                </a:solidFill>
              </a:rPr>
              <a:t>Base de datos</a:t>
            </a:r>
            <a:endParaRPr lang="en-US" sz="1500" dirty="0"/>
          </a:p>
        </p:txBody>
      </p:sp>
      <p:sp>
        <p:nvSpPr>
          <p:cNvPr id="22" name="tarjeta-685"/>
          <p:cNvSpPr/>
          <p:nvPr/>
        </p:nvSpPr>
        <p:spPr>
          <a:xfrm>
            <a:off x="548640" y="3337560"/>
            <a:ext cx="2567864" cy="2194560"/>
          </a:xfrm>
          <a:prstGeom prst="roundRect">
            <a:avLst>
              <a:gd name="adj" fmla="val 4167"/>
            </a:avLst>
          </a:prstGeom>
          <a:solidFill>
            <a:schemeClr val="bg2"/>
          </a:solidFill>
          <a:ln/>
        </p:spPr>
      </p:sp>
      <p:sp>
        <p:nvSpPr>
          <p:cNvPr id="23" name="circulo-686"/>
          <p:cNvSpPr/>
          <p:nvPr/>
        </p:nvSpPr>
        <p:spPr>
          <a:xfrm>
            <a:off x="749808" y="3538728"/>
            <a:ext cx="438912" cy="438912"/>
          </a:xfrm>
          <a:prstGeom prst="ellipse">
            <a:avLst/>
          </a:prstGeom>
          <a:solidFill>
            <a:schemeClr val="accent1"/>
          </a:solidFill>
          <a:ln/>
        </p:spPr>
      </p:sp>
      <p:sp>
        <p:nvSpPr>
          <p:cNvPr id="24" name="num-687"/>
          <p:cNvSpPr txBox="1"/>
          <p:nvPr/>
        </p:nvSpPr>
        <p:spPr>
          <a:xfrm>
            <a:off x="749808" y="353872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5" name="titulo-688"/>
          <p:cNvSpPr txBox="1"/>
          <p:nvPr/>
        </p:nvSpPr>
        <p:spPr>
          <a:xfrm>
            <a:off x="1325880" y="3520440"/>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HTTPS en todo</a:t>
            </a:r>
            <a:endParaRPr lang="en-US" sz="1700" dirty="0"/>
          </a:p>
        </p:txBody>
      </p:sp>
      <p:sp>
        <p:nvSpPr>
          <p:cNvPr id="26" name="desc-689"/>
          <p:cNvSpPr txBox="1"/>
          <p:nvPr/>
        </p:nvSpPr>
        <p:spPr>
          <a:xfrm>
            <a:off x="777240" y="4123944"/>
            <a:ext cx="2110664" cy="1280160"/>
          </a:xfrm>
          <a:prstGeom prst="rect">
            <a:avLst/>
          </a:prstGeom>
          <a:noFill/>
          <a:ln/>
        </p:spPr>
        <p:txBody>
          <a:bodyPr wrap="square" lIns="0" tIns="0" rIns="0" bIns="0" rtlCol="0" anchor="t"/>
          <a:lstStyle/>
          <a:p>
            <a:pPr indent="0" marL="0">
              <a:buNone/>
            </a:pPr>
            <a:r>
              <a:rPr lang="en-US" sz="1500" dirty="0">
                <a:solidFill>
                  <a:schemeClr val="tx1"/>
                </a:solidFill>
              </a:rPr>
              <a:t>Certificados gratuitos con Let's Encrypt o los del proveedor.</a:t>
            </a:r>
            <a:endParaRPr lang="en-US" sz="1500" dirty="0"/>
          </a:p>
        </p:txBody>
      </p:sp>
      <p:sp>
        <p:nvSpPr>
          <p:cNvPr id="27" name="tarjeta-690"/>
          <p:cNvSpPr/>
          <p:nvPr/>
        </p:nvSpPr>
        <p:spPr>
          <a:xfrm>
            <a:off x="3390824" y="3337560"/>
            <a:ext cx="2567864" cy="2194560"/>
          </a:xfrm>
          <a:prstGeom prst="roundRect">
            <a:avLst>
              <a:gd name="adj" fmla="val 4167"/>
            </a:avLst>
          </a:prstGeom>
          <a:solidFill>
            <a:schemeClr val="bg2"/>
          </a:solidFill>
          <a:ln/>
        </p:spPr>
      </p:sp>
      <p:sp>
        <p:nvSpPr>
          <p:cNvPr id="28" name="circulo-691"/>
          <p:cNvSpPr/>
          <p:nvPr/>
        </p:nvSpPr>
        <p:spPr>
          <a:xfrm>
            <a:off x="3591992" y="3538728"/>
            <a:ext cx="438912" cy="438912"/>
          </a:xfrm>
          <a:prstGeom prst="ellipse">
            <a:avLst/>
          </a:prstGeom>
          <a:solidFill>
            <a:schemeClr val="accent2"/>
          </a:solidFill>
          <a:ln/>
        </p:spPr>
      </p:sp>
      <p:sp>
        <p:nvSpPr>
          <p:cNvPr id="29" name="num-692"/>
          <p:cNvSpPr txBox="1"/>
          <p:nvPr/>
        </p:nvSpPr>
        <p:spPr>
          <a:xfrm>
            <a:off x="3591992" y="353872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0" name="titulo-693"/>
          <p:cNvSpPr txBox="1"/>
          <p:nvPr/>
        </p:nvSpPr>
        <p:spPr>
          <a:xfrm>
            <a:off x="4168064" y="3520440"/>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Stateless</a:t>
            </a:r>
            <a:endParaRPr lang="en-US" sz="1700" dirty="0"/>
          </a:p>
        </p:txBody>
      </p:sp>
      <p:sp>
        <p:nvSpPr>
          <p:cNvPr id="31" name="desc-694"/>
          <p:cNvSpPr txBox="1"/>
          <p:nvPr/>
        </p:nvSpPr>
        <p:spPr>
          <a:xfrm>
            <a:off x="3619424" y="4123944"/>
            <a:ext cx="2110664" cy="1280160"/>
          </a:xfrm>
          <a:prstGeom prst="rect">
            <a:avLst/>
          </a:prstGeom>
          <a:noFill/>
          <a:ln/>
        </p:spPr>
        <p:txBody>
          <a:bodyPr wrap="square" lIns="0" tIns="0" rIns="0" bIns="0" rtlCol="0" anchor="t"/>
          <a:lstStyle/>
          <a:p>
            <a:pPr indent="0" marL="0">
              <a:buNone/>
            </a:pPr>
            <a:r>
              <a:rPr lang="en-US" sz="1500" dirty="0">
                <a:solidFill>
                  <a:schemeClr val="tx1"/>
                </a:solidFill>
              </a:rPr>
              <a:t>Sin sesiones en memoria para poder escalar horizontalmente.</a:t>
            </a:r>
            <a:endParaRPr lang="en-US" sz="1500" dirty="0"/>
          </a:p>
        </p:txBody>
      </p:sp>
      <p:sp>
        <p:nvSpPr>
          <p:cNvPr id="32" name="tarjeta-695"/>
          <p:cNvSpPr/>
          <p:nvPr/>
        </p:nvSpPr>
        <p:spPr>
          <a:xfrm>
            <a:off x="6233008" y="3337560"/>
            <a:ext cx="2567864" cy="2194560"/>
          </a:xfrm>
          <a:prstGeom prst="roundRect">
            <a:avLst>
              <a:gd name="adj" fmla="val 4167"/>
            </a:avLst>
          </a:prstGeom>
          <a:solidFill>
            <a:schemeClr val="bg2"/>
          </a:solidFill>
          <a:ln/>
        </p:spPr>
      </p:sp>
      <p:sp>
        <p:nvSpPr>
          <p:cNvPr id="33" name="circulo-696"/>
          <p:cNvSpPr/>
          <p:nvPr/>
        </p:nvSpPr>
        <p:spPr>
          <a:xfrm>
            <a:off x="6434176" y="3538728"/>
            <a:ext cx="438912" cy="438912"/>
          </a:xfrm>
          <a:prstGeom prst="ellipse">
            <a:avLst/>
          </a:prstGeom>
          <a:solidFill>
            <a:schemeClr val="accent3"/>
          </a:solidFill>
          <a:ln/>
        </p:spPr>
      </p:sp>
      <p:sp>
        <p:nvSpPr>
          <p:cNvPr id="34" name="num-697"/>
          <p:cNvSpPr txBox="1"/>
          <p:nvPr/>
        </p:nvSpPr>
        <p:spPr>
          <a:xfrm>
            <a:off x="6434176" y="353872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5" name="titulo-698"/>
          <p:cNvSpPr txBox="1"/>
          <p:nvPr/>
        </p:nvSpPr>
        <p:spPr>
          <a:xfrm>
            <a:off x="7010248" y="3520440"/>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Red privada</a:t>
            </a:r>
            <a:endParaRPr lang="en-US" sz="1700" dirty="0"/>
          </a:p>
        </p:txBody>
      </p:sp>
      <p:sp>
        <p:nvSpPr>
          <p:cNvPr id="36" name="desc-699"/>
          <p:cNvSpPr txBox="1"/>
          <p:nvPr/>
        </p:nvSpPr>
        <p:spPr>
          <a:xfrm>
            <a:off x="6461608" y="4123944"/>
            <a:ext cx="2110664" cy="1280160"/>
          </a:xfrm>
          <a:prstGeom prst="rect">
            <a:avLst/>
          </a:prstGeom>
          <a:noFill/>
          <a:ln/>
        </p:spPr>
        <p:txBody>
          <a:bodyPr wrap="square" lIns="0" tIns="0" rIns="0" bIns="0" rtlCol="0" anchor="t"/>
          <a:lstStyle/>
          <a:p>
            <a:pPr indent="0" marL="0">
              <a:buNone/>
            </a:pPr>
            <a:r>
              <a:rPr lang="en-US" sz="1500" dirty="0">
                <a:solidFill>
                  <a:schemeClr val="tx1"/>
                </a:solidFill>
              </a:rPr>
              <a:t>La base solo acepta conexiones del backend.</a:t>
            </a:r>
            <a:endParaRPr lang="en-US" sz="1500" dirty="0"/>
          </a:p>
        </p:txBody>
      </p:sp>
      <p:sp>
        <p:nvSpPr>
          <p:cNvPr id="37" name="tarjeta-700"/>
          <p:cNvSpPr/>
          <p:nvPr/>
        </p:nvSpPr>
        <p:spPr>
          <a:xfrm>
            <a:off x="9075191" y="3337560"/>
            <a:ext cx="2567864" cy="2194560"/>
          </a:xfrm>
          <a:prstGeom prst="roundRect">
            <a:avLst>
              <a:gd name="adj" fmla="val 4167"/>
            </a:avLst>
          </a:prstGeom>
          <a:solidFill>
            <a:schemeClr val="bg2"/>
          </a:solidFill>
          <a:ln/>
        </p:spPr>
      </p:sp>
      <p:sp>
        <p:nvSpPr>
          <p:cNvPr id="38" name="circulo-701"/>
          <p:cNvSpPr/>
          <p:nvPr/>
        </p:nvSpPr>
        <p:spPr>
          <a:xfrm>
            <a:off x="9276359" y="3538728"/>
            <a:ext cx="438912" cy="438912"/>
          </a:xfrm>
          <a:prstGeom prst="ellipse">
            <a:avLst/>
          </a:prstGeom>
          <a:solidFill>
            <a:schemeClr val="accent4"/>
          </a:solidFill>
          <a:ln/>
        </p:spPr>
      </p:sp>
      <p:sp>
        <p:nvSpPr>
          <p:cNvPr id="39" name="num-702"/>
          <p:cNvSpPr txBox="1"/>
          <p:nvPr/>
        </p:nvSpPr>
        <p:spPr>
          <a:xfrm>
            <a:off x="9276359" y="353872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0" name="titulo-703"/>
          <p:cNvSpPr txBox="1"/>
          <p:nvPr/>
        </p:nvSpPr>
        <p:spPr>
          <a:xfrm>
            <a:off x="9852431" y="3520440"/>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Salud</a:t>
            </a:r>
            <a:endParaRPr lang="en-US" sz="1700" dirty="0"/>
          </a:p>
        </p:txBody>
      </p:sp>
      <p:sp>
        <p:nvSpPr>
          <p:cNvPr id="41" name="desc-704"/>
          <p:cNvSpPr txBox="1"/>
          <p:nvPr/>
        </p:nvSpPr>
        <p:spPr>
          <a:xfrm>
            <a:off x="9303791" y="4123944"/>
            <a:ext cx="2110664" cy="1280160"/>
          </a:xfrm>
          <a:prstGeom prst="rect">
            <a:avLst/>
          </a:prstGeom>
          <a:noFill/>
          <a:ln/>
        </p:spPr>
        <p:txBody>
          <a:bodyPr wrap="square" lIns="0" tIns="0" rIns="0" bIns="0" rtlCol="0" anchor="t"/>
          <a:lstStyle/>
          <a:p>
            <a:pPr indent="0" marL="0">
              <a:buNone/>
            </a:pPr>
            <a:r>
              <a:rPr lang="en-US" sz="1500" dirty="0">
                <a:solidFill>
                  <a:schemeClr val="tx1"/>
                </a:solidFill>
              </a:rPr>
              <a:t>Un endpoint /health que el balanceador consulta.</a:t>
            </a:r>
            <a:endParaRPr lang="en-US" sz="15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DESPLIEGUE</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Estrategias de despliegue</a:t>
            </a:r>
            <a:endParaRPr lang="en-US" sz="3400" dirty="0"/>
          </a:p>
        </p:txBody>
      </p:sp>
      <p:sp>
        <p:nvSpPr>
          <p:cNvPr id="5" name="tarjeta-705"/>
          <p:cNvSpPr/>
          <p:nvPr/>
        </p:nvSpPr>
        <p:spPr>
          <a:xfrm>
            <a:off x="548640" y="1481328"/>
            <a:ext cx="3515258" cy="2208276"/>
          </a:xfrm>
          <a:prstGeom prst="roundRect">
            <a:avLst>
              <a:gd name="adj" fmla="val 4141"/>
            </a:avLst>
          </a:prstGeom>
          <a:solidFill>
            <a:schemeClr val="bg2"/>
          </a:solidFill>
          <a:ln/>
        </p:spPr>
      </p:sp>
      <p:sp>
        <p:nvSpPr>
          <p:cNvPr id="6" name="circulo-706"/>
          <p:cNvSpPr/>
          <p:nvPr/>
        </p:nvSpPr>
        <p:spPr>
          <a:xfrm>
            <a:off x="749808" y="1682496"/>
            <a:ext cx="438912" cy="438912"/>
          </a:xfrm>
          <a:prstGeom prst="ellipse">
            <a:avLst/>
          </a:prstGeom>
          <a:solidFill>
            <a:schemeClr val="accent1"/>
          </a:solidFill>
          <a:ln/>
        </p:spPr>
      </p:sp>
      <p:sp>
        <p:nvSpPr>
          <p:cNvPr id="7" name="num-707"/>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708"/>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Rolling</a:t>
            </a:r>
            <a:endParaRPr lang="en-US" sz="1700" dirty="0"/>
          </a:p>
        </p:txBody>
      </p:sp>
      <p:sp>
        <p:nvSpPr>
          <p:cNvPr id="9" name="desc-709"/>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Se reemplazan las instancias de a poco; siempre hay alguna atendiendo.</a:t>
            </a:r>
            <a:endParaRPr lang="en-US" sz="1600" dirty="0"/>
          </a:p>
        </p:txBody>
      </p:sp>
      <p:sp>
        <p:nvSpPr>
          <p:cNvPr id="10" name="tarjeta-710"/>
          <p:cNvSpPr/>
          <p:nvPr/>
        </p:nvSpPr>
        <p:spPr>
          <a:xfrm>
            <a:off x="4338218" y="1481328"/>
            <a:ext cx="3515258" cy="2208276"/>
          </a:xfrm>
          <a:prstGeom prst="roundRect">
            <a:avLst>
              <a:gd name="adj" fmla="val 4141"/>
            </a:avLst>
          </a:prstGeom>
          <a:solidFill>
            <a:schemeClr val="bg2"/>
          </a:solidFill>
          <a:ln/>
        </p:spPr>
      </p:sp>
      <p:sp>
        <p:nvSpPr>
          <p:cNvPr id="11" name="circulo-711"/>
          <p:cNvSpPr/>
          <p:nvPr/>
        </p:nvSpPr>
        <p:spPr>
          <a:xfrm>
            <a:off x="4539386" y="1682496"/>
            <a:ext cx="438912" cy="438912"/>
          </a:xfrm>
          <a:prstGeom prst="ellipse">
            <a:avLst/>
          </a:prstGeom>
          <a:solidFill>
            <a:schemeClr val="accent2"/>
          </a:solidFill>
          <a:ln/>
        </p:spPr>
      </p:sp>
      <p:sp>
        <p:nvSpPr>
          <p:cNvPr id="12" name="num-712"/>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713"/>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Blue-green</a:t>
            </a:r>
            <a:endParaRPr lang="en-US" sz="1700" dirty="0"/>
          </a:p>
        </p:txBody>
      </p:sp>
      <p:sp>
        <p:nvSpPr>
          <p:cNvPr id="14" name="desc-714"/>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Dos ambientes idénticos; se cambia todo el tráfico de uno al otro.</a:t>
            </a:r>
            <a:endParaRPr lang="en-US" sz="1600" dirty="0"/>
          </a:p>
        </p:txBody>
      </p:sp>
      <p:sp>
        <p:nvSpPr>
          <p:cNvPr id="15" name="tarjeta-715"/>
          <p:cNvSpPr/>
          <p:nvPr/>
        </p:nvSpPr>
        <p:spPr>
          <a:xfrm>
            <a:off x="8127797" y="1481328"/>
            <a:ext cx="3515258" cy="2208276"/>
          </a:xfrm>
          <a:prstGeom prst="roundRect">
            <a:avLst>
              <a:gd name="adj" fmla="val 4141"/>
            </a:avLst>
          </a:prstGeom>
          <a:solidFill>
            <a:schemeClr val="bg2"/>
          </a:solidFill>
          <a:ln/>
        </p:spPr>
      </p:sp>
      <p:sp>
        <p:nvSpPr>
          <p:cNvPr id="16" name="circulo-716"/>
          <p:cNvSpPr/>
          <p:nvPr/>
        </p:nvSpPr>
        <p:spPr>
          <a:xfrm>
            <a:off x="8328965" y="1682496"/>
            <a:ext cx="438912" cy="438912"/>
          </a:xfrm>
          <a:prstGeom prst="ellipse">
            <a:avLst/>
          </a:prstGeom>
          <a:solidFill>
            <a:schemeClr val="accent3"/>
          </a:solidFill>
          <a:ln/>
        </p:spPr>
      </p:sp>
      <p:sp>
        <p:nvSpPr>
          <p:cNvPr id="17" name="num-717"/>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718"/>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Canary</a:t>
            </a:r>
            <a:endParaRPr lang="en-US" sz="1700" dirty="0"/>
          </a:p>
        </p:txBody>
      </p:sp>
      <p:sp>
        <p:nvSpPr>
          <p:cNvPr id="19" name="desc-719"/>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La versión nueva recibe primero un porcentaje pequeño de usuarios.</a:t>
            </a:r>
            <a:endParaRPr lang="en-US" sz="1600" dirty="0"/>
          </a:p>
        </p:txBody>
      </p:sp>
      <p:sp>
        <p:nvSpPr>
          <p:cNvPr id="20" name="tarjeta-720"/>
          <p:cNvSpPr/>
          <p:nvPr/>
        </p:nvSpPr>
        <p:spPr>
          <a:xfrm>
            <a:off x="548640" y="3963924"/>
            <a:ext cx="3515258" cy="2208276"/>
          </a:xfrm>
          <a:prstGeom prst="roundRect">
            <a:avLst>
              <a:gd name="adj" fmla="val 4141"/>
            </a:avLst>
          </a:prstGeom>
          <a:solidFill>
            <a:schemeClr val="bg2"/>
          </a:solidFill>
          <a:ln/>
        </p:spPr>
      </p:sp>
      <p:sp>
        <p:nvSpPr>
          <p:cNvPr id="21" name="circulo-721"/>
          <p:cNvSpPr/>
          <p:nvPr/>
        </p:nvSpPr>
        <p:spPr>
          <a:xfrm>
            <a:off x="749808" y="4165092"/>
            <a:ext cx="438912" cy="438912"/>
          </a:xfrm>
          <a:prstGeom prst="ellipse">
            <a:avLst/>
          </a:prstGeom>
          <a:solidFill>
            <a:schemeClr val="accent4"/>
          </a:solidFill>
          <a:ln/>
        </p:spPr>
      </p:sp>
      <p:sp>
        <p:nvSpPr>
          <p:cNvPr id="22" name="num-722"/>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723"/>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Feature flags</a:t>
            </a:r>
            <a:endParaRPr lang="en-US" sz="1700" dirty="0"/>
          </a:p>
        </p:txBody>
      </p:sp>
      <p:sp>
        <p:nvSpPr>
          <p:cNvPr id="24" name="desc-724"/>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El código se despliega apagado y se activa cuando está listo.</a:t>
            </a:r>
            <a:endParaRPr lang="en-US" sz="1600" dirty="0"/>
          </a:p>
        </p:txBody>
      </p:sp>
      <p:sp>
        <p:nvSpPr>
          <p:cNvPr id="25" name="tarjeta-725"/>
          <p:cNvSpPr/>
          <p:nvPr/>
        </p:nvSpPr>
        <p:spPr>
          <a:xfrm>
            <a:off x="4338218" y="3963924"/>
            <a:ext cx="3515258" cy="2208276"/>
          </a:xfrm>
          <a:prstGeom prst="roundRect">
            <a:avLst>
              <a:gd name="adj" fmla="val 4141"/>
            </a:avLst>
          </a:prstGeom>
          <a:solidFill>
            <a:schemeClr val="bg2"/>
          </a:solidFill>
          <a:ln/>
        </p:spPr>
      </p:sp>
      <p:sp>
        <p:nvSpPr>
          <p:cNvPr id="26" name="circulo-726"/>
          <p:cNvSpPr/>
          <p:nvPr/>
        </p:nvSpPr>
        <p:spPr>
          <a:xfrm>
            <a:off x="4539386" y="4165092"/>
            <a:ext cx="438912" cy="438912"/>
          </a:xfrm>
          <a:prstGeom prst="ellipse">
            <a:avLst/>
          </a:prstGeom>
          <a:solidFill>
            <a:schemeClr val="accent6"/>
          </a:solidFill>
          <a:ln/>
        </p:spPr>
      </p:sp>
      <p:sp>
        <p:nvSpPr>
          <p:cNvPr id="27" name="num-727"/>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728"/>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Rollback</a:t>
            </a:r>
            <a:endParaRPr lang="en-US" sz="1700" dirty="0"/>
          </a:p>
        </p:txBody>
      </p:sp>
      <p:sp>
        <p:nvSpPr>
          <p:cNvPr id="29" name="desc-729"/>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Volver rápido a la versión anterior si algo falla.</a:t>
            </a:r>
            <a:endParaRPr lang="en-US" sz="1600" dirty="0"/>
          </a:p>
        </p:txBody>
      </p:sp>
      <p:sp>
        <p:nvSpPr>
          <p:cNvPr id="30" name="tarjeta-730"/>
          <p:cNvSpPr/>
          <p:nvPr/>
        </p:nvSpPr>
        <p:spPr>
          <a:xfrm>
            <a:off x="8127797" y="3963924"/>
            <a:ext cx="3515258" cy="2208276"/>
          </a:xfrm>
          <a:prstGeom prst="roundRect">
            <a:avLst>
              <a:gd name="adj" fmla="val 4141"/>
            </a:avLst>
          </a:prstGeom>
          <a:solidFill>
            <a:schemeClr val="bg2"/>
          </a:solidFill>
          <a:ln/>
        </p:spPr>
      </p:sp>
      <p:sp>
        <p:nvSpPr>
          <p:cNvPr id="31" name="circulo-731"/>
          <p:cNvSpPr/>
          <p:nvPr/>
        </p:nvSpPr>
        <p:spPr>
          <a:xfrm>
            <a:off x="8328965" y="4165092"/>
            <a:ext cx="438912" cy="438912"/>
          </a:xfrm>
          <a:prstGeom prst="ellipse">
            <a:avLst/>
          </a:prstGeom>
          <a:solidFill>
            <a:schemeClr val="accent5"/>
          </a:solidFill>
          <a:ln/>
        </p:spPr>
      </p:sp>
      <p:sp>
        <p:nvSpPr>
          <p:cNvPr id="32" name="num-732"/>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733"/>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Migraciones en dos fases</a:t>
            </a:r>
            <a:endParaRPr lang="en-US" sz="1700" dirty="0"/>
          </a:p>
        </p:txBody>
      </p:sp>
      <p:sp>
        <p:nvSpPr>
          <p:cNvPr id="34" name="desc-734"/>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Expandir el esquema, migrar y luego retirar lo viejo.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11</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Seguridad</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Lo que más suele faltar en un proyecto de estudiante y lo primero que importa antes de publicar.</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SEGURIDAD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OWASP Top 10: los riesgos más comunes en la web</a:t>
            </a:r>
            <a:endParaRPr lang="en-US" sz="3400" dirty="0"/>
          </a:p>
        </p:txBody>
      </p:sp>
      <p:graphicFrame>
        <p:nvGraphicFramePr>
          <p:cNvPr id="58" name="tabla-735"/>
          <p:cNvGraphicFramePr>
            <a:graphicFrameLocks noGrp="1"/>
          </p:cNvGraphicFramePr>
          <p:nvPr>
            <p:extLst>
              <p:ext uri="{D42A27DB-BD31-4B8C-83A1-F6EECF244321}">
                <p14:modId xmlns:p14="http://schemas.microsoft.com/office/powerpoint/2010/main" val="1579011935"/>
              </p:ext>
            </p:extLst>
          </p:nvPr>
        </p:nvGraphicFramePr>
        <p:xfrm>
          <a:off x="548640" y="1481328"/>
          <a:ext cx="5394960" cy="914400"/>
        </p:xfrm>
        <a:graphic>
          <a:graphicData uri="http://schemas.openxmlformats.org/drawingml/2006/table">
            <a:tbl>
              <a:tblPr/>
              <a:tblGrid>
                <a:gridCol w="1097280"/>
                <a:gridCol w="4297680"/>
              </a:tblGrid>
              <a:tr h="566928">
                <a:tc>
                  <a:txBody>
                    <a:bodyPr/>
                    <a:lstStyle/>
                    <a:p>
                      <a:pPr indent="0" marL="0">
                        <a:buNone/>
                      </a:pPr>
                      <a:r>
                        <a:rPr lang="en-US" sz="1400" b="1" dirty="0">
                          <a:solidFill>
                            <a:schemeClr val="bg1"/>
                          </a:solidFill>
                        </a:rPr>
                        <a:t>Código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Riesgo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A01</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Control de acceso roto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A02</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Fallas criptográficas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A03</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Inyección (SQL, XSS)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A04</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Diseño inseguro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A05</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Configuración insegura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graphicFrame>
        <p:nvGraphicFramePr>
          <p:cNvPr id="115" name="tabla-736"/>
          <p:cNvGraphicFramePr>
            <a:graphicFrameLocks noGrp="1"/>
          </p:cNvGraphicFramePr>
          <p:nvPr>
            <p:extLst>
              <p:ext uri="{D42A27DB-BD31-4B8C-83A1-F6EECF244321}">
                <p14:modId xmlns:p14="http://schemas.microsoft.com/office/powerpoint/2010/main" val="1579011935"/>
              </p:ext>
            </p:extLst>
          </p:nvPr>
        </p:nvGraphicFramePr>
        <p:xfrm>
          <a:off x="6245352" y="1481328"/>
          <a:ext cx="5394960" cy="914400"/>
        </p:xfrm>
        <a:graphic>
          <a:graphicData uri="http://schemas.openxmlformats.org/drawingml/2006/table">
            <a:tbl>
              <a:tblPr/>
              <a:tblGrid>
                <a:gridCol w="1097280"/>
                <a:gridCol w="4297680"/>
              </a:tblGrid>
              <a:tr h="566928">
                <a:tc>
                  <a:txBody>
                    <a:bodyPr/>
                    <a:lstStyle/>
                    <a:p>
                      <a:pPr indent="0" marL="0">
                        <a:buNone/>
                      </a:pPr>
                      <a:r>
                        <a:rPr lang="en-US" sz="1400" b="1" dirty="0">
                          <a:solidFill>
                            <a:schemeClr val="bg1"/>
                          </a:solidFill>
                        </a:rPr>
                        <a:t>Código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Riesgo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A06</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Componentes vulnerables o desactualizados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A07</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Fallas de identificación y autenticación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A08</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Fallas de integridad de software y datos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A09</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Fallas de registro y monitoreo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A10</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Falsificación de peticiones del servidor (SSRF)</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7" name="destacado-737"/>
          <p:cNvSpPr/>
          <p:nvPr/>
        </p:nvSpPr>
        <p:spPr>
          <a:xfrm>
            <a:off x="548640" y="5120640"/>
            <a:ext cx="11094415" cy="566928"/>
          </a:xfrm>
          <a:prstGeom prst="roundRect">
            <a:avLst>
              <a:gd name="adj" fmla="val 12903"/>
            </a:avLst>
          </a:prstGeom>
          <a:solidFill>
            <a:schemeClr val="tx2"/>
          </a:solidFill>
          <a:ln/>
        </p:spPr>
      </p:sp>
      <p:sp>
        <p:nvSpPr>
          <p:cNvPr id="8" name="destacado-t-738"/>
          <p:cNvSpPr txBox="1"/>
          <p:nvPr/>
        </p:nvSpPr>
        <p:spPr>
          <a:xfrm>
            <a:off x="822960" y="5120640"/>
            <a:ext cx="10545775" cy="566928"/>
          </a:xfrm>
          <a:prstGeom prst="rect">
            <a:avLst/>
          </a:prstGeom>
          <a:noFill/>
          <a:ln/>
        </p:spPr>
        <p:txBody>
          <a:bodyPr wrap="square" lIns="0" tIns="0" rIns="0" bIns="0" rtlCol="0" anchor="ctr"/>
          <a:lstStyle/>
          <a:p>
            <a:pPr indent="0" marL="0">
              <a:buNone/>
            </a:pPr>
            <a:r>
              <a:rPr lang="en-US" sz="1600" dirty="0">
                <a:solidFill>
                  <a:schemeClr val="bg1"/>
                </a:solidFill>
              </a:rPr>
              <a:t>Validar siempre en el servidor: el frontend se puede saltar con cualquier cliente HTTP.</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SEGURIDAD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Autenticación y autorización</a:t>
            </a:r>
            <a:endParaRPr lang="en-US" sz="3400" dirty="0"/>
          </a:p>
        </p:txBody>
      </p:sp>
      <p:sp>
        <p:nvSpPr>
          <p:cNvPr id="5" name="panel-739"/>
          <p:cNvSpPr/>
          <p:nvPr/>
        </p:nvSpPr>
        <p:spPr>
          <a:xfrm>
            <a:off x="548640" y="1481328"/>
            <a:ext cx="5394960" cy="4690872"/>
          </a:xfrm>
          <a:prstGeom prst="roundRect">
            <a:avLst>
              <a:gd name="adj" fmla="val 1949"/>
            </a:avLst>
          </a:prstGeom>
          <a:solidFill>
            <a:schemeClr val="bg2"/>
          </a:solidFill>
          <a:ln/>
        </p:spPr>
      </p:sp>
      <p:sp>
        <p:nvSpPr>
          <p:cNvPr id="6" name="panel-cab-740"/>
          <p:cNvSpPr/>
          <p:nvPr/>
        </p:nvSpPr>
        <p:spPr>
          <a:xfrm>
            <a:off x="777240" y="1709928"/>
            <a:ext cx="4937760" cy="548640"/>
          </a:xfrm>
          <a:prstGeom prst="roundRect">
            <a:avLst>
              <a:gd name="adj" fmla="val 13333"/>
            </a:avLst>
          </a:prstGeom>
          <a:solidFill>
            <a:schemeClr val="tx2"/>
          </a:solidFill>
          <a:ln/>
        </p:spPr>
      </p:sp>
      <p:sp>
        <p:nvSpPr>
          <p:cNvPr id="7" name="panel-t-741"/>
          <p:cNvSpPr txBox="1"/>
          <p:nvPr/>
        </p:nvSpPr>
        <p:spPr>
          <a:xfrm>
            <a:off x="868680" y="1709928"/>
            <a:ext cx="4754880" cy="548640"/>
          </a:xfrm>
          <a:prstGeom prst="rect">
            <a:avLst/>
          </a:prstGeom>
          <a:noFill/>
          <a:ln/>
        </p:spPr>
        <p:txBody>
          <a:bodyPr wrap="square" lIns="0" tIns="0" rIns="0" bIns="0" rtlCol="0" anchor="ctr"/>
          <a:lstStyle/>
          <a:p>
            <a:pPr indent="0" marL="0">
              <a:buNone/>
            </a:pPr>
            <a:r>
              <a:rPr lang="en-US" sz="1800" b="1" dirty="0">
                <a:solidFill>
                  <a:schemeClr val="bg1"/>
                </a:solidFill>
              </a:rPr>
              <a:t>Autenticación: ¿quién eres?</a:t>
            </a:r>
            <a:endParaRPr lang="en-US" sz="1800" dirty="0"/>
          </a:p>
        </p:txBody>
      </p:sp>
      <p:sp>
        <p:nvSpPr>
          <p:cNvPr id="8" name="lista-742"/>
          <p:cNvSpPr txBox="1"/>
          <p:nvPr/>
        </p:nvSpPr>
        <p:spPr>
          <a:xfrm>
            <a:off x="868680" y="2441448"/>
            <a:ext cx="4754880" cy="35478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Login con contraseña con hash (bcrypt, Argon2)</a:t>
            </a:r>
            <a:endParaRPr lang="en-US" sz="1600" dirty="0"/>
          </a:p>
          <a:p>
            <a:pPr marL="228600" indent="-228600">
              <a:spcAft>
                <a:spcPts val="800"/>
              </a:spcAft>
              <a:buSzPct val="100000"/>
              <a:buChar char="•"/>
            </a:pPr>
            <a:r>
              <a:rPr lang="en-US" sz="1600" dirty="0">
                <a:solidFill>
                  <a:schemeClr val="tx1"/>
                </a:solidFill>
              </a:rPr>
              <a:t>Sesión o token (JWT) con expiración</a:t>
            </a:r>
            <a:endParaRPr lang="en-US" sz="1600" dirty="0"/>
          </a:p>
          <a:p>
            <a:pPr marL="228600" indent="-228600">
              <a:spcAft>
                <a:spcPts val="800"/>
              </a:spcAft>
              <a:buSzPct val="100000"/>
              <a:buChar char="•"/>
            </a:pPr>
            <a:r>
              <a:rPr lang="en-US" sz="1600" dirty="0">
                <a:solidFill>
                  <a:schemeClr val="tx1"/>
                </a:solidFill>
              </a:rPr>
              <a:t>OAuth2 / OpenID Connect: "entrar con Google"</a:t>
            </a:r>
            <a:endParaRPr lang="en-US" sz="1600" dirty="0"/>
          </a:p>
          <a:p>
            <a:pPr marL="228600" indent="-228600">
              <a:spcAft>
                <a:spcPts val="800"/>
              </a:spcAft>
              <a:buSzPct val="100000"/>
              <a:buChar char="•"/>
            </a:pPr>
            <a:r>
              <a:rPr lang="en-US" sz="1600" dirty="0">
                <a:solidFill>
                  <a:schemeClr val="tx1"/>
                </a:solidFill>
              </a:rPr>
              <a:t>MFA: segundo factor</a:t>
            </a:r>
            <a:endParaRPr lang="en-US" sz="1600" dirty="0"/>
          </a:p>
          <a:p>
            <a:pPr marL="228600" indent="-228600">
              <a:spcAft>
                <a:spcPts val="800"/>
              </a:spcAft>
              <a:buSzPct val="100000"/>
              <a:buChar char="•"/>
            </a:pPr>
            <a:r>
              <a:rPr lang="en-US" sz="1600" dirty="0">
                <a:solidFill>
                  <a:schemeClr val="tx1"/>
                </a:solidFill>
              </a:rPr>
              <a:t>Bloqueo ante intentos repetidos</a:t>
            </a:r>
            <a:endParaRPr lang="en-US" sz="1600" dirty="0"/>
          </a:p>
        </p:txBody>
      </p:sp>
      <p:sp>
        <p:nvSpPr>
          <p:cNvPr id="9" name="panel-743"/>
          <p:cNvSpPr/>
          <p:nvPr/>
        </p:nvSpPr>
        <p:spPr>
          <a:xfrm>
            <a:off x="6245352" y="1481328"/>
            <a:ext cx="5394960" cy="4690872"/>
          </a:xfrm>
          <a:prstGeom prst="roundRect">
            <a:avLst>
              <a:gd name="adj" fmla="val 1949"/>
            </a:avLst>
          </a:prstGeom>
          <a:solidFill>
            <a:schemeClr val="bg2"/>
          </a:solidFill>
          <a:ln/>
        </p:spPr>
      </p:sp>
      <p:sp>
        <p:nvSpPr>
          <p:cNvPr id="10" name="panel-cab-744"/>
          <p:cNvSpPr/>
          <p:nvPr/>
        </p:nvSpPr>
        <p:spPr>
          <a:xfrm>
            <a:off x="6473952" y="1709928"/>
            <a:ext cx="4937760" cy="548640"/>
          </a:xfrm>
          <a:prstGeom prst="roundRect">
            <a:avLst>
              <a:gd name="adj" fmla="val 13333"/>
            </a:avLst>
          </a:prstGeom>
          <a:solidFill>
            <a:schemeClr val="accent1"/>
          </a:solidFill>
          <a:ln/>
        </p:spPr>
      </p:sp>
      <p:sp>
        <p:nvSpPr>
          <p:cNvPr id="11" name="panel-t-745"/>
          <p:cNvSpPr txBox="1"/>
          <p:nvPr/>
        </p:nvSpPr>
        <p:spPr>
          <a:xfrm>
            <a:off x="6565392" y="1709928"/>
            <a:ext cx="4754880" cy="548640"/>
          </a:xfrm>
          <a:prstGeom prst="rect">
            <a:avLst/>
          </a:prstGeom>
          <a:noFill/>
          <a:ln/>
        </p:spPr>
        <p:txBody>
          <a:bodyPr wrap="square" lIns="0" tIns="0" rIns="0" bIns="0" rtlCol="0" anchor="ctr"/>
          <a:lstStyle/>
          <a:p>
            <a:pPr indent="0" marL="0">
              <a:buNone/>
            </a:pPr>
            <a:r>
              <a:rPr lang="en-US" sz="1800" b="1" dirty="0">
                <a:solidFill>
                  <a:schemeClr val="bg1"/>
                </a:solidFill>
              </a:rPr>
              <a:t>Autorización: ¿qué puedes hacer?</a:t>
            </a:r>
            <a:endParaRPr lang="en-US" sz="1800" dirty="0"/>
          </a:p>
        </p:txBody>
      </p:sp>
      <p:sp>
        <p:nvSpPr>
          <p:cNvPr id="12" name="lista-746"/>
          <p:cNvSpPr txBox="1"/>
          <p:nvPr/>
        </p:nvSpPr>
        <p:spPr>
          <a:xfrm>
            <a:off x="6565392" y="2441448"/>
            <a:ext cx="4754880" cy="35478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Roles y permisos (administrador, usuario)</a:t>
            </a:r>
            <a:endParaRPr lang="en-US" sz="1600" dirty="0"/>
          </a:p>
          <a:p>
            <a:pPr marL="228600" indent="-228600">
              <a:spcAft>
                <a:spcPts val="800"/>
              </a:spcAft>
              <a:buSzPct val="100000"/>
              <a:buChar char="•"/>
            </a:pPr>
            <a:r>
              <a:rPr lang="en-US" sz="1600" dirty="0">
                <a:solidFill>
                  <a:schemeClr val="tx1"/>
                </a:solidFill>
              </a:rPr>
              <a:t>Propiedad: solo tus recursos</a:t>
            </a:r>
            <a:endParaRPr lang="en-US" sz="1600" dirty="0"/>
          </a:p>
          <a:p>
            <a:pPr marL="228600" indent="-228600">
              <a:spcAft>
                <a:spcPts val="800"/>
              </a:spcAft>
              <a:buSzPct val="100000"/>
              <a:buChar char="•"/>
            </a:pPr>
            <a:r>
              <a:rPr lang="en-US" sz="1600" dirty="0">
                <a:solidFill>
                  <a:schemeClr val="tx1"/>
                </a:solidFill>
              </a:rPr>
              <a:t>Mínimo privilegio en usuarios y bases</a:t>
            </a:r>
            <a:endParaRPr lang="en-US" sz="1600" dirty="0"/>
          </a:p>
          <a:p>
            <a:pPr marL="228600" indent="-228600">
              <a:spcAft>
                <a:spcPts val="800"/>
              </a:spcAft>
              <a:buSzPct val="100000"/>
              <a:buChar char="•"/>
            </a:pPr>
            <a:r>
              <a:rPr lang="en-US" sz="1600" dirty="0">
                <a:solidFill>
                  <a:schemeClr val="tx1"/>
                </a:solidFill>
              </a:rPr>
              <a:t>Verificar en el servidor, en cada operación</a:t>
            </a:r>
            <a:endParaRPr lang="en-US" sz="1600" dirty="0"/>
          </a:p>
          <a:p>
            <a:pPr marL="228600" indent="-228600">
              <a:spcAft>
                <a:spcPts val="800"/>
              </a:spcAft>
              <a:buSzPct val="100000"/>
              <a:buChar char="•"/>
            </a:pPr>
            <a:r>
              <a:rPr lang="en-US" sz="1600" dirty="0">
                <a:solidFill>
                  <a:schemeClr val="tx1"/>
                </a:solidFill>
              </a:rPr>
              <a:t>Responder 401 sin sesión y 403 sin permiso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SEGURIDAD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Prácticas de seguridad del día a día</a:t>
            </a:r>
            <a:endParaRPr lang="en-US" sz="3400" dirty="0"/>
          </a:p>
        </p:txBody>
      </p:sp>
      <p:sp>
        <p:nvSpPr>
          <p:cNvPr id="5" name="tarjeta-747"/>
          <p:cNvSpPr/>
          <p:nvPr/>
        </p:nvSpPr>
        <p:spPr>
          <a:xfrm>
            <a:off x="548640" y="1481328"/>
            <a:ext cx="3515258" cy="2208276"/>
          </a:xfrm>
          <a:prstGeom prst="roundRect">
            <a:avLst>
              <a:gd name="adj" fmla="val 4141"/>
            </a:avLst>
          </a:prstGeom>
          <a:solidFill>
            <a:schemeClr val="bg2"/>
          </a:solidFill>
          <a:ln/>
        </p:spPr>
      </p:sp>
      <p:sp>
        <p:nvSpPr>
          <p:cNvPr id="6" name="circulo-748"/>
          <p:cNvSpPr/>
          <p:nvPr/>
        </p:nvSpPr>
        <p:spPr>
          <a:xfrm>
            <a:off x="749808" y="1682496"/>
            <a:ext cx="438912" cy="438912"/>
          </a:xfrm>
          <a:prstGeom prst="ellipse">
            <a:avLst/>
          </a:prstGeom>
          <a:solidFill>
            <a:schemeClr val="accent1"/>
          </a:solidFill>
          <a:ln/>
        </p:spPr>
      </p:sp>
      <p:sp>
        <p:nvSpPr>
          <p:cNvPr id="7" name="num-749"/>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750"/>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Secretos fuera del código</a:t>
            </a:r>
            <a:endParaRPr lang="en-US" sz="1700" dirty="0"/>
          </a:p>
        </p:txBody>
      </p:sp>
      <p:sp>
        <p:nvSpPr>
          <p:cNvPr id="9" name="desc-751"/>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Variables de entorno o gestor de secretos; nunca en Git.</a:t>
            </a:r>
            <a:endParaRPr lang="en-US" sz="1600" dirty="0"/>
          </a:p>
        </p:txBody>
      </p:sp>
      <p:sp>
        <p:nvSpPr>
          <p:cNvPr id="10" name="tarjeta-752"/>
          <p:cNvSpPr/>
          <p:nvPr/>
        </p:nvSpPr>
        <p:spPr>
          <a:xfrm>
            <a:off x="4338218" y="1481328"/>
            <a:ext cx="3515258" cy="2208276"/>
          </a:xfrm>
          <a:prstGeom prst="roundRect">
            <a:avLst>
              <a:gd name="adj" fmla="val 4141"/>
            </a:avLst>
          </a:prstGeom>
          <a:solidFill>
            <a:schemeClr val="bg2"/>
          </a:solidFill>
          <a:ln/>
        </p:spPr>
      </p:sp>
      <p:sp>
        <p:nvSpPr>
          <p:cNvPr id="11" name="circulo-753"/>
          <p:cNvSpPr/>
          <p:nvPr/>
        </p:nvSpPr>
        <p:spPr>
          <a:xfrm>
            <a:off x="4539386" y="1682496"/>
            <a:ext cx="438912" cy="438912"/>
          </a:xfrm>
          <a:prstGeom prst="ellipse">
            <a:avLst/>
          </a:prstGeom>
          <a:solidFill>
            <a:schemeClr val="accent2"/>
          </a:solidFill>
          <a:ln/>
        </p:spPr>
      </p:sp>
      <p:sp>
        <p:nvSpPr>
          <p:cNvPr id="12" name="num-754"/>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755"/>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HTTPS y TLS</a:t>
            </a:r>
            <a:endParaRPr lang="en-US" sz="1700" dirty="0"/>
          </a:p>
        </p:txBody>
      </p:sp>
      <p:sp>
        <p:nvSpPr>
          <p:cNvPr id="14" name="desc-756"/>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Cifrar todo el tráfico, también hacia la base de datos.</a:t>
            </a:r>
            <a:endParaRPr lang="en-US" sz="1600" dirty="0"/>
          </a:p>
        </p:txBody>
      </p:sp>
      <p:sp>
        <p:nvSpPr>
          <p:cNvPr id="15" name="tarjeta-757"/>
          <p:cNvSpPr/>
          <p:nvPr/>
        </p:nvSpPr>
        <p:spPr>
          <a:xfrm>
            <a:off x="8127797" y="1481328"/>
            <a:ext cx="3515258" cy="2208276"/>
          </a:xfrm>
          <a:prstGeom prst="roundRect">
            <a:avLst>
              <a:gd name="adj" fmla="val 4141"/>
            </a:avLst>
          </a:prstGeom>
          <a:solidFill>
            <a:schemeClr val="bg2"/>
          </a:solidFill>
          <a:ln/>
        </p:spPr>
      </p:sp>
      <p:sp>
        <p:nvSpPr>
          <p:cNvPr id="16" name="circulo-758"/>
          <p:cNvSpPr/>
          <p:nvPr/>
        </p:nvSpPr>
        <p:spPr>
          <a:xfrm>
            <a:off x="8328965" y="1682496"/>
            <a:ext cx="438912" cy="438912"/>
          </a:xfrm>
          <a:prstGeom prst="ellipse">
            <a:avLst/>
          </a:prstGeom>
          <a:solidFill>
            <a:schemeClr val="accent3"/>
          </a:solidFill>
          <a:ln/>
        </p:spPr>
      </p:sp>
      <p:sp>
        <p:nvSpPr>
          <p:cNvPr id="17" name="num-759"/>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760"/>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Validar en el servidor</a:t>
            </a:r>
            <a:endParaRPr lang="en-US" sz="1700" dirty="0"/>
          </a:p>
        </p:txBody>
      </p:sp>
      <p:sp>
        <p:nvSpPr>
          <p:cNvPr id="19" name="desc-761"/>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Toda entrada es sospechosa; consultas parametrizadas.</a:t>
            </a:r>
            <a:endParaRPr lang="en-US" sz="1600" dirty="0"/>
          </a:p>
        </p:txBody>
      </p:sp>
      <p:sp>
        <p:nvSpPr>
          <p:cNvPr id="20" name="tarjeta-762"/>
          <p:cNvSpPr/>
          <p:nvPr/>
        </p:nvSpPr>
        <p:spPr>
          <a:xfrm>
            <a:off x="548640" y="3963924"/>
            <a:ext cx="3515258" cy="2208276"/>
          </a:xfrm>
          <a:prstGeom prst="roundRect">
            <a:avLst>
              <a:gd name="adj" fmla="val 4141"/>
            </a:avLst>
          </a:prstGeom>
          <a:solidFill>
            <a:schemeClr val="bg2"/>
          </a:solidFill>
          <a:ln/>
        </p:spPr>
      </p:sp>
      <p:sp>
        <p:nvSpPr>
          <p:cNvPr id="21" name="circulo-763"/>
          <p:cNvSpPr/>
          <p:nvPr/>
        </p:nvSpPr>
        <p:spPr>
          <a:xfrm>
            <a:off x="749808" y="4165092"/>
            <a:ext cx="438912" cy="438912"/>
          </a:xfrm>
          <a:prstGeom prst="ellipse">
            <a:avLst/>
          </a:prstGeom>
          <a:solidFill>
            <a:schemeClr val="accent4"/>
          </a:solidFill>
          <a:ln/>
        </p:spPr>
      </p:sp>
      <p:sp>
        <p:nvSpPr>
          <p:cNvPr id="22" name="num-764"/>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765"/>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Dependencias al día</a:t>
            </a:r>
            <a:endParaRPr lang="en-US" sz="1700" dirty="0"/>
          </a:p>
        </p:txBody>
      </p:sp>
      <p:sp>
        <p:nvSpPr>
          <p:cNvPr id="24" name="desc-766"/>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Dependabot, OWASP Dependency-Check, npm audit.</a:t>
            </a:r>
            <a:endParaRPr lang="en-US" sz="1600" dirty="0"/>
          </a:p>
        </p:txBody>
      </p:sp>
      <p:sp>
        <p:nvSpPr>
          <p:cNvPr id="25" name="tarjeta-767"/>
          <p:cNvSpPr/>
          <p:nvPr/>
        </p:nvSpPr>
        <p:spPr>
          <a:xfrm>
            <a:off x="4338218" y="3963924"/>
            <a:ext cx="3515258" cy="2208276"/>
          </a:xfrm>
          <a:prstGeom prst="roundRect">
            <a:avLst>
              <a:gd name="adj" fmla="val 4141"/>
            </a:avLst>
          </a:prstGeom>
          <a:solidFill>
            <a:schemeClr val="bg2"/>
          </a:solidFill>
          <a:ln/>
        </p:spPr>
      </p:sp>
      <p:sp>
        <p:nvSpPr>
          <p:cNvPr id="26" name="circulo-768"/>
          <p:cNvSpPr/>
          <p:nvPr/>
        </p:nvSpPr>
        <p:spPr>
          <a:xfrm>
            <a:off x="4539386" y="4165092"/>
            <a:ext cx="438912" cy="438912"/>
          </a:xfrm>
          <a:prstGeom prst="ellipse">
            <a:avLst/>
          </a:prstGeom>
          <a:solidFill>
            <a:schemeClr val="accent6"/>
          </a:solidFill>
          <a:ln/>
        </p:spPr>
      </p:sp>
      <p:sp>
        <p:nvSpPr>
          <p:cNvPr id="27" name="num-769"/>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770"/>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Logs sin datos sensibles</a:t>
            </a:r>
            <a:endParaRPr lang="en-US" sz="1700" dirty="0"/>
          </a:p>
        </p:txBody>
      </p:sp>
      <p:sp>
        <p:nvSpPr>
          <p:cNvPr id="29" name="desc-771"/>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Registrar ids y resultados, no contraseñas ni datos personales.</a:t>
            </a:r>
            <a:endParaRPr lang="en-US" sz="1600" dirty="0"/>
          </a:p>
        </p:txBody>
      </p:sp>
      <p:sp>
        <p:nvSpPr>
          <p:cNvPr id="30" name="tarjeta-772"/>
          <p:cNvSpPr/>
          <p:nvPr/>
        </p:nvSpPr>
        <p:spPr>
          <a:xfrm>
            <a:off x="8127797" y="3963924"/>
            <a:ext cx="3515258" cy="2208276"/>
          </a:xfrm>
          <a:prstGeom prst="roundRect">
            <a:avLst>
              <a:gd name="adj" fmla="val 4141"/>
            </a:avLst>
          </a:prstGeom>
          <a:solidFill>
            <a:schemeClr val="bg2"/>
          </a:solidFill>
          <a:ln/>
        </p:spPr>
      </p:sp>
      <p:sp>
        <p:nvSpPr>
          <p:cNvPr id="31" name="circulo-773"/>
          <p:cNvSpPr/>
          <p:nvPr/>
        </p:nvSpPr>
        <p:spPr>
          <a:xfrm>
            <a:off x="8328965" y="4165092"/>
            <a:ext cx="438912" cy="438912"/>
          </a:xfrm>
          <a:prstGeom prst="ellipse">
            <a:avLst/>
          </a:prstGeom>
          <a:solidFill>
            <a:schemeClr val="accent5"/>
          </a:solidFill>
          <a:ln/>
        </p:spPr>
      </p:sp>
      <p:sp>
        <p:nvSpPr>
          <p:cNvPr id="32" name="num-774"/>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775"/>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CORS no es seguridad</a:t>
            </a:r>
            <a:endParaRPr lang="en-US" sz="1700" dirty="0"/>
          </a:p>
        </p:txBody>
      </p:sp>
      <p:sp>
        <p:nvSpPr>
          <p:cNvPr id="34" name="desc-776"/>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Solo controla al navegador; la API debe autenticar.</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12</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Datos y operación</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Cuidar los datos, saber qué pasa en producción y crecer cuando aumentan los usuarios.</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DATOS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Cuidar los datos</a:t>
            </a:r>
            <a:endParaRPr lang="en-US" sz="3400" dirty="0"/>
          </a:p>
        </p:txBody>
      </p:sp>
      <p:sp>
        <p:nvSpPr>
          <p:cNvPr id="5" name="tarjeta-777"/>
          <p:cNvSpPr/>
          <p:nvPr/>
        </p:nvSpPr>
        <p:spPr>
          <a:xfrm>
            <a:off x="548640" y="1481328"/>
            <a:ext cx="3515258" cy="2208276"/>
          </a:xfrm>
          <a:prstGeom prst="roundRect">
            <a:avLst>
              <a:gd name="adj" fmla="val 4141"/>
            </a:avLst>
          </a:prstGeom>
          <a:solidFill>
            <a:schemeClr val="bg2"/>
          </a:solidFill>
          <a:ln/>
        </p:spPr>
      </p:sp>
      <p:sp>
        <p:nvSpPr>
          <p:cNvPr id="6" name="circulo-778"/>
          <p:cNvSpPr/>
          <p:nvPr/>
        </p:nvSpPr>
        <p:spPr>
          <a:xfrm>
            <a:off x="749808" y="1682496"/>
            <a:ext cx="438912" cy="438912"/>
          </a:xfrm>
          <a:prstGeom prst="ellipse">
            <a:avLst/>
          </a:prstGeom>
          <a:solidFill>
            <a:schemeClr val="accent1"/>
          </a:solidFill>
          <a:ln/>
        </p:spPr>
      </p:sp>
      <p:sp>
        <p:nvSpPr>
          <p:cNvPr id="7" name="num-779"/>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780"/>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Integridad</a:t>
            </a:r>
            <a:endParaRPr lang="en-US" sz="1700" dirty="0"/>
          </a:p>
        </p:txBody>
      </p:sp>
      <p:sp>
        <p:nvSpPr>
          <p:cNvPr id="9" name="desc-781"/>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Claves, NOT NULL, CHECK y UNIQUE en la propia base.</a:t>
            </a:r>
            <a:endParaRPr lang="en-US" sz="1600" dirty="0"/>
          </a:p>
        </p:txBody>
      </p:sp>
      <p:sp>
        <p:nvSpPr>
          <p:cNvPr id="10" name="tarjeta-782"/>
          <p:cNvSpPr/>
          <p:nvPr/>
        </p:nvSpPr>
        <p:spPr>
          <a:xfrm>
            <a:off x="4338218" y="1481328"/>
            <a:ext cx="3515258" cy="2208276"/>
          </a:xfrm>
          <a:prstGeom prst="roundRect">
            <a:avLst>
              <a:gd name="adj" fmla="val 4141"/>
            </a:avLst>
          </a:prstGeom>
          <a:solidFill>
            <a:schemeClr val="bg2"/>
          </a:solidFill>
          <a:ln/>
        </p:spPr>
      </p:sp>
      <p:sp>
        <p:nvSpPr>
          <p:cNvPr id="11" name="circulo-783"/>
          <p:cNvSpPr/>
          <p:nvPr/>
        </p:nvSpPr>
        <p:spPr>
          <a:xfrm>
            <a:off x="4539386" y="1682496"/>
            <a:ext cx="438912" cy="438912"/>
          </a:xfrm>
          <a:prstGeom prst="ellipse">
            <a:avLst/>
          </a:prstGeom>
          <a:solidFill>
            <a:schemeClr val="accent2"/>
          </a:solidFill>
          <a:ln/>
        </p:spPr>
      </p:sp>
      <p:sp>
        <p:nvSpPr>
          <p:cNvPr id="12" name="num-784"/>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785"/>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Migraciones versionadas</a:t>
            </a:r>
            <a:endParaRPr lang="en-US" sz="1700" dirty="0"/>
          </a:p>
        </p:txBody>
      </p:sp>
      <p:sp>
        <p:nvSpPr>
          <p:cNvPr id="14" name="desc-786"/>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Flyway o Liquibase: el esquema evoluciona con el código.</a:t>
            </a:r>
            <a:endParaRPr lang="en-US" sz="1600" dirty="0"/>
          </a:p>
        </p:txBody>
      </p:sp>
      <p:sp>
        <p:nvSpPr>
          <p:cNvPr id="15" name="tarjeta-787"/>
          <p:cNvSpPr/>
          <p:nvPr/>
        </p:nvSpPr>
        <p:spPr>
          <a:xfrm>
            <a:off x="8127797" y="1481328"/>
            <a:ext cx="3515258" cy="2208276"/>
          </a:xfrm>
          <a:prstGeom prst="roundRect">
            <a:avLst>
              <a:gd name="adj" fmla="val 4141"/>
            </a:avLst>
          </a:prstGeom>
          <a:solidFill>
            <a:schemeClr val="bg2"/>
          </a:solidFill>
          <a:ln/>
        </p:spPr>
      </p:sp>
      <p:sp>
        <p:nvSpPr>
          <p:cNvPr id="16" name="circulo-788"/>
          <p:cNvSpPr/>
          <p:nvPr/>
        </p:nvSpPr>
        <p:spPr>
          <a:xfrm>
            <a:off x="8328965" y="1682496"/>
            <a:ext cx="438912" cy="438912"/>
          </a:xfrm>
          <a:prstGeom prst="ellipse">
            <a:avLst/>
          </a:prstGeom>
          <a:solidFill>
            <a:schemeClr val="accent3"/>
          </a:solidFill>
          <a:ln/>
        </p:spPr>
      </p:sp>
      <p:sp>
        <p:nvSpPr>
          <p:cNvPr id="17" name="num-789"/>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790"/>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Transacciones</a:t>
            </a:r>
            <a:endParaRPr lang="en-US" sz="1700" dirty="0"/>
          </a:p>
        </p:txBody>
      </p:sp>
      <p:sp>
        <p:nvSpPr>
          <p:cNvPr id="19" name="desc-791"/>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Todo o nada; el aislamiento define la concurrencia.</a:t>
            </a:r>
            <a:endParaRPr lang="en-US" sz="1600" dirty="0"/>
          </a:p>
        </p:txBody>
      </p:sp>
      <p:sp>
        <p:nvSpPr>
          <p:cNvPr id="20" name="tarjeta-792"/>
          <p:cNvSpPr/>
          <p:nvPr/>
        </p:nvSpPr>
        <p:spPr>
          <a:xfrm>
            <a:off x="548640" y="3963924"/>
            <a:ext cx="3515258" cy="2208276"/>
          </a:xfrm>
          <a:prstGeom prst="roundRect">
            <a:avLst>
              <a:gd name="adj" fmla="val 4141"/>
            </a:avLst>
          </a:prstGeom>
          <a:solidFill>
            <a:schemeClr val="bg2"/>
          </a:solidFill>
          <a:ln/>
        </p:spPr>
      </p:sp>
      <p:sp>
        <p:nvSpPr>
          <p:cNvPr id="21" name="circulo-793"/>
          <p:cNvSpPr/>
          <p:nvPr/>
        </p:nvSpPr>
        <p:spPr>
          <a:xfrm>
            <a:off x="749808" y="4165092"/>
            <a:ext cx="438912" cy="438912"/>
          </a:xfrm>
          <a:prstGeom prst="ellipse">
            <a:avLst/>
          </a:prstGeom>
          <a:solidFill>
            <a:schemeClr val="accent4"/>
          </a:solidFill>
          <a:ln/>
        </p:spPr>
      </p:sp>
      <p:sp>
        <p:nvSpPr>
          <p:cNvPr id="22" name="num-794"/>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795"/>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Respaldos probados</a:t>
            </a:r>
            <a:endParaRPr lang="en-US" sz="1700" dirty="0"/>
          </a:p>
        </p:txBody>
      </p:sp>
      <p:sp>
        <p:nvSpPr>
          <p:cNvPr id="24" name="desc-796"/>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Respaldar y ensayar la restauración periódicamente.</a:t>
            </a:r>
            <a:endParaRPr lang="en-US" sz="1600" dirty="0"/>
          </a:p>
        </p:txBody>
      </p:sp>
      <p:sp>
        <p:nvSpPr>
          <p:cNvPr id="25" name="tarjeta-797"/>
          <p:cNvSpPr/>
          <p:nvPr/>
        </p:nvSpPr>
        <p:spPr>
          <a:xfrm>
            <a:off x="4338218" y="3963924"/>
            <a:ext cx="3515258" cy="2208276"/>
          </a:xfrm>
          <a:prstGeom prst="roundRect">
            <a:avLst>
              <a:gd name="adj" fmla="val 4141"/>
            </a:avLst>
          </a:prstGeom>
          <a:solidFill>
            <a:schemeClr val="bg2"/>
          </a:solidFill>
          <a:ln/>
        </p:spPr>
      </p:sp>
      <p:sp>
        <p:nvSpPr>
          <p:cNvPr id="26" name="circulo-798"/>
          <p:cNvSpPr/>
          <p:nvPr/>
        </p:nvSpPr>
        <p:spPr>
          <a:xfrm>
            <a:off x="4539386" y="4165092"/>
            <a:ext cx="438912" cy="438912"/>
          </a:xfrm>
          <a:prstGeom prst="ellipse">
            <a:avLst/>
          </a:prstGeom>
          <a:solidFill>
            <a:schemeClr val="accent6"/>
          </a:solidFill>
          <a:ln/>
        </p:spPr>
      </p:sp>
      <p:sp>
        <p:nvSpPr>
          <p:cNvPr id="27" name="num-799"/>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800"/>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Índices</a:t>
            </a:r>
            <a:endParaRPr lang="en-US" sz="1700" dirty="0"/>
          </a:p>
        </p:txBody>
      </p:sp>
      <p:sp>
        <p:nvSpPr>
          <p:cNvPr id="29" name="desc-801"/>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Aceleran búsquedas frecuentes; medir antes de agregar.</a:t>
            </a:r>
            <a:endParaRPr lang="en-US" sz="1600" dirty="0"/>
          </a:p>
        </p:txBody>
      </p:sp>
      <p:sp>
        <p:nvSpPr>
          <p:cNvPr id="30" name="tarjeta-802"/>
          <p:cNvSpPr/>
          <p:nvPr/>
        </p:nvSpPr>
        <p:spPr>
          <a:xfrm>
            <a:off x="8127797" y="3963924"/>
            <a:ext cx="3515258" cy="2208276"/>
          </a:xfrm>
          <a:prstGeom prst="roundRect">
            <a:avLst>
              <a:gd name="adj" fmla="val 4141"/>
            </a:avLst>
          </a:prstGeom>
          <a:solidFill>
            <a:schemeClr val="bg2"/>
          </a:solidFill>
          <a:ln/>
        </p:spPr>
      </p:sp>
      <p:sp>
        <p:nvSpPr>
          <p:cNvPr id="31" name="circulo-803"/>
          <p:cNvSpPr/>
          <p:nvPr/>
        </p:nvSpPr>
        <p:spPr>
          <a:xfrm>
            <a:off x="8328965" y="4165092"/>
            <a:ext cx="438912" cy="438912"/>
          </a:xfrm>
          <a:prstGeom prst="ellipse">
            <a:avLst/>
          </a:prstGeom>
          <a:solidFill>
            <a:schemeClr val="accent5"/>
          </a:solidFill>
          <a:ln/>
        </p:spPr>
      </p:sp>
      <p:sp>
        <p:nvSpPr>
          <p:cNvPr id="32" name="num-804"/>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805"/>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Datos personales</a:t>
            </a:r>
            <a:endParaRPr lang="en-US" sz="1700" dirty="0"/>
          </a:p>
        </p:txBody>
      </p:sp>
      <p:sp>
        <p:nvSpPr>
          <p:cNvPr id="34" name="desc-806"/>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Ley 19.628 y Ley 21.719 en Chile; GDPR en Europa.</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OPERACIÓN</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Observabilidad: saber qué pasa en producción</a:t>
            </a:r>
            <a:endParaRPr lang="en-US" sz="3400" dirty="0"/>
          </a:p>
        </p:txBody>
      </p:sp>
      <p:sp>
        <p:nvSpPr>
          <p:cNvPr id="5" name="tarjeta-807"/>
          <p:cNvSpPr/>
          <p:nvPr/>
        </p:nvSpPr>
        <p:spPr>
          <a:xfrm>
            <a:off x="548640" y="1481328"/>
            <a:ext cx="1999427" cy="2743200"/>
          </a:xfrm>
          <a:prstGeom prst="roundRect">
            <a:avLst>
              <a:gd name="adj" fmla="val 4573"/>
            </a:avLst>
          </a:prstGeom>
          <a:solidFill>
            <a:schemeClr val="bg2"/>
          </a:solidFill>
          <a:ln/>
        </p:spPr>
      </p:sp>
      <p:sp>
        <p:nvSpPr>
          <p:cNvPr id="6" name="circulo-808"/>
          <p:cNvSpPr/>
          <p:nvPr/>
        </p:nvSpPr>
        <p:spPr>
          <a:xfrm>
            <a:off x="749808" y="1682496"/>
            <a:ext cx="438912" cy="438912"/>
          </a:xfrm>
          <a:prstGeom prst="ellipse">
            <a:avLst/>
          </a:prstGeom>
          <a:solidFill>
            <a:schemeClr val="accent1"/>
          </a:solidFill>
          <a:ln/>
        </p:spPr>
      </p:sp>
      <p:sp>
        <p:nvSpPr>
          <p:cNvPr id="7" name="num-809"/>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810"/>
          <p:cNvSpPr txBox="1"/>
          <p:nvPr/>
        </p:nvSpPr>
        <p:spPr>
          <a:xfrm>
            <a:off x="1325880" y="1664208"/>
            <a:ext cx="1039307" cy="475488"/>
          </a:xfrm>
          <a:prstGeom prst="rect">
            <a:avLst/>
          </a:prstGeom>
          <a:noFill/>
          <a:ln/>
        </p:spPr>
        <p:txBody>
          <a:bodyPr wrap="square" lIns="0" tIns="0" rIns="0" bIns="0" rtlCol="0" anchor="ctr">
            <a:normAutofit/>
          </a:bodyPr>
          <a:lstStyle/>
          <a:p>
            <a:pPr indent="0" marL="0">
              <a:buNone/>
            </a:pPr>
            <a:r>
              <a:rPr lang="en-US" sz="1600" b="1" dirty="0">
                <a:solidFill>
                  <a:schemeClr val="tx2"/>
                </a:solidFill>
              </a:rPr>
              <a:t>Logs</a:t>
            </a:r>
            <a:endParaRPr lang="en-US" sz="1600" dirty="0"/>
          </a:p>
        </p:txBody>
      </p:sp>
      <p:sp>
        <p:nvSpPr>
          <p:cNvPr id="9" name="desc-811"/>
          <p:cNvSpPr txBox="1"/>
          <p:nvPr/>
        </p:nvSpPr>
        <p:spPr>
          <a:xfrm>
            <a:off x="777240" y="2267712"/>
            <a:ext cx="1542227" cy="1828800"/>
          </a:xfrm>
          <a:prstGeom prst="rect">
            <a:avLst/>
          </a:prstGeom>
          <a:noFill/>
          <a:ln/>
        </p:spPr>
        <p:txBody>
          <a:bodyPr wrap="square" lIns="0" tIns="0" rIns="0" bIns="0" rtlCol="0" anchor="t"/>
          <a:lstStyle/>
          <a:p>
            <a:pPr indent="0" marL="0">
              <a:buNone/>
            </a:pPr>
            <a:r>
              <a:rPr lang="en-US" sz="1400" dirty="0">
                <a:solidFill>
                  <a:schemeClr val="tx1"/>
                </a:solidFill>
              </a:rPr>
              <a:t>¿Qué operación falló? Con id de petición para correlacionar.</a:t>
            </a:r>
            <a:endParaRPr lang="en-US" sz="1400" dirty="0"/>
          </a:p>
        </p:txBody>
      </p:sp>
      <p:sp>
        <p:nvSpPr>
          <p:cNvPr id="10" name="tarjeta-812"/>
          <p:cNvSpPr/>
          <p:nvPr/>
        </p:nvSpPr>
        <p:spPr>
          <a:xfrm>
            <a:off x="2822387" y="1481328"/>
            <a:ext cx="1999427" cy="2743200"/>
          </a:xfrm>
          <a:prstGeom prst="roundRect">
            <a:avLst>
              <a:gd name="adj" fmla="val 4573"/>
            </a:avLst>
          </a:prstGeom>
          <a:solidFill>
            <a:schemeClr val="bg2"/>
          </a:solidFill>
          <a:ln/>
        </p:spPr>
      </p:sp>
      <p:sp>
        <p:nvSpPr>
          <p:cNvPr id="11" name="circulo-813"/>
          <p:cNvSpPr/>
          <p:nvPr/>
        </p:nvSpPr>
        <p:spPr>
          <a:xfrm>
            <a:off x="3023555" y="1682496"/>
            <a:ext cx="438912" cy="438912"/>
          </a:xfrm>
          <a:prstGeom prst="ellipse">
            <a:avLst/>
          </a:prstGeom>
          <a:solidFill>
            <a:schemeClr val="accent2"/>
          </a:solidFill>
          <a:ln/>
        </p:spPr>
      </p:sp>
      <p:sp>
        <p:nvSpPr>
          <p:cNvPr id="12" name="num-814"/>
          <p:cNvSpPr txBox="1"/>
          <p:nvPr/>
        </p:nvSpPr>
        <p:spPr>
          <a:xfrm>
            <a:off x="302355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815"/>
          <p:cNvSpPr txBox="1"/>
          <p:nvPr/>
        </p:nvSpPr>
        <p:spPr>
          <a:xfrm>
            <a:off x="3599627" y="1664208"/>
            <a:ext cx="1039307" cy="475488"/>
          </a:xfrm>
          <a:prstGeom prst="rect">
            <a:avLst/>
          </a:prstGeom>
          <a:noFill/>
          <a:ln/>
        </p:spPr>
        <p:txBody>
          <a:bodyPr wrap="square" lIns="0" tIns="0" rIns="0" bIns="0" rtlCol="0" anchor="ctr">
            <a:normAutofit/>
          </a:bodyPr>
          <a:lstStyle/>
          <a:p>
            <a:pPr indent="0" marL="0">
              <a:buNone/>
            </a:pPr>
            <a:r>
              <a:rPr lang="en-US" sz="1600" b="1" dirty="0">
                <a:solidFill>
                  <a:schemeClr val="tx2"/>
                </a:solidFill>
              </a:rPr>
              <a:t>Métricas</a:t>
            </a:r>
            <a:endParaRPr lang="en-US" sz="1600" dirty="0"/>
          </a:p>
        </p:txBody>
      </p:sp>
      <p:sp>
        <p:nvSpPr>
          <p:cNvPr id="14" name="desc-816"/>
          <p:cNvSpPr txBox="1"/>
          <p:nvPr/>
        </p:nvSpPr>
        <p:spPr>
          <a:xfrm>
            <a:off x="3050987" y="2267712"/>
            <a:ext cx="1542227" cy="1828800"/>
          </a:xfrm>
          <a:prstGeom prst="rect">
            <a:avLst/>
          </a:prstGeom>
          <a:noFill/>
          <a:ln/>
        </p:spPr>
        <p:txBody>
          <a:bodyPr wrap="square" lIns="0" tIns="0" rIns="0" bIns="0" rtlCol="0" anchor="t"/>
          <a:lstStyle/>
          <a:p>
            <a:pPr indent="0" marL="0">
              <a:buNone/>
            </a:pPr>
            <a:r>
              <a:rPr lang="en-US" sz="1400" dirty="0">
                <a:solidFill>
                  <a:schemeClr val="tx1"/>
                </a:solidFill>
              </a:rPr>
              <a:t>¿Cambian errores, latencia o saturación?</a:t>
            </a:r>
            <a:endParaRPr lang="en-US" sz="1400" dirty="0"/>
          </a:p>
        </p:txBody>
      </p:sp>
      <p:sp>
        <p:nvSpPr>
          <p:cNvPr id="15" name="tarjeta-817"/>
          <p:cNvSpPr/>
          <p:nvPr/>
        </p:nvSpPr>
        <p:spPr>
          <a:xfrm>
            <a:off x="5096134" y="1481328"/>
            <a:ext cx="1999427" cy="2743200"/>
          </a:xfrm>
          <a:prstGeom prst="roundRect">
            <a:avLst>
              <a:gd name="adj" fmla="val 4573"/>
            </a:avLst>
          </a:prstGeom>
          <a:solidFill>
            <a:schemeClr val="bg2"/>
          </a:solidFill>
          <a:ln/>
        </p:spPr>
      </p:sp>
      <p:sp>
        <p:nvSpPr>
          <p:cNvPr id="16" name="circulo-818"/>
          <p:cNvSpPr/>
          <p:nvPr/>
        </p:nvSpPr>
        <p:spPr>
          <a:xfrm>
            <a:off x="5297302" y="1682496"/>
            <a:ext cx="438912" cy="438912"/>
          </a:xfrm>
          <a:prstGeom prst="ellipse">
            <a:avLst/>
          </a:prstGeom>
          <a:solidFill>
            <a:schemeClr val="accent3"/>
          </a:solidFill>
          <a:ln/>
        </p:spPr>
      </p:sp>
      <p:sp>
        <p:nvSpPr>
          <p:cNvPr id="17" name="num-819"/>
          <p:cNvSpPr txBox="1"/>
          <p:nvPr/>
        </p:nvSpPr>
        <p:spPr>
          <a:xfrm>
            <a:off x="529730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820"/>
          <p:cNvSpPr txBox="1"/>
          <p:nvPr/>
        </p:nvSpPr>
        <p:spPr>
          <a:xfrm>
            <a:off x="5873374" y="1664208"/>
            <a:ext cx="1039307" cy="475488"/>
          </a:xfrm>
          <a:prstGeom prst="rect">
            <a:avLst/>
          </a:prstGeom>
          <a:noFill/>
          <a:ln/>
        </p:spPr>
        <p:txBody>
          <a:bodyPr wrap="square" lIns="0" tIns="0" rIns="0" bIns="0" rtlCol="0" anchor="ctr">
            <a:normAutofit/>
          </a:bodyPr>
          <a:lstStyle/>
          <a:p>
            <a:pPr indent="0" marL="0">
              <a:buNone/>
            </a:pPr>
            <a:r>
              <a:rPr lang="en-US" sz="1600" b="1" dirty="0">
                <a:solidFill>
                  <a:schemeClr val="tx2"/>
                </a:solidFill>
              </a:rPr>
              <a:t>Trazas</a:t>
            </a:r>
            <a:endParaRPr lang="en-US" sz="1600" dirty="0"/>
          </a:p>
        </p:txBody>
      </p:sp>
      <p:sp>
        <p:nvSpPr>
          <p:cNvPr id="19" name="desc-821"/>
          <p:cNvSpPr txBox="1"/>
          <p:nvPr/>
        </p:nvSpPr>
        <p:spPr>
          <a:xfrm>
            <a:off x="5324734" y="2267712"/>
            <a:ext cx="1542227" cy="1828800"/>
          </a:xfrm>
          <a:prstGeom prst="rect">
            <a:avLst/>
          </a:prstGeom>
          <a:noFill/>
          <a:ln/>
        </p:spPr>
        <p:txBody>
          <a:bodyPr wrap="square" lIns="0" tIns="0" rIns="0" bIns="0" rtlCol="0" anchor="t"/>
          <a:lstStyle/>
          <a:p>
            <a:pPr indent="0" marL="0">
              <a:buNone/>
            </a:pPr>
            <a:r>
              <a:rPr lang="en-US" sz="1400" dirty="0">
                <a:solidFill>
                  <a:schemeClr val="tx1"/>
                </a:solidFill>
              </a:rPr>
              <a:t>¿Por dónde pasó una petición entre servicios?</a:t>
            </a:r>
            <a:endParaRPr lang="en-US" sz="1400" dirty="0"/>
          </a:p>
        </p:txBody>
      </p:sp>
      <p:sp>
        <p:nvSpPr>
          <p:cNvPr id="20" name="tarjeta-822"/>
          <p:cNvSpPr/>
          <p:nvPr/>
        </p:nvSpPr>
        <p:spPr>
          <a:xfrm>
            <a:off x="7369881" y="1481328"/>
            <a:ext cx="1999427" cy="2743200"/>
          </a:xfrm>
          <a:prstGeom prst="roundRect">
            <a:avLst>
              <a:gd name="adj" fmla="val 4573"/>
            </a:avLst>
          </a:prstGeom>
          <a:solidFill>
            <a:schemeClr val="bg2"/>
          </a:solidFill>
          <a:ln/>
        </p:spPr>
      </p:sp>
      <p:sp>
        <p:nvSpPr>
          <p:cNvPr id="21" name="circulo-823"/>
          <p:cNvSpPr/>
          <p:nvPr/>
        </p:nvSpPr>
        <p:spPr>
          <a:xfrm>
            <a:off x="7571049" y="1682496"/>
            <a:ext cx="438912" cy="438912"/>
          </a:xfrm>
          <a:prstGeom prst="ellipse">
            <a:avLst/>
          </a:prstGeom>
          <a:solidFill>
            <a:schemeClr val="accent4"/>
          </a:solidFill>
          <a:ln/>
        </p:spPr>
      </p:sp>
      <p:sp>
        <p:nvSpPr>
          <p:cNvPr id="22" name="num-824"/>
          <p:cNvSpPr txBox="1"/>
          <p:nvPr/>
        </p:nvSpPr>
        <p:spPr>
          <a:xfrm>
            <a:off x="757104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825"/>
          <p:cNvSpPr txBox="1"/>
          <p:nvPr/>
        </p:nvSpPr>
        <p:spPr>
          <a:xfrm>
            <a:off x="8147121" y="1664208"/>
            <a:ext cx="1039307" cy="475488"/>
          </a:xfrm>
          <a:prstGeom prst="rect">
            <a:avLst/>
          </a:prstGeom>
          <a:noFill/>
          <a:ln/>
        </p:spPr>
        <p:txBody>
          <a:bodyPr wrap="square" lIns="0" tIns="0" rIns="0" bIns="0" rtlCol="0" anchor="ctr">
            <a:normAutofit/>
          </a:bodyPr>
          <a:lstStyle/>
          <a:p>
            <a:pPr indent="0" marL="0">
              <a:buNone/>
            </a:pPr>
            <a:r>
              <a:rPr lang="en-US" sz="1600" b="1" dirty="0">
                <a:solidFill>
                  <a:schemeClr val="tx2"/>
                </a:solidFill>
              </a:rPr>
              <a:t>Salud</a:t>
            </a:r>
            <a:endParaRPr lang="en-US" sz="1600" dirty="0"/>
          </a:p>
        </p:txBody>
      </p:sp>
      <p:sp>
        <p:nvSpPr>
          <p:cNvPr id="24" name="desc-826"/>
          <p:cNvSpPr txBox="1"/>
          <p:nvPr/>
        </p:nvSpPr>
        <p:spPr>
          <a:xfrm>
            <a:off x="7598481" y="2267712"/>
            <a:ext cx="1542227" cy="1828800"/>
          </a:xfrm>
          <a:prstGeom prst="rect">
            <a:avLst/>
          </a:prstGeom>
          <a:noFill/>
          <a:ln/>
        </p:spPr>
        <p:txBody>
          <a:bodyPr wrap="square" lIns="0" tIns="0" rIns="0" bIns="0" rtlCol="0" anchor="t"/>
          <a:lstStyle/>
          <a:p>
            <a:pPr indent="0" marL="0">
              <a:buNone/>
            </a:pPr>
            <a:r>
              <a:rPr lang="en-US" sz="1400" dirty="0">
                <a:solidFill>
                  <a:schemeClr val="tx1"/>
                </a:solidFill>
              </a:rPr>
              <a:t>¿Puede la aplicación atender? /actuator/health</a:t>
            </a:r>
            <a:endParaRPr lang="en-US" sz="1400" dirty="0"/>
          </a:p>
        </p:txBody>
      </p:sp>
      <p:sp>
        <p:nvSpPr>
          <p:cNvPr id="25" name="tarjeta-827"/>
          <p:cNvSpPr/>
          <p:nvPr/>
        </p:nvSpPr>
        <p:spPr>
          <a:xfrm>
            <a:off x="9643628" y="1481328"/>
            <a:ext cx="1999427" cy="2743200"/>
          </a:xfrm>
          <a:prstGeom prst="roundRect">
            <a:avLst>
              <a:gd name="adj" fmla="val 4573"/>
            </a:avLst>
          </a:prstGeom>
          <a:solidFill>
            <a:schemeClr val="bg2"/>
          </a:solidFill>
          <a:ln/>
        </p:spPr>
      </p:sp>
      <p:sp>
        <p:nvSpPr>
          <p:cNvPr id="26" name="circulo-828"/>
          <p:cNvSpPr/>
          <p:nvPr/>
        </p:nvSpPr>
        <p:spPr>
          <a:xfrm>
            <a:off x="9844796" y="1682496"/>
            <a:ext cx="438912" cy="438912"/>
          </a:xfrm>
          <a:prstGeom prst="ellipse">
            <a:avLst/>
          </a:prstGeom>
          <a:solidFill>
            <a:schemeClr val="accent6"/>
          </a:solidFill>
          <a:ln/>
        </p:spPr>
      </p:sp>
      <p:sp>
        <p:nvSpPr>
          <p:cNvPr id="27" name="num-829"/>
          <p:cNvSpPr txBox="1"/>
          <p:nvPr/>
        </p:nvSpPr>
        <p:spPr>
          <a:xfrm>
            <a:off x="984479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830"/>
          <p:cNvSpPr txBox="1"/>
          <p:nvPr/>
        </p:nvSpPr>
        <p:spPr>
          <a:xfrm>
            <a:off x="10420868" y="1664208"/>
            <a:ext cx="1039307" cy="475488"/>
          </a:xfrm>
          <a:prstGeom prst="rect">
            <a:avLst/>
          </a:prstGeom>
          <a:noFill/>
          <a:ln/>
        </p:spPr>
        <p:txBody>
          <a:bodyPr wrap="square" lIns="0" tIns="0" rIns="0" bIns="0" rtlCol="0" anchor="ctr">
            <a:normAutofit/>
          </a:bodyPr>
          <a:lstStyle/>
          <a:p>
            <a:pPr indent="0" marL="0">
              <a:buNone/>
            </a:pPr>
            <a:r>
              <a:rPr lang="en-US" sz="1600" b="1" dirty="0">
                <a:solidFill>
                  <a:schemeClr val="tx2"/>
                </a:solidFill>
              </a:rPr>
              <a:t>Alertas</a:t>
            </a:r>
            <a:endParaRPr lang="en-US" sz="1600" dirty="0"/>
          </a:p>
        </p:txBody>
      </p:sp>
      <p:sp>
        <p:nvSpPr>
          <p:cNvPr id="29" name="desc-831"/>
          <p:cNvSpPr txBox="1"/>
          <p:nvPr/>
        </p:nvSpPr>
        <p:spPr>
          <a:xfrm>
            <a:off x="9872228" y="2267712"/>
            <a:ext cx="1542227" cy="1828800"/>
          </a:xfrm>
          <a:prstGeom prst="rect">
            <a:avLst/>
          </a:prstGeom>
          <a:noFill/>
          <a:ln/>
        </p:spPr>
        <p:txBody>
          <a:bodyPr wrap="square" lIns="0" tIns="0" rIns="0" bIns="0" rtlCol="0" anchor="t"/>
          <a:lstStyle/>
          <a:p>
            <a:pPr indent="0" marL="0">
              <a:buNone/>
            </a:pPr>
            <a:r>
              <a:rPr lang="en-US" sz="1400" dirty="0">
                <a:solidFill>
                  <a:schemeClr val="tx1"/>
                </a:solidFill>
              </a:rPr>
              <a:t>Avisar al equipo antes de que reclame el usuario.</a:t>
            </a:r>
            <a:endParaRPr lang="en-US" sz="1400" dirty="0"/>
          </a:p>
        </p:txBody>
      </p:sp>
      <p:sp>
        <p:nvSpPr>
          <p:cNvPr id="30" name="destacado-832"/>
          <p:cNvSpPr/>
          <p:nvPr/>
        </p:nvSpPr>
        <p:spPr>
          <a:xfrm>
            <a:off x="548640" y="4617720"/>
            <a:ext cx="11094415" cy="566928"/>
          </a:xfrm>
          <a:prstGeom prst="roundRect">
            <a:avLst>
              <a:gd name="adj" fmla="val 12903"/>
            </a:avLst>
          </a:prstGeom>
          <a:solidFill>
            <a:schemeClr val="tx2"/>
          </a:solidFill>
          <a:ln/>
        </p:spPr>
      </p:sp>
      <p:sp>
        <p:nvSpPr>
          <p:cNvPr id="31" name="destacado-t-833"/>
          <p:cNvSpPr txBox="1"/>
          <p:nvPr/>
        </p:nvSpPr>
        <p:spPr>
          <a:xfrm>
            <a:off x="822960" y="4617720"/>
            <a:ext cx="10545775" cy="566928"/>
          </a:xfrm>
          <a:prstGeom prst="rect">
            <a:avLst/>
          </a:prstGeom>
          <a:noFill/>
          <a:ln/>
        </p:spPr>
        <p:txBody>
          <a:bodyPr wrap="square" lIns="0" tIns="0" rIns="0" bIns="0" rtlCol="0" anchor="ctr"/>
          <a:lstStyle/>
          <a:p>
            <a:pPr indent="0" marL="0">
              <a:buNone/>
            </a:pPr>
            <a:r>
              <a:rPr lang="en-US" sz="1600" dirty="0">
                <a:solidFill>
                  <a:schemeClr val="bg1"/>
                </a:solidFill>
              </a:rPr>
              <a:t>Sin observabilidad, un error en producción se descubre por el reclamo de un usuario.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OPERACIÓN</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Rendimiento y escalabilidad</a:t>
            </a:r>
            <a:endParaRPr lang="en-US" sz="3400" dirty="0"/>
          </a:p>
        </p:txBody>
      </p:sp>
      <p:sp>
        <p:nvSpPr>
          <p:cNvPr id="5" name="panel-834"/>
          <p:cNvSpPr/>
          <p:nvPr/>
        </p:nvSpPr>
        <p:spPr>
          <a:xfrm>
            <a:off x="548640" y="1481328"/>
            <a:ext cx="5394960" cy="4690872"/>
          </a:xfrm>
          <a:prstGeom prst="roundRect">
            <a:avLst>
              <a:gd name="adj" fmla="val 1949"/>
            </a:avLst>
          </a:prstGeom>
          <a:solidFill>
            <a:schemeClr val="bg2"/>
          </a:solidFill>
          <a:ln/>
        </p:spPr>
      </p:sp>
      <p:sp>
        <p:nvSpPr>
          <p:cNvPr id="6" name="panel-cab-835"/>
          <p:cNvSpPr/>
          <p:nvPr/>
        </p:nvSpPr>
        <p:spPr>
          <a:xfrm>
            <a:off x="777240" y="1709928"/>
            <a:ext cx="4937760" cy="548640"/>
          </a:xfrm>
          <a:prstGeom prst="roundRect">
            <a:avLst>
              <a:gd name="adj" fmla="val 13333"/>
            </a:avLst>
          </a:prstGeom>
          <a:solidFill>
            <a:schemeClr val="tx2"/>
          </a:solidFill>
          <a:ln/>
        </p:spPr>
      </p:sp>
      <p:sp>
        <p:nvSpPr>
          <p:cNvPr id="7" name="panel-t-836"/>
          <p:cNvSpPr txBox="1"/>
          <p:nvPr/>
        </p:nvSpPr>
        <p:spPr>
          <a:xfrm>
            <a:off x="868680" y="1709928"/>
            <a:ext cx="4754880" cy="548640"/>
          </a:xfrm>
          <a:prstGeom prst="rect">
            <a:avLst/>
          </a:prstGeom>
          <a:noFill/>
          <a:ln/>
        </p:spPr>
        <p:txBody>
          <a:bodyPr wrap="square" lIns="0" tIns="0" rIns="0" bIns="0" rtlCol="0" anchor="ctr"/>
          <a:lstStyle/>
          <a:p>
            <a:pPr indent="0" marL="0">
              <a:buNone/>
            </a:pPr>
            <a:r>
              <a:rPr lang="en-US" sz="1800" b="1" dirty="0">
                <a:solidFill>
                  <a:schemeClr val="bg1"/>
                </a:solidFill>
              </a:rPr>
              <a:t>Técnicas</a:t>
            </a:r>
            <a:endParaRPr lang="en-US" sz="1800" dirty="0"/>
          </a:p>
        </p:txBody>
      </p:sp>
      <p:sp>
        <p:nvSpPr>
          <p:cNvPr id="8" name="lista-837"/>
          <p:cNvSpPr txBox="1"/>
          <p:nvPr/>
        </p:nvSpPr>
        <p:spPr>
          <a:xfrm>
            <a:off x="868680" y="2441448"/>
            <a:ext cx="4754880" cy="35478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Paginación: no devolver miles de filas</a:t>
            </a:r>
            <a:endParaRPr lang="en-US" sz="1600" dirty="0"/>
          </a:p>
          <a:p>
            <a:pPr marL="228600" indent="-228600">
              <a:spcAft>
                <a:spcPts val="800"/>
              </a:spcAft>
              <a:buSzPct val="100000"/>
              <a:buChar char="•"/>
            </a:pPr>
            <a:r>
              <a:rPr lang="en-US" sz="1600" dirty="0">
                <a:solidFill>
                  <a:schemeClr val="tx1"/>
                </a:solidFill>
              </a:rPr>
              <a:t>Caché: Redis o caché HTTP</a:t>
            </a:r>
            <a:endParaRPr lang="en-US" sz="1600" dirty="0"/>
          </a:p>
          <a:p>
            <a:pPr marL="228600" indent="-228600">
              <a:spcAft>
                <a:spcPts val="800"/>
              </a:spcAft>
              <a:buSzPct val="100000"/>
              <a:buChar char="•"/>
            </a:pPr>
            <a:r>
              <a:rPr lang="en-US" sz="1600" dirty="0">
                <a:solidFill>
                  <a:schemeClr val="tx1"/>
                </a:solidFill>
              </a:rPr>
              <a:t>Índices en consultas frecuentes</a:t>
            </a:r>
            <a:endParaRPr lang="en-US" sz="1600" dirty="0"/>
          </a:p>
          <a:p>
            <a:pPr marL="228600" indent="-228600">
              <a:spcAft>
                <a:spcPts val="800"/>
              </a:spcAft>
              <a:buSzPct val="100000"/>
              <a:buChar char="•"/>
            </a:pPr>
            <a:r>
              <a:rPr lang="en-US" sz="1600" dirty="0">
                <a:solidFill>
                  <a:schemeClr val="tx1"/>
                </a:solidFill>
              </a:rPr>
              <a:t>Compresión de respuestas</a:t>
            </a:r>
            <a:endParaRPr lang="en-US" sz="1600" dirty="0"/>
          </a:p>
          <a:p>
            <a:pPr marL="228600" indent="-228600">
              <a:spcAft>
                <a:spcPts val="800"/>
              </a:spcAft>
              <a:buSzPct val="100000"/>
              <a:buChar char="•"/>
            </a:pPr>
            <a:r>
              <a:rPr lang="en-US" sz="1600" dirty="0">
                <a:solidFill>
                  <a:schemeClr val="tx1"/>
                </a:solidFill>
              </a:rPr>
              <a:t>Trabajo pesado en segundo plano (colas)</a:t>
            </a:r>
            <a:endParaRPr lang="en-US" sz="1600" dirty="0"/>
          </a:p>
          <a:p>
            <a:pPr marL="228600" indent="-228600">
              <a:spcAft>
                <a:spcPts val="800"/>
              </a:spcAft>
              <a:buSzPct val="100000"/>
              <a:buChar char="•"/>
            </a:pPr>
            <a:r>
              <a:rPr lang="en-US" sz="1600" dirty="0">
                <a:solidFill>
                  <a:schemeClr val="tx1"/>
                </a:solidFill>
              </a:rPr>
              <a:t>Pool de conexiones acotado</a:t>
            </a:r>
            <a:endParaRPr lang="en-US" sz="1600" dirty="0"/>
          </a:p>
        </p:txBody>
      </p:sp>
      <p:sp>
        <p:nvSpPr>
          <p:cNvPr id="9" name="panel-838"/>
          <p:cNvSpPr/>
          <p:nvPr/>
        </p:nvSpPr>
        <p:spPr>
          <a:xfrm>
            <a:off x="6245352" y="1481328"/>
            <a:ext cx="5394960" cy="4690872"/>
          </a:xfrm>
          <a:prstGeom prst="roundRect">
            <a:avLst>
              <a:gd name="adj" fmla="val 1949"/>
            </a:avLst>
          </a:prstGeom>
          <a:solidFill>
            <a:schemeClr val="bg2"/>
          </a:solidFill>
          <a:ln/>
        </p:spPr>
      </p:sp>
      <p:sp>
        <p:nvSpPr>
          <p:cNvPr id="10" name="panel-cab-839"/>
          <p:cNvSpPr/>
          <p:nvPr/>
        </p:nvSpPr>
        <p:spPr>
          <a:xfrm>
            <a:off x="6473952" y="1709928"/>
            <a:ext cx="4937760" cy="548640"/>
          </a:xfrm>
          <a:prstGeom prst="roundRect">
            <a:avLst>
              <a:gd name="adj" fmla="val 13333"/>
            </a:avLst>
          </a:prstGeom>
          <a:solidFill>
            <a:schemeClr val="accent2"/>
          </a:solidFill>
          <a:ln/>
        </p:spPr>
      </p:sp>
      <p:sp>
        <p:nvSpPr>
          <p:cNvPr id="11" name="panel-t-840"/>
          <p:cNvSpPr txBox="1"/>
          <p:nvPr/>
        </p:nvSpPr>
        <p:spPr>
          <a:xfrm>
            <a:off x="6565392" y="1709928"/>
            <a:ext cx="4754880" cy="548640"/>
          </a:xfrm>
          <a:prstGeom prst="rect">
            <a:avLst/>
          </a:prstGeom>
          <a:noFill/>
          <a:ln/>
        </p:spPr>
        <p:txBody>
          <a:bodyPr wrap="square" lIns="0" tIns="0" rIns="0" bIns="0" rtlCol="0" anchor="ctr"/>
          <a:lstStyle/>
          <a:p>
            <a:pPr indent="0" marL="0">
              <a:buNone/>
            </a:pPr>
            <a:r>
              <a:rPr lang="en-US" sz="1800" b="1" dirty="0">
                <a:solidFill>
                  <a:schemeClr val="bg1"/>
                </a:solidFill>
              </a:rPr>
              <a:t>Escalar</a:t>
            </a:r>
            <a:endParaRPr lang="en-US" sz="1800" dirty="0"/>
          </a:p>
        </p:txBody>
      </p:sp>
      <p:sp>
        <p:nvSpPr>
          <p:cNvPr id="12" name="lista-841"/>
          <p:cNvSpPr txBox="1"/>
          <p:nvPr/>
        </p:nvSpPr>
        <p:spPr>
          <a:xfrm>
            <a:off x="6565392" y="2441448"/>
            <a:ext cx="4754880" cy="35478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Vertical: máquina más grande</a:t>
            </a:r>
            <a:endParaRPr lang="en-US" sz="1600" dirty="0"/>
          </a:p>
          <a:p>
            <a:pPr marL="228600" indent="-228600">
              <a:spcAft>
                <a:spcPts val="800"/>
              </a:spcAft>
              <a:buSzPct val="100000"/>
              <a:buChar char="•"/>
            </a:pPr>
            <a:r>
              <a:rPr lang="en-US" sz="1600" dirty="0">
                <a:solidFill>
                  <a:schemeClr val="tx1"/>
                </a:solidFill>
              </a:rPr>
              <a:t>Horizontal: más instancias detrás de un balanceador</a:t>
            </a:r>
            <a:endParaRPr lang="en-US" sz="1600" dirty="0"/>
          </a:p>
          <a:p>
            <a:pPr marL="228600" indent="-228600">
              <a:spcAft>
                <a:spcPts val="800"/>
              </a:spcAft>
              <a:buSzPct val="100000"/>
              <a:buChar char="•"/>
            </a:pPr>
            <a:r>
              <a:rPr lang="en-US" sz="1600" dirty="0">
                <a:solidFill>
                  <a:schemeClr val="tx1"/>
                </a:solidFill>
              </a:rPr>
              <a:t>Requisito: aplicación sin estado en memoria</a:t>
            </a:r>
            <a:endParaRPr lang="en-US" sz="1600" dirty="0"/>
          </a:p>
          <a:p>
            <a:pPr marL="228600" indent="-228600">
              <a:spcAft>
                <a:spcPts val="800"/>
              </a:spcAft>
              <a:buSzPct val="100000"/>
              <a:buChar char="•"/>
            </a:pPr>
            <a:r>
              <a:rPr lang="en-US" sz="1600" dirty="0">
                <a:solidFill>
                  <a:schemeClr val="tx1"/>
                </a:solidFill>
              </a:rPr>
              <a:t>La base suele ser el cuello de botella</a:t>
            </a:r>
            <a:endParaRPr lang="en-US" sz="1600" dirty="0"/>
          </a:p>
          <a:p>
            <a:pPr marL="228600" indent="-228600">
              <a:spcAft>
                <a:spcPts val="800"/>
              </a:spcAft>
              <a:buSzPct val="100000"/>
              <a:buChar char="•"/>
            </a:pPr>
            <a:r>
              <a:rPr lang="en-US" sz="1600" dirty="0">
                <a:solidFill>
                  <a:schemeClr val="tx1"/>
                </a:solidFill>
              </a:rPr>
              <a:t>Medir p95 y p99, no solo el promedio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13</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Lo que suele olvidarse</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Accesibilidad, documentación, deuda técnica, aspectos legales, inteligencia artificial y habilidades del equipo.</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LO QUE SUELE OLVIDARSE</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Calidad de cara al usuario</a:t>
            </a:r>
            <a:endParaRPr lang="en-US" sz="3400" dirty="0"/>
          </a:p>
        </p:txBody>
      </p:sp>
      <p:sp>
        <p:nvSpPr>
          <p:cNvPr id="5" name="tarjeta-842"/>
          <p:cNvSpPr/>
          <p:nvPr/>
        </p:nvSpPr>
        <p:spPr>
          <a:xfrm>
            <a:off x="548640" y="1481328"/>
            <a:ext cx="2567864" cy="2926080"/>
          </a:xfrm>
          <a:prstGeom prst="roundRect">
            <a:avLst>
              <a:gd name="adj" fmla="val 3561"/>
            </a:avLst>
          </a:prstGeom>
          <a:solidFill>
            <a:schemeClr val="bg2"/>
          </a:solidFill>
          <a:ln/>
        </p:spPr>
      </p:sp>
      <p:sp>
        <p:nvSpPr>
          <p:cNvPr id="6" name="circulo-843"/>
          <p:cNvSpPr/>
          <p:nvPr/>
        </p:nvSpPr>
        <p:spPr>
          <a:xfrm>
            <a:off x="749808" y="1682496"/>
            <a:ext cx="438912" cy="438912"/>
          </a:xfrm>
          <a:prstGeom prst="ellipse">
            <a:avLst/>
          </a:prstGeom>
          <a:solidFill>
            <a:schemeClr val="accent1"/>
          </a:solidFill>
          <a:ln/>
        </p:spPr>
      </p:sp>
      <p:sp>
        <p:nvSpPr>
          <p:cNvPr id="7" name="num-844"/>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845"/>
          <p:cNvSpPr txBox="1"/>
          <p:nvPr/>
        </p:nvSpPr>
        <p:spPr>
          <a:xfrm>
            <a:off x="1325880"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Accesibilidad (WCAG)</a:t>
            </a:r>
            <a:endParaRPr lang="en-US" sz="1700" dirty="0"/>
          </a:p>
        </p:txBody>
      </p:sp>
      <p:sp>
        <p:nvSpPr>
          <p:cNvPr id="9" name="desc-846"/>
          <p:cNvSpPr txBox="1"/>
          <p:nvPr/>
        </p:nvSpPr>
        <p:spPr>
          <a:xfrm>
            <a:off x="777240"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Teclado, lector de pantalla, contraste y textos alternativos.</a:t>
            </a:r>
            <a:endParaRPr lang="en-US" sz="1500" dirty="0"/>
          </a:p>
        </p:txBody>
      </p:sp>
      <p:sp>
        <p:nvSpPr>
          <p:cNvPr id="10" name="tarjeta-847"/>
          <p:cNvSpPr/>
          <p:nvPr/>
        </p:nvSpPr>
        <p:spPr>
          <a:xfrm>
            <a:off x="3390824" y="1481328"/>
            <a:ext cx="2567864" cy="2926080"/>
          </a:xfrm>
          <a:prstGeom prst="roundRect">
            <a:avLst>
              <a:gd name="adj" fmla="val 3561"/>
            </a:avLst>
          </a:prstGeom>
          <a:solidFill>
            <a:schemeClr val="bg2"/>
          </a:solidFill>
          <a:ln/>
        </p:spPr>
      </p:sp>
      <p:sp>
        <p:nvSpPr>
          <p:cNvPr id="11" name="circulo-848"/>
          <p:cNvSpPr/>
          <p:nvPr/>
        </p:nvSpPr>
        <p:spPr>
          <a:xfrm>
            <a:off x="3591992" y="1682496"/>
            <a:ext cx="438912" cy="438912"/>
          </a:xfrm>
          <a:prstGeom prst="ellipse">
            <a:avLst/>
          </a:prstGeom>
          <a:solidFill>
            <a:schemeClr val="accent2"/>
          </a:solidFill>
          <a:ln/>
        </p:spPr>
      </p:sp>
      <p:sp>
        <p:nvSpPr>
          <p:cNvPr id="12" name="num-849"/>
          <p:cNvSpPr txBox="1"/>
          <p:nvPr/>
        </p:nvSpPr>
        <p:spPr>
          <a:xfrm>
            <a:off x="359199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850"/>
          <p:cNvSpPr txBox="1"/>
          <p:nvPr/>
        </p:nvSpPr>
        <p:spPr>
          <a:xfrm>
            <a:off x="4168064"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Diseño responsivo</a:t>
            </a:r>
            <a:endParaRPr lang="en-US" sz="1700" dirty="0"/>
          </a:p>
        </p:txBody>
      </p:sp>
      <p:sp>
        <p:nvSpPr>
          <p:cNvPr id="14" name="desc-851"/>
          <p:cNvSpPr txBox="1"/>
          <p:nvPr/>
        </p:nvSpPr>
        <p:spPr>
          <a:xfrm>
            <a:off x="3619424"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Funciona en celular, notebook y monitor grande.</a:t>
            </a:r>
            <a:endParaRPr lang="en-US" sz="1500" dirty="0"/>
          </a:p>
        </p:txBody>
      </p:sp>
      <p:sp>
        <p:nvSpPr>
          <p:cNvPr id="15" name="tarjeta-852"/>
          <p:cNvSpPr/>
          <p:nvPr/>
        </p:nvSpPr>
        <p:spPr>
          <a:xfrm>
            <a:off x="6233008" y="1481328"/>
            <a:ext cx="2567864" cy="2926080"/>
          </a:xfrm>
          <a:prstGeom prst="roundRect">
            <a:avLst>
              <a:gd name="adj" fmla="val 3561"/>
            </a:avLst>
          </a:prstGeom>
          <a:solidFill>
            <a:schemeClr val="bg2"/>
          </a:solidFill>
          <a:ln/>
        </p:spPr>
      </p:sp>
      <p:sp>
        <p:nvSpPr>
          <p:cNvPr id="16" name="circulo-853"/>
          <p:cNvSpPr/>
          <p:nvPr/>
        </p:nvSpPr>
        <p:spPr>
          <a:xfrm>
            <a:off x="6434176" y="1682496"/>
            <a:ext cx="438912" cy="438912"/>
          </a:xfrm>
          <a:prstGeom prst="ellipse">
            <a:avLst/>
          </a:prstGeom>
          <a:solidFill>
            <a:schemeClr val="accent3"/>
          </a:solidFill>
          <a:ln/>
        </p:spPr>
      </p:sp>
      <p:sp>
        <p:nvSpPr>
          <p:cNvPr id="17" name="num-854"/>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855"/>
          <p:cNvSpPr txBox="1"/>
          <p:nvPr/>
        </p:nvSpPr>
        <p:spPr>
          <a:xfrm>
            <a:off x="7010248"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Idiomas (i18n)</a:t>
            </a:r>
            <a:endParaRPr lang="en-US" sz="1700" dirty="0"/>
          </a:p>
        </p:txBody>
      </p:sp>
      <p:sp>
        <p:nvSpPr>
          <p:cNvPr id="19" name="desc-856"/>
          <p:cNvSpPr txBox="1"/>
          <p:nvPr/>
        </p:nvSpPr>
        <p:spPr>
          <a:xfrm>
            <a:off x="6461608"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Idiomas, fechas, monedas y zonas horarias.</a:t>
            </a:r>
            <a:endParaRPr lang="en-US" sz="1500" dirty="0"/>
          </a:p>
        </p:txBody>
      </p:sp>
      <p:sp>
        <p:nvSpPr>
          <p:cNvPr id="20" name="tarjeta-857"/>
          <p:cNvSpPr/>
          <p:nvPr/>
        </p:nvSpPr>
        <p:spPr>
          <a:xfrm>
            <a:off x="9075191" y="1481328"/>
            <a:ext cx="2567864" cy="2926080"/>
          </a:xfrm>
          <a:prstGeom prst="roundRect">
            <a:avLst>
              <a:gd name="adj" fmla="val 3561"/>
            </a:avLst>
          </a:prstGeom>
          <a:solidFill>
            <a:schemeClr val="bg2"/>
          </a:solidFill>
          <a:ln/>
        </p:spPr>
      </p:sp>
      <p:sp>
        <p:nvSpPr>
          <p:cNvPr id="21" name="circulo-858"/>
          <p:cNvSpPr/>
          <p:nvPr/>
        </p:nvSpPr>
        <p:spPr>
          <a:xfrm>
            <a:off x="9276359" y="1682496"/>
            <a:ext cx="438912" cy="438912"/>
          </a:xfrm>
          <a:prstGeom prst="ellipse">
            <a:avLst/>
          </a:prstGeom>
          <a:solidFill>
            <a:schemeClr val="accent4"/>
          </a:solidFill>
          <a:ln/>
        </p:spPr>
      </p:sp>
      <p:sp>
        <p:nvSpPr>
          <p:cNvPr id="22" name="num-859"/>
          <p:cNvSpPr txBox="1"/>
          <p:nvPr/>
        </p:nvSpPr>
        <p:spPr>
          <a:xfrm>
            <a:off x="927635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860"/>
          <p:cNvSpPr txBox="1"/>
          <p:nvPr/>
        </p:nvSpPr>
        <p:spPr>
          <a:xfrm>
            <a:off x="9852431"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Mensajes útiles</a:t>
            </a:r>
            <a:endParaRPr lang="en-US" sz="1700" dirty="0"/>
          </a:p>
        </p:txBody>
      </p:sp>
      <p:sp>
        <p:nvSpPr>
          <p:cNvPr id="24" name="desc-861"/>
          <p:cNvSpPr txBox="1"/>
          <p:nvPr/>
        </p:nvSpPr>
        <p:spPr>
          <a:xfrm>
            <a:off x="9303791"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Explican qué pasó y cómo seguir, sin detalles internos.</a:t>
            </a:r>
            <a:endParaRPr lang="en-US" sz="15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LO QUE SUELE OLVIDARSE</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Documentación y calidad automatizada</a:t>
            </a:r>
            <a:endParaRPr lang="en-US" sz="3400" dirty="0"/>
          </a:p>
        </p:txBody>
      </p:sp>
      <p:sp>
        <p:nvSpPr>
          <p:cNvPr id="5" name="tarjeta-862"/>
          <p:cNvSpPr/>
          <p:nvPr/>
        </p:nvSpPr>
        <p:spPr>
          <a:xfrm>
            <a:off x="548640" y="1481328"/>
            <a:ext cx="3515258" cy="2208276"/>
          </a:xfrm>
          <a:prstGeom prst="roundRect">
            <a:avLst>
              <a:gd name="adj" fmla="val 4141"/>
            </a:avLst>
          </a:prstGeom>
          <a:solidFill>
            <a:schemeClr val="bg2"/>
          </a:solidFill>
          <a:ln/>
        </p:spPr>
      </p:sp>
      <p:sp>
        <p:nvSpPr>
          <p:cNvPr id="6" name="circulo-863"/>
          <p:cNvSpPr/>
          <p:nvPr/>
        </p:nvSpPr>
        <p:spPr>
          <a:xfrm>
            <a:off x="749808" y="1682496"/>
            <a:ext cx="438912" cy="438912"/>
          </a:xfrm>
          <a:prstGeom prst="ellipse">
            <a:avLst/>
          </a:prstGeom>
          <a:solidFill>
            <a:schemeClr val="accent1"/>
          </a:solidFill>
          <a:ln/>
        </p:spPr>
      </p:sp>
      <p:sp>
        <p:nvSpPr>
          <p:cNvPr id="7" name="num-864"/>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865"/>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README</a:t>
            </a:r>
            <a:endParaRPr lang="en-US" sz="1700" dirty="0"/>
          </a:p>
        </p:txBody>
      </p:sp>
      <p:sp>
        <p:nvSpPr>
          <p:cNvPr id="9" name="desc-866"/>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Qué es, cómo se ejecuta y cómo se prueba.</a:t>
            </a:r>
            <a:endParaRPr lang="en-US" sz="1600" dirty="0"/>
          </a:p>
        </p:txBody>
      </p:sp>
      <p:sp>
        <p:nvSpPr>
          <p:cNvPr id="10" name="tarjeta-867"/>
          <p:cNvSpPr/>
          <p:nvPr/>
        </p:nvSpPr>
        <p:spPr>
          <a:xfrm>
            <a:off x="4338218" y="1481328"/>
            <a:ext cx="3515258" cy="2208276"/>
          </a:xfrm>
          <a:prstGeom prst="roundRect">
            <a:avLst>
              <a:gd name="adj" fmla="val 4141"/>
            </a:avLst>
          </a:prstGeom>
          <a:solidFill>
            <a:schemeClr val="bg2"/>
          </a:solidFill>
          <a:ln/>
        </p:spPr>
      </p:sp>
      <p:sp>
        <p:nvSpPr>
          <p:cNvPr id="11" name="circulo-868"/>
          <p:cNvSpPr/>
          <p:nvPr/>
        </p:nvSpPr>
        <p:spPr>
          <a:xfrm>
            <a:off x="4539386" y="1682496"/>
            <a:ext cx="438912" cy="438912"/>
          </a:xfrm>
          <a:prstGeom prst="ellipse">
            <a:avLst/>
          </a:prstGeom>
          <a:solidFill>
            <a:schemeClr val="accent2"/>
          </a:solidFill>
          <a:ln/>
        </p:spPr>
      </p:sp>
      <p:sp>
        <p:nvSpPr>
          <p:cNvPr id="12" name="num-869"/>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870"/>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Documentación de la API</a:t>
            </a:r>
            <a:endParaRPr lang="en-US" sz="1700" dirty="0"/>
          </a:p>
        </p:txBody>
      </p:sp>
      <p:sp>
        <p:nvSpPr>
          <p:cNvPr id="14" name="desc-871"/>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OpenAPI / Swagger generado desde el código.</a:t>
            </a:r>
            <a:endParaRPr lang="en-US" sz="1600" dirty="0"/>
          </a:p>
        </p:txBody>
      </p:sp>
      <p:sp>
        <p:nvSpPr>
          <p:cNvPr id="15" name="tarjeta-872"/>
          <p:cNvSpPr/>
          <p:nvPr/>
        </p:nvSpPr>
        <p:spPr>
          <a:xfrm>
            <a:off x="8127797" y="1481328"/>
            <a:ext cx="3515258" cy="2208276"/>
          </a:xfrm>
          <a:prstGeom prst="roundRect">
            <a:avLst>
              <a:gd name="adj" fmla="val 4141"/>
            </a:avLst>
          </a:prstGeom>
          <a:solidFill>
            <a:schemeClr val="bg2"/>
          </a:solidFill>
          <a:ln/>
        </p:spPr>
      </p:sp>
      <p:sp>
        <p:nvSpPr>
          <p:cNvPr id="16" name="circulo-873"/>
          <p:cNvSpPr/>
          <p:nvPr/>
        </p:nvSpPr>
        <p:spPr>
          <a:xfrm>
            <a:off x="8328965" y="1682496"/>
            <a:ext cx="438912" cy="438912"/>
          </a:xfrm>
          <a:prstGeom prst="ellipse">
            <a:avLst/>
          </a:prstGeom>
          <a:solidFill>
            <a:schemeClr val="accent3"/>
          </a:solidFill>
          <a:ln/>
        </p:spPr>
      </p:sp>
      <p:sp>
        <p:nvSpPr>
          <p:cNvPr id="17" name="num-874"/>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875"/>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ADR y diagramas C4</a:t>
            </a:r>
            <a:endParaRPr lang="en-US" sz="1700" dirty="0"/>
          </a:p>
        </p:txBody>
      </p:sp>
      <p:sp>
        <p:nvSpPr>
          <p:cNvPr id="19" name="desc-876"/>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Por qué se decidió y cómo está armado.</a:t>
            </a:r>
            <a:endParaRPr lang="en-US" sz="1600" dirty="0"/>
          </a:p>
        </p:txBody>
      </p:sp>
      <p:sp>
        <p:nvSpPr>
          <p:cNvPr id="20" name="tarjeta-877"/>
          <p:cNvSpPr/>
          <p:nvPr/>
        </p:nvSpPr>
        <p:spPr>
          <a:xfrm>
            <a:off x="548640" y="3963924"/>
            <a:ext cx="3515258" cy="2208276"/>
          </a:xfrm>
          <a:prstGeom prst="roundRect">
            <a:avLst>
              <a:gd name="adj" fmla="val 4141"/>
            </a:avLst>
          </a:prstGeom>
          <a:solidFill>
            <a:schemeClr val="bg2"/>
          </a:solidFill>
          <a:ln/>
        </p:spPr>
      </p:sp>
      <p:sp>
        <p:nvSpPr>
          <p:cNvPr id="21" name="circulo-878"/>
          <p:cNvSpPr/>
          <p:nvPr/>
        </p:nvSpPr>
        <p:spPr>
          <a:xfrm>
            <a:off x="749808" y="4165092"/>
            <a:ext cx="438912" cy="438912"/>
          </a:xfrm>
          <a:prstGeom prst="ellipse">
            <a:avLst/>
          </a:prstGeom>
          <a:solidFill>
            <a:schemeClr val="accent4"/>
          </a:solidFill>
          <a:ln/>
        </p:spPr>
      </p:sp>
      <p:sp>
        <p:nvSpPr>
          <p:cNvPr id="22" name="num-879"/>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880"/>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Changelog</a:t>
            </a:r>
            <a:endParaRPr lang="en-US" sz="1700" dirty="0"/>
          </a:p>
        </p:txBody>
      </p:sp>
      <p:sp>
        <p:nvSpPr>
          <p:cNvPr id="24" name="desc-881"/>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Qué cambió en cada versión.</a:t>
            </a:r>
            <a:endParaRPr lang="en-US" sz="1600" dirty="0"/>
          </a:p>
        </p:txBody>
      </p:sp>
      <p:sp>
        <p:nvSpPr>
          <p:cNvPr id="25" name="tarjeta-882"/>
          <p:cNvSpPr/>
          <p:nvPr/>
        </p:nvSpPr>
        <p:spPr>
          <a:xfrm>
            <a:off x="4338218" y="3963924"/>
            <a:ext cx="3515258" cy="2208276"/>
          </a:xfrm>
          <a:prstGeom prst="roundRect">
            <a:avLst>
              <a:gd name="adj" fmla="val 4141"/>
            </a:avLst>
          </a:prstGeom>
          <a:solidFill>
            <a:schemeClr val="bg2"/>
          </a:solidFill>
          <a:ln/>
        </p:spPr>
      </p:sp>
      <p:sp>
        <p:nvSpPr>
          <p:cNvPr id="26" name="circulo-883"/>
          <p:cNvSpPr/>
          <p:nvPr/>
        </p:nvSpPr>
        <p:spPr>
          <a:xfrm>
            <a:off x="4539386" y="4165092"/>
            <a:ext cx="438912" cy="438912"/>
          </a:xfrm>
          <a:prstGeom prst="ellipse">
            <a:avLst/>
          </a:prstGeom>
          <a:solidFill>
            <a:schemeClr val="accent6"/>
          </a:solidFill>
          <a:ln/>
        </p:spPr>
      </p:sp>
      <p:sp>
        <p:nvSpPr>
          <p:cNvPr id="27" name="num-884"/>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885"/>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Análisis estático</a:t>
            </a:r>
            <a:endParaRPr lang="en-US" sz="1700" dirty="0"/>
          </a:p>
        </p:txBody>
      </p:sp>
      <p:sp>
        <p:nvSpPr>
          <p:cNvPr id="29" name="desc-886"/>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SonarQube, Checkstyle, ESLint en el pipeline.</a:t>
            </a:r>
            <a:endParaRPr lang="en-US" sz="1600" dirty="0"/>
          </a:p>
        </p:txBody>
      </p:sp>
      <p:sp>
        <p:nvSpPr>
          <p:cNvPr id="30" name="tarjeta-887"/>
          <p:cNvSpPr/>
          <p:nvPr/>
        </p:nvSpPr>
        <p:spPr>
          <a:xfrm>
            <a:off x="8127797" y="3963924"/>
            <a:ext cx="3515258" cy="2208276"/>
          </a:xfrm>
          <a:prstGeom prst="roundRect">
            <a:avLst>
              <a:gd name="adj" fmla="val 4141"/>
            </a:avLst>
          </a:prstGeom>
          <a:solidFill>
            <a:schemeClr val="bg2"/>
          </a:solidFill>
          <a:ln/>
        </p:spPr>
      </p:sp>
      <p:sp>
        <p:nvSpPr>
          <p:cNvPr id="31" name="circulo-888"/>
          <p:cNvSpPr/>
          <p:nvPr/>
        </p:nvSpPr>
        <p:spPr>
          <a:xfrm>
            <a:off x="8328965" y="4165092"/>
            <a:ext cx="438912" cy="438912"/>
          </a:xfrm>
          <a:prstGeom prst="ellipse">
            <a:avLst/>
          </a:prstGeom>
          <a:solidFill>
            <a:schemeClr val="accent5"/>
          </a:solidFill>
          <a:ln/>
        </p:spPr>
      </p:sp>
      <p:sp>
        <p:nvSpPr>
          <p:cNvPr id="32" name="num-889"/>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890"/>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Deuda técnica</a:t>
            </a:r>
            <a:endParaRPr lang="en-US" sz="1700" dirty="0"/>
          </a:p>
        </p:txBody>
      </p:sp>
      <p:sp>
        <p:nvSpPr>
          <p:cNvPr id="34" name="desc-891"/>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Registrar los atajos y planificar su pago.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LO QUE SUELE OLVIDARSE</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Aspectos legales, ética e inteligencia artificial</a:t>
            </a:r>
            <a:endParaRPr lang="en-US" sz="3400" dirty="0"/>
          </a:p>
        </p:txBody>
      </p:sp>
      <p:sp>
        <p:nvSpPr>
          <p:cNvPr id="5" name="tarjeta-892"/>
          <p:cNvSpPr/>
          <p:nvPr/>
        </p:nvSpPr>
        <p:spPr>
          <a:xfrm>
            <a:off x="548640" y="1481328"/>
            <a:ext cx="3515258" cy="2208276"/>
          </a:xfrm>
          <a:prstGeom prst="roundRect">
            <a:avLst>
              <a:gd name="adj" fmla="val 4141"/>
            </a:avLst>
          </a:prstGeom>
          <a:solidFill>
            <a:schemeClr val="bg2"/>
          </a:solidFill>
          <a:ln/>
        </p:spPr>
      </p:sp>
      <p:sp>
        <p:nvSpPr>
          <p:cNvPr id="6" name="circulo-893"/>
          <p:cNvSpPr/>
          <p:nvPr/>
        </p:nvSpPr>
        <p:spPr>
          <a:xfrm>
            <a:off x="749808" y="1682496"/>
            <a:ext cx="438912" cy="438912"/>
          </a:xfrm>
          <a:prstGeom prst="ellipse">
            <a:avLst/>
          </a:prstGeom>
          <a:solidFill>
            <a:schemeClr val="accent1"/>
          </a:solidFill>
          <a:ln/>
        </p:spPr>
      </p:sp>
      <p:sp>
        <p:nvSpPr>
          <p:cNvPr id="7" name="num-894"/>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895"/>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Licencias de software</a:t>
            </a:r>
            <a:endParaRPr lang="en-US" sz="1700" dirty="0"/>
          </a:p>
        </p:txBody>
      </p:sp>
      <p:sp>
        <p:nvSpPr>
          <p:cNvPr id="9" name="desc-896"/>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MIT, Apache 2.0 y GPL tienen obligaciones distintas.</a:t>
            </a:r>
            <a:endParaRPr lang="en-US" sz="1600" dirty="0"/>
          </a:p>
        </p:txBody>
      </p:sp>
      <p:sp>
        <p:nvSpPr>
          <p:cNvPr id="10" name="tarjeta-897"/>
          <p:cNvSpPr/>
          <p:nvPr/>
        </p:nvSpPr>
        <p:spPr>
          <a:xfrm>
            <a:off x="4338218" y="1481328"/>
            <a:ext cx="3515258" cy="2208276"/>
          </a:xfrm>
          <a:prstGeom prst="roundRect">
            <a:avLst>
              <a:gd name="adj" fmla="val 4141"/>
            </a:avLst>
          </a:prstGeom>
          <a:solidFill>
            <a:schemeClr val="bg2"/>
          </a:solidFill>
          <a:ln/>
        </p:spPr>
      </p:sp>
      <p:sp>
        <p:nvSpPr>
          <p:cNvPr id="11" name="circulo-898"/>
          <p:cNvSpPr/>
          <p:nvPr/>
        </p:nvSpPr>
        <p:spPr>
          <a:xfrm>
            <a:off x="4539386" y="1682496"/>
            <a:ext cx="438912" cy="438912"/>
          </a:xfrm>
          <a:prstGeom prst="ellipse">
            <a:avLst/>
          </a:prstGeom>
          <a:solidFill>
            <a:schemeClr val="accent2"/>
          </a:solidFill>
          <a:ln/>
        </p:spPr>
      </p:sp>
      <p:sp>
        <p:nvSpPr>
          <p:cNvPr id="12" name="num-899"/>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900"/>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Datos personales</a:t>
            </a:r>
            <a:endParaRPr lang="en-US" sz="1700" dirty="0"/>
          </a:p>
        </p:txBody>
      </p:sp>
      <p:sp>
        <p:nvSpPr>
          <p:cNvPr id="14" name="desc-901"/>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Consentimiento, finalidad y derechos del titular.</a:t>
            </a:r>
            <a:endParaRPr lang="en-US" sz="1600" dirty="0"/>
          </a:p>
        </p:txBody>
      </p:sp>
      <p:sp>
        <p:nvSpPr>
          <p:cNvPr id="15" name="tarjeta-902"/>
          <p:cNvSpPr/>
          <p:nvPr/>
        </p:nvSpPr>
        <p:spPr>
          <a:xfrm>
            <a:off x="8127797" y="1481328"/>
            <a:ext cx="3515258" cy="2208276"/>
          </a:xfrm>
          <a:prstGeom prst="roundRect">
            <a:avLst>
              <a:gd name="adj" fmla="val 4141"/>
            </a:avLst>
          </a:prstGeom>
          <a:solidFill>
            <a:schemeClr val="bg2"/>
          </a:solidFill>
          <a:ln/>
        </p:spPr>
      </p:sp>
      <p:sp>
        <p:nvSpPr>
          <p:cNvPr id="16" name="circulo-903"/>
          <p:cNvSpPr/>
          <p:nvPr/>
        </p:nvSpPr>
        <p:spPr>
          <a:xfrm>
            <a:off x="8328965" y="1682496"/>
            <a:ext cx="438912" cy="438912"/>
          </a:xfrm>
          <a:prstGeom prst="ellipse">
            <a:avLst/>
          </a:prstGeom>
          <a:solidFill>
            <a:schemeClr val="accent3"/>
          </a:solidFill>
          <a:ln/>
        </p:spPr>
      </p:sp>
      <p:sp>
        <p:nvSpPr>
          <p:cNvPr id="17" name="num-904"/>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905"/>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Ética</a:t>
            </a:r>
            <a:endParaRPr lang="en-US" sz="1700" dirty="0"/>
          </a:p>
        </p:txBody>
      </p:sp>
      <p:sp>
        <p:nvSpPr>
          <p:cNvPr id="19" name="desc-906"/>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Privacidad, sesgos y uso responsable de los datos.</a:t>
            </a:r>
            <a:endParaRPr lang="en-US" sz="1600" dirty="0"/>
          </a:p>
        </p:txBody>
      </p:sp>
      <p:sp>
        <p:nvSpPr>
          <p:cNvPr id="20" name="tarjeta-907"/>
          <p:cNvSpPr/>
          <p:nvPr/>
        </p:nvSpPr>
        <p:spPr>
          <a:xfrm>
            <a:off x="548640" y="3963924"/>
            <a:ext cx="3515258" cy="2208276"/>
          </a:xfrm>
          <a:prstGeom prst="roundRect">
            <a:avLst>
              <a:gd name="adj" fmla="val 4141"/>
            </a:avLst>
          </a:prstGeom>
          <a:solidFill>
            <a:schemeClr val="bg2"/>
          </a:solidFill>
          <a:ln/>
        </p:spPr>
      </p:sp>
      <p:sp>
        <p:nvSpPr>
          <p:cNvPr id="21" name="circulo-908"/>
          <p:cNvSpPr/>
          <p:nvPr/>
        </p:nvSpPr>
        <p:spPr>
          <a:xfrm>
            <a:off x="749808" y="4165092"/>
            <a:ext cx="438912" cy="438912"/>
          </a:xfrm>
          <a:prstGeom prst="ellipse">
            <a:avLst/>
          </a:prstGeom>
          <a:solidFill>
            <a:schemeClr val="accent4"/>
          </a:solidFill>
          <a:ln/>
        </p:spPr>
      </p:sp>
      <p:sp>
        <p:nvSpPr>
          <p:cNvPr id="22" name="num-909"/>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910"/>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IA como asistente</a:t>
            </a:r>
            <a:endParaRPr lang="en-US" sz="1700" dirty="0"/>
          </a:p>
        </p:txBody>
      </p:sp>
      <p:sp>
        <p:nvSpPr>
          <p:cNvPr id="24" name="desc-911"/>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Acelera, pero hay que revisar y entender todo lo generado.</a:t>
            </a:r>
            <a:endParaRPr lang="en-US" sz="1600" dirty="0"/>
          </a:p>
        </p:txBody>
      </p:sp>
      <p:sp>
        <p:nvSpPr>
          <p:cNvPr id="25" name="tarjeta-912"/>
          <p:cNvSpPr/>
          <p:nvPr/>
        </p:nvSpPr>
        <p:spPr>
          <a:xfrm>
            <a:off x="4338218" y="3963924"/>
            <a:ext cx="3515258" cy="2208276"/>
          </a:xfrm>
          <a:prstGeom prst="roundRect">
            <a:avLst>
              <a:gd name="adj" fmla="val 4141"/>
            </a:avLst>
          </a:prstGeom>
          <a:solidFill>
            <a:schemeClr val="bg2"/>
          </a:solidFill>
          <a:ln/>
        </p:spPr>
      </p:sp>
      <p:sp>
        <p:nvSpPr>
          <p:cNvPr id="26" name="circulo-913"/>
          <p:cNvSpPr/>
          <p:nvPr/>
        </p:nvSpPr>
        <p:spPr>
          <a:xfrm>
            <a:off x="4539386" y="4165092"/>
            <a:ext cx="438912" cy="438912"/>
          </a:xfrm>
          <a:prstGeom prst="ellipse">
            <a:avLst/>
          </a:prstGeom>
          <a:solidFill>
            <a:schemeClr val="accent6"/>
          </a:solidFill>
          <a:ln/>
        </p:spPr>
      </p:sp>
      <p:sp>
        <p:nvSpPr>
          <p:cNvPr id="27" name="num-914"/>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915"/>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Sin secretos en la IA</a:t>
            </a:r>
            <a:endParaRPr lang="en-US" sz="1700" dirty="0"/>
          </a:p>
        </p:txBody>
      </p:sp>
      <p:sp>
        <p:nvSpPr>
          <p:cNvPr id="29" name="desc-916"/>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No pegar claves ni datos sensibles en herramientas externas.</a:t>
            </a:r>
            <a:endParaRPr lang="en-US" sz="1600" dirty="0"/>
          </a:p>
        </p:txBody>
      </p:sp>
      <p:sp>
        <p:nvSpPr>
          <p:cNvPr id="30" name="tarjeta-917"/>
          <p:cNvSpPr/>
          <p:nvPr/>
        </p:nvSpPr>
        <p:spPr>
          <a:xfrm>
            <a:off x="8127797" y="3963924"/>
            <a:ext cx="3515258" cy="2208276"/>
          </a:xfrm>
          <a:prstGeom prst="roundRect">
            <a:avLst>
              <a:gd name="adj" fmla="val 4141"/>
            </a:avLst>
          </a:prstGeom>
          <a:solidFill>
            <a:schemeClr val="bg2"/>
          </a:solidFill>
          <a:ln/>
        </p:spPr>
      </p:sp>
      <p:sp>
        <p:nvSpPr>
          <p:cNvPr id="31" name="circulo-918"/>
          <p:cNvSpPr/>
          <p:nvPr/>
        </p:nvSpPr>
        <p:spPr>
          <a:xfrm>
            <a:off x="8328965" y="4165092"/>
            <a:ext cx="438912" cy="438912"/>
          </a:xfrm>
          <a:prstGeom prst="ellipse">
            <a:avLst/>
          </a:prstGeom>
          <a:solidFill>
            <a:schemeClr val="accent5"/>
          </a:solidFill>
          <a:ln/>
        </p:spPr>
      </p:sp>
      <p:sp>
        <p:nvSpPr>
          <p:cNvPr id="32" name="num-919"/>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920"/>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Responsabilidad</a:t>
            </a:r>
            <a:endParaRPr lang="en-US" sz="1700" dirty="0"/>
          </a:p>
        </p:txBody>
      </p:sp>
      <p:sp>
        <p:nvSpPr>
          <p:cNvPr id="34" name="desc-921"/>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El código asistido por IA se defiende igual que el propio.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LO QUE SUELE OLVIDARSE</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Habilidades del equipo</a:t>
            </a:r>
            <a:endParaRPr lang="en-US" sz="3400" dirty="0"/>
          </a:p>
        </p:txBody>
      </p:sp>
      <p:sp>
        <p:nvSpPr>
          <p:cNvPr id="5" name="tarjeta-922"/>
          <p:cNvSpPr/>
          <p:nvPr/>
        </p:nvSpPr>
        <p:spPr>
          <a:xfrm>
            <a:off x="548640" y="1481328"/>
            <a:ext cx="2567864" cy="2926080"/>
          </a:xfrm>
          <a:prstGeom prst="roundRect">
            <a:avLst>
              <a:gd name="adj" fmla="val 3561"/>
            </a:avLst>
          </a:prstGeom>
          <a:solidFill>
            <a:schemeClr val="bg2"/>
          </a:solidFill>
          <a:ln/>
        </p:spPr>
      </p:sp>
      <p:sp>
        <p:nvSpPr>
          <p:cNvPr id="6" name="circulo-923"/>
          <p:cNvSpPr/>
          <p:nvPr/>
        </p:nvSpPr>
        <p:spPr>
          <a:xfrm>
            <a:off x="749808" y="1682496"/>
            <a:ext cx="438912" cy="438912"/>
          </a:xfrm>
          <a:prstGeom prst="ellipse">
            <a:avLst/>
          </a:prstGeom>
          <a:solidFill>
            <a:schemeClr val="accent1"/>
          </a:solidFill>
          <a:ln/>
        </p:spPr>
      </p:sp>
      <p:sp>
        <p:nvSpPr>
          <p:cNvPr id="7" name="num-924"/>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925"/>
          <p:cNvSpPr txBox="1"/>
          <p:nvPr/>
        </p:nvSpPr>
        <p:spPr>
          <a:xfrm>
            <a:off x="1325880"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Comunicación</a:t>
            </a:r>
            <a:endParaRPr lang="en-US" sz="1700" dirty="0"/>
          </a:p>
        </p:txBody>
      </p:sp>
      <p:sp>
        <p:nvSpPr>
          <p:cNvPr id="9" name="desc-926"/>
          <p:cNvSpPr txBox="1"/>
          <p:nvPr/>
        </p:nvSpPr>
        <p:spPr>
          <a:xfrm>
            <a:off x="777240"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Con el cliente y el equipo; preguntar antes de suponer.</a:t>
            </a:r>
            <a:endParaRPr lang="en-US" sz="1500" dirty="0"/>
          </a:p>
        </p:txBody>
      </p:sp>
      <p:sp>
        <p:nvSpPr>
          <p:cNvPr id="10" name="tarjeta-927"/>
          <p:cNvSpPr/>
          <p:nvPr/>
        </p:nvSpPr>
        <p:spPr>
          <a:xfrm>
            <a:off x="3390824" y="1481328"/>
            <a:ext cx="2567864" cy="2926080"/>
          </a:xfrm>
          <a:prstGeom prst="roundRect">
            <a:avLst>
              <a:gd name="adj" fmla="val 3561"/>
            </a:avLst>
          </a:prstGeom>
          <a:solidFill>
            <a:schemeClr val="bg2"/>
          </a:solidFill>
          <a:ln/>
        </p:spPr>
      </p:sp>
      <p:sp>
        <p:nvSpPr>
          <p:cNvPr id="11" name="circulo-928"/>
          <p:cNvSpPr/>
          <p:nvPr/>
        </p:nvSpPr>
        <p:spPr>
          <a:xfrm>
            <a:off x="3591992" y="1682496"/>
            <a:ext cx="438912" cy="438912"/>
          </a:xfrm>
          <a:prstGeom prst="ellipse">
            <a:avLst/>
          </a:prstGeom>
          <a:solidFill>
            <a:schemeClr val="accent2"/>
          </a:solidFill>
          <a:ln/>
        </p:spPr>
      </p:sp>
      <p:sp>
        <p:nvSpPr>
          <p:cNvPr id="12" name="num-929"/>
          <p:cNvSpPr txBox="1"/>
          <p:nvPr/>
        </p:nvSpPr>
        <p:spPr>
          <a:xfrm>
            <a:off x="359199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930"/>
          <p:cNvSpPr txBox="1"/>
          <p:nvPr/>
        </p:nvSpPr>
        <p:spPr>
          <a:xfrm>
            <a:off x="4168064"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Estimar con honestidad</a:t>
            </a:r>
            <a:endParaRPr lang="en-US" sz="1700" dirty="0"/>
          </a:p>
        </p:txBody>
      </p:sp>
      <p:sp>
        <p:nvSpPr>
          <p:cNvPr id="14" name="desc-931"/>
          <p:cNvSpPr txBox="1"/>
          <p:nvPr/>
        </p:nvSpPr>
        <p:spPr>
          <a:xfrm>
            <a:off x="3619424"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Decir "no sé" o "es más grande" a tiempo.</a:t>
            </a:r>
            <a:endParaRPr lang="en-US" sz="1500" dirty="0"/>
          </a:p>
        </p:txBody>
      </p:sp>
      <p:sp>
        <p:nvSpPr>
          <p:cNvPr id="15" name="tarjeta-932"/>
          <p:cNvSpPr/>
          <p:nvPr/>
        </p:nvSpPr>
        <p:spPr>
          <a:xfrm>
            <a:off x="6233008" y="1481328"/>
            <a:ext cx="2567864" cy="2926080"/>
          </a:xfrm>
          <a:prstGeom prst="roundRect">
            <a:avLst>
              <a:gd name="adj" fmla="val 3561"/>
            </a:avLst>
          </a:prstGeom>
          <a:solidFill>
            <a:schemeClr val="bg2"/>
          </a:solidFill>
          <a:ln/>
        </p:spPr>
      </p:sp>
      <p:sp>
        <p:nvSpPr>
          <p:cNvPr id="16" name="circulo-933"/>
          <p:cNvSpPr/>
          <p:nvPr/>
        </p:nvSpPr>
        <p:spPr>
          <a:xfrm>
            <a:off x="6434176" y="1682496"/>
            <a:ext cx="438912" cy="438912"/>
          </a:xfrm>
          <a:prstGeom prst="ellipse">
            <a:avLst/>
          </a:prstGeom>
          <a:solidFill>
            <a:schemeClr val="accent3"/>
          </a:solidFill>
          <a:ln/>
        </p:spPr>
      </p:sp>
      <p:sp>
        <p:nvSpPr>
          <p:cNvPr id="17" name="num-934"/>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935"/>
          <p:cNvSpPr txBox="1"/>
          <p:nvPr/>
        </p:nvSpPr>
        <p:spPr>
          <a:xfrm>
            <a:off x="7010248"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Feedback</a:t>
            </a:r>
            <a:endParaRPr lang="en-US" sz="1700" dirty="0"/>
          </a:p>
        </p:txBody>
      </p:sp>
      <p:sp>
        <p:nvSpPr>
          <p:cNvPr id="19" name="desc-936"/>
          <p:cNvSpPr txBox="1"/>
          <p:nvPr/>
        </p:nvSpPr>
        <p:spPr>
          <a:xfrm>
            <a:off x="6461608"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Dar y recibir comentarios en code review sin hacerlo personal.</a:t>
            </a:r>
            <a:endParaRPr lang="en-US" sz="1500" dirty="0"/>
          </a:p>
        </p:txBody>
      </p:sp>
      <p:sp>
        <p:nvSpPr>
          <p:cNvPr id="20" name="tarjeta-937"/>
          <p:cNvSpPr/>
          <p:nvPr/>
        </p:nvSpPr>
        <p:spPr>
          <a:xfrm>
            <a:off x="9075191" y="1481328"/>
            <a:ext cx="2567864" cy="2926080"/>
          </a:xfrm>
          <a:prstGeom prst="roundRect">
            <a:avLst>
              <a:gd name="adj" fmla="val 3561"/>
            </a:avLst>
          </a:prstGeom>
          <a:solidFill>
            <a:schemeClr val="bg2"/>
          </a:solidFill>
          <a:ln/>
        </p:spPr>
      </p:sp>
      <p:sp>
        <p:nvSpPr>
          <p:cNvPr id="21" name="circulo-938"/>
          <p:cNvSpPr/>
          <p:nvPr/>
        </p:nvSpPr>
        <p:spPr>
          <a:xfrm>
            <a:off x="9276359" y="1682496"/>
            <a:ext cx="438912" cy="438912"/>
          </a:xfrm>
          <a:prstGeom prst="ellipse">
            <a:avLst/>
          </a:prstGeom>
          <a:solidFill>
            <a:schemeClr val="accent4"/>
          </a:solidFill>
          <a:ln/>
        </p:spPr>
      </p:sp>
      <p:sp>
        <p:nvSpPr>
          <p:cNvPr id="22" name="num-939"/>
          <p:cNvSpPr txBox="1"/>
          <p:nvPr/>
        </p:nvSpPr>
        <p:spPr>
          <a:xfrm>
            <a:off x="927635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940"/>
          <p:cNvSpPr txBox="1"/>
          <p:nvPr/>
        </p:nvSpPr>
        <p:spPr>
          <a:xfrm>
            <a:off x="9852431"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Aprender siempre</a:t>
            </a:r>
            <a:endParaRPr lang="en-US" sz="1700" dirty="0"/>
          </a:p>
        </p:txBody>
      </p:sp>
      <p:sp>
        <p:nvSpPr>
          <p:cNvPr id="24" name="desc-941"/>
          <p:cNvSpPr txBox="1"/>
          <p:nvPr/>
        </p:nvSpPr>
        <p:spPr>
          <a:xfrm>
            <a:off x="9303791" y="2267712"/>
            <a:ext cx="2110664" cy="2011680"/>
          </a:xfrm>
          <a:prstGeom prst="rect">
            <a:avLst/>
          </a:prstGeom>
          <a:noFill/>
          <a:ln/>
        </p:spPr>
        <p:txBody>
          <a:bodyPr wrap="square" lIns="0" tIns="0" rIns="0" bIns="0" rtlCol="0" anchor="t"/>
          <a:lstStyle/>
          <a:p>
            <a:pPr indent="0" marL="0">
              <a:buNone/>
            </a:pPr>
            <a:r>
              <a:rPr lang="en-US" sz="1500" dirty="0">
                <a:solidFill>
                  <a:schemeClr val="tx1"/>
                </a:solidFill>
              </a:rPr>
              <a:t>Las herramientas cambian; los fundamentos permanecen.</a:t>
            </a:r>
            <a:endParaRPr lang="en-US" sz="15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RESUMEN DE LA PARTE I</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El mapa completo del desarrollo de software</a:t>
            </a:r>
            <a:endParaRPr lang="en-US" sz="3400" dirty="0"/>
          </a:p>
        </p:txBody>
      </p:sp>
      <p:graphicFrame>
        <p:nvGraphicFramePr>
          <p:cNvPr id="70" name="tabla-942"/>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377440"/>
                <a:gridCol w="8714232"/>
              </a:tblGrid>
              <a:tr h="512064">
                <a:tc>
                  <a:txBody>
                    <a:bodyPr/>
                    <a:lstStyle/>
                    <a:p>
                      <a:pPr indent="0" marL="0">
                        <a:buNone/>
                      </a:pPr>
                      <a:r>
                        <a:rPr lang="en-US" sz="1400" b="1" dirty="0">
                          <a:solidFill>
                            <a:schemeClr val="bg1"/>
                          </a:solidFill>
                        </a:rPr>
                        <a:t>Área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Incluye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tx1"/>
                          </a:solidFill>
                        </a:rPr>
                        <a:t>Negocio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Requisitos, historias de usuario, casos de uso, criterios de aceptación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Diseño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Arquitectura, patrones, SOLID, modelo de datos, diseño de API, ADR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Construcción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Clean code, Git, code review, análisis estático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Calidad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Pruebas unitarias, de integración y E2E, TDD, cobertura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Seguridad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OWASP, autenticación y autorización, secretos, dependencias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Entrega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CI/CD, Docker, ambientes, infraestructura como código, estrategias de despliegue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Operación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Logs, métricas, alertas, respaldos, escalabilidad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Personas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Metodología ágil, comunicación, documentación, ética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11094415" cy="411480"/>
          </a:xfrm>
          <a:prstGeom prst="rect">
            <a:avLst/>
          </a:prstGeom>
          <a:noFill/>
          <a:ln/>
        </p:spPr>
        <p:txBody>
          <a:bodyPr wrap="square" rtlCol="0"/>
          <a:lstStyle/>
          <a:p>
            <a:pPr indent="0" marL="0">
              <a:buNone/>
            </a:pPr>
            <a:r>
              <a:rPr lang="en-US" sz="1600" b="1" spc="200" kern="0" dirty="0">
                <a:solidFill>
                  <a:schemeClr val="accent1"/>
                </a:solidFill>
              </a:rPr>
              <a:t>PARTE II</a:t>
            </a:r>
            <a:endParaRPr lang="en-US" sz="1600" dirty="0"/>
          </a:p>
        </p:txBody>
      </p:sp>
      <p:sp>
        <p:nvSpPr>
          <p:cNvPr id="3" name="Text 0"/>
          <p:cNvSpPr/>
          <p:nvPr>
            <p:ph idx="101" type="title" hasCustomPrompt="1"/>
          </p:nvPr>
        </p:nvSpPr>
        <p:spPr>
          <a:xfrm>
            <a:off x="548640" y="1874520"/>
            <a:ext cx="8595360" cy="1737360"/>
          </a:xfrm>
          <a:prstGeom prst="rect">
            <a:avLst/>
          </a:prstGeom>
          <a:noFill/>
          <a:ln/>
        </p:spPr>
        <p:txBody>
          <a:bodyPr wrap="square" rtlCol="0" anchor="t"/>
          <a:lstStyle/>
          <a:p>
            <a:pPr algn="l" indent="0" marL="0">
              <a:buNone/>
            </a:pPr>
            <a:r>
              <a:rPr lang="en-US" sz="5400" b="1" dirty="0">
                <a:solidFill>
                  <a:schemeClr val="bg1"/>
                </a:solidFill>
              </a:rPr>
              <a:t>El proyecto Kanban</a:t>
            </a:r>
            <a:endParaRPr lang="en-US" sz="5400" dirty="0"/>
          </a:p>
        </p:txBody>
      </p:sp>
      <p:sp>
        <p:nvSpPr>
          <p:cNvPr id="4" name="Text 0"/>
          <p:cNvSpPr/>
          <p:nvPr>
            <p:ph idx="102" type="body" hasCustomPrompt="1"/>
          </p:nvPr>
        </p:nvSpPr>
        <p:spPr>
          <a:xfrm>
            <a:off x="548640" y="3749040"/>
            <a:ext cx="9601200" cy="1463040"/>
          </a:xfrm>
          <a:prstGeom prst="rect">
            <a:avLst/>
          </a:prstGeom>
          <a:noFill/>
          <a:ln/>
        </p:spPr>
        <p:txBody>
          <a:bodyPr wrap="square" rtlCol="0" anchor="t"/>
          <a:lstStyle/>
          <a:p>
            <a:pPr indent="0" marL="0">
              <a:buNone/>
            </a:pPr>
            <a:r>
              <a:rPr lang="en-US" sz="2200" dirty="0">
                <a:solidFill>
                  <a:srgbClr val="D6DEEA"/>
                </a:solidFill>
              </a:rPr>
              <a:t>Cada tema de la Parte I aplicado a un producto real:</a:t>
            </a:r>
            <a:endParaRPr lang="en-US" sz="2200" dirty="0"/>
          </a:p>
          <a:p>
            <a:pPr indent="0" marL="0">
              <a:buNone/>
            </a:pPr>
            <a:r>
              <a:rPr lang="en-US" sz="2200" dirty="0">
                <a:solidFill>
                  <a:srgbClr val="D6DEEA"/>
                </a:solidFill>
              </a:rPr>
              <a:t>un tablero de tareas con reglas de negocio, API REST, PostgreSQL y Angular</a:t>
            </a:r>
            <a:endParaRPr lang="en-US" sz="2200" dirty="0"/>
          </a:p>
        </p:txBody>
      </p:sp>
      <p:sp>
        <p:nvSpPr>
          <p:cNvPr id="5" name="motivo-943"/>
          <p:cNvSpPr/>
          <p:nvPr/>
        </p:nvSpPr>
        <p:spPr>
          <a:xfrm>
            <a:off x="9464040" y="548640"/>
            <a:ext cx="640080" cy="1737360"/>
          </a:xfrm>
          <a:prstGeom prst="roundRect">
            <a:avLst>
              <a:gd name="adj" fmla="val 11429"/>
            </a:avLst>
          </a:prstGeom>
          <a:solidFill>
            <a:schemeClr val="accent1"/>
          </a:solidFill>
          <a:ln/>
        </p:spPr>
      </p:sp>
      <p:sp>
        <p:nvSpPr>
          <p:cNvPr id="6" name="motivo-944"/>
          <p:cNvSpPr/>
          <p:nvPr/>
        </p:nvSpPr>
        <p:spPr>
          <a:xfrm>
            <a:off x="10241280" y="548640"/>
            <a:ext cx="640080" cy="1325880"/>
          </a:xfrm>
          <a:prstGeom prst="roundRect">
            <a:avLst>
              <a:gd name="adj" fmla="val 11429"/>
            </a:avLst>
          </a:prstGeom>
          <a:solidFill>
            <a:schemeClr val="accent2"/>
          </a:solidFill>
          <a:ln/>
        </p:spPr>
      </p:sp>
      <p:sp>
        <p:nvSpPr>
          <p:cNvPr id="7" name="motivo-945"/>
          <p:cNvSpPr/>
          <p:nvPr/>
        </p:nvSpPr>
        <p:spPr>
          <a:xfrm>
            <a:off x="11018520" y="548640"/>
            <a:ext cx="640080" cy="914400"/>
          </a:xfrm>
          <a:prstGeom prst="roundRect">
            <a:avLst>
              <a:gd name="adj" fmla="val 11429"/>
            </a:avLst>
          </a:prstGeom>
          <a:solidFill>
            <a:schemeClr val="accent3"/>
          </a:solidFill>
          <a:ln/>
        </p:spPr>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14</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El proyecto y sus reglas</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Qué problema resuelve el tablero, qué reglas impone y con qué tecnologías está construido.</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EL PROYECTO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El problema que resuelve el tablero</a:t>
            </a:r>
            <a:endParaRPr lang="en-US" sz="3400" dirty="0"/>
          </a:p>
        </p:txBody>
      </p:sp>
      <p:sp>
        <p:nvSpPr>
          <p:cNvPr id="5" name="tarjeta-946"/>
          <p:cNvSpPr/>
          <p:nvPr/>
        </p:nvSpPr>
        <p:spPr>
          <a:xfrm>
            <a:off x="548640" y="1481328"/>
            <a:ext cx="3515258" cy="2103120"/>
          </a:xfrm>
          <a:prstGeom prst="roundRect">
            <a:avLst>
              <a:gd name="adj" fmla="val 4348"/>
            </a:avLst>
          </a:prstGeom>
          <a:solidFill>
            <a:schemeClr val="bg2"/>
          </a:solidFill>
          <a:ln/>
        </p:spPr>
      </p:sp>
      <p:sp>
        <p:nvSpPr>
          <p:cNvPr id="6" name="circulo-947"/>
          <p:cNvSpPr/>
          <p:nvPr/>
        </p:nvSpPr>
        <p:spPr>
          <a:xfrm>
            <a:off x="749808" y="1682496"/>
            <a:ext cx="438912" cy="438912"/>
          </a:xfrm>
          <a:prstGeom prst="ellipse">
            <a:avLst/>
          </a:prstGeom>
          <a:solidFill>
            <a:schemeClr val="accent1"/>
          </a:solidFill>
          <a:ln/>
        </p:spPr>
      </p:sp>
      <p:sp>
        <p:nvSpPr>
          <p:cNvPr id="7" name="num-948"/>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949"/>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No se ve el avance</a:t>
            </a:r>
            <a:endParaRPr lang="en-US" sz="1700" dirty="0"/>
          </a:p>
        </p:txBody>
      </p:sp>
      <p:sp>
        <p:nvSpPr>
          <p:cNvPr id="9" name="desc-950"/>
          <p:cNvSpPr txBox="1"/>
          <p:nvPr/>
        </p:nvSpPr>
        <p:spPr>
          <a:xfrm>
            <a:off x="777240" y="2267712"/>
            <a:ext cx="3058058" cy="1188720"/>
          </a:xfrm>
          <a:prstGeom prst="rect">
            <a:avLst/>
          </a:prstGeom>
          <a:noFill/>
          <a:ln/>
        </p:spPr>
        <p:txBody>
          <a:bodyPr wrap="square" lIns="0" tIns="0" rIns="0" bIns="0" rtlCol="0" anchor="t"/>
          <a:lstStyle/>
          <a:p>
            <a:pPr indent="0" marL="0">
              <a:buNone/>
            </a:pPr>
            <a:r>
              <a:rPr lang="en-US" sz="1600" dirty="0">
                <a:solidFill>
                  <a:schemeClr val="tx1"/>
                </a:solidFill>
              </a:rPr>
              <a:t>Tareas en cuadernos y mensajes: no se sabe qué falta, qué se hace y qué terminó.</a:t>
            </a:r>
            <a:endParaRPr lang="en-US" sz="1600" dirty="0"/>
          </a:p>
        </p:txBody>
      </p:sp>
      <p:sp>
        <p:nvSpPr>
          <p:cNvPr id="10" name="tarjeta-951"/>
          <p:cNvSpPr/>
          <p:nvPr/>
        </p:nvSpPr>
        <p:spPr>
          <a:xfrm>
            <a:off x="4338218" y="1481328"/>
            <a:ext cx="3515258" cy="2103120"/>
          </a:xfrm>
          <a:prstGeom prst="roundRect">
            <a:avLst>
              <a:gd name="adj" fmla="val 4348"/>
            </a:avLst>
          </a:prstGeom>
          <a:solidFill>
            <a:schemeClr val="bg2"/>
          </a:solidFill>
          <a:ln/>
        </p:spPr>
      </p:sp>
      <p:sp>
        <p:nvSpPr>
          <p:cNvPr id="11" name="circulo-952"/>
          <p:cNvSpPr/>
          <p:nvPr/>
        </p:nvSpPr>
        <p:spPr>
          <a:xfrm>
            <a:off x="4539386" y="1682496"/>
            <a:ext cx="438912" cy="438912"/>
          </a:xfrm>
          <a:prstGeom prst="ellipse">
            <a:avLst/>
          </a:prstGeom>
          <a:solidFill>
            <a:schemeClr val="accent3"/>
          </a:solidFill>
          <a:ln/>
        </p:spPr>
      </p:sp>
      <p:sp>
        <p:nvSpPr>
          <p:cNvPr id="12" name="num-953"/>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954"/>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Demasiado en curso</a:t>
            </a:r>
            <a:endParaRPr lang="en-US" sz="1700" dirty="0"/>
          </a:p>
        </p:txBody>
      </p:sp>
      <p:sp>
        <p:nvSpPr>
          <p:cNvPr id="14" name="desc-955"/>
          <p:cNvSpPr txBox="1"/>
          <p:nvPr/>
        </p:nvSpPr>
        <p:spPr>
          <a:xfrm>
            <a:off x="4566818" y="2267712"/>
            <a:ext cx="3058058" cy="1188720"/>
          </a:xfrm>
          <a:prstGeom prst="rect">
            <a:avLst/>
          </a:prstGeom>
          <a:noFill/>
          <a:ln/>
        </p:spPr>
        <p:txBody>
          <a:bodyPr wrap="square" lIns="0" tIns="0" rIns="0" bIns="0" rtlCol="0" anchor="t"/>
          <a:lstStyle/>
          <a:p>
            <a:pPr indent="0" marL="0">
              <a:buNone/>
            </a:pPr>
            <a:r>
              <a:rPr lang="en-US" sz="1600" dirty="0">
                <a:solidFill>
                  <a:schemeClr val="tx1"/>
                </a:solidFill>
              </a:rPr>
              <a:t>Se empiezan muchas cosas a la vez y casi ninguna se termina.</a:t>
            </a:r>
            <a:endParaRPr lang="en-US" sz="1600" dirty="0"/>
          </a:p>
        </p:txBody>
      </p:sp>
      <p:sp>
        <p:nvSpPr>
          <p:cNvPr id="15" name="tarjeta-956"/>
          <p:cNvSpPr/>
          <p:nvPr/>
        </p:nvSpPr>
        <p:spPr>
          <a:xfrm>
            <a:off x="8127797" y="1481328"/>
            <a:ext cx="3515258" cy="2103120"/>
          </a:xfrm>
          <a:prstGeom prst="roundRect">
            <a:avLst>
              <a:gd name="adj" fmla="val 4348"/>
            </a:avLst>
          </a:prstGeom>
          <a:solidFill>
            <a:schemeClr val="bg2"/>
          </a:solidFill>
          <a:ln/>
        </p:spPr>
      </p:sp>
      <p:sp>
        <p:nvSpPr>
          <p:cNvPr id="16" name="circulo-957"/>
          <p:cNvSpPr/>
          <p:nvPr/>
        </p:nvSpPr>
        <p:spPr>
          <a:xfrm>
            <a:off x="8328965" y="1682496"/>
            <a:ext cx="438912" cy="438912"/>
          </a:xfrm>
          <a:prstGeom prst="ellipse">
            <a:avLst/>
          </a:prstGeom>
          <a:solidFill>
            <a:schemeClr val="accent4"/>
          </a:solidFill>
          <a:ln/>
        </p:spPr>
      </p:sp>
      <p:sp>
        <p:nvSpPr>
          <p:cNvPr id="17" name="num-958"/>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959"/>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Se pierde lo hecho</a:t>
            </a:r>
            <a:endParaRPr lang="en-US" sz="1700" dirty="0"/>
          </a:p>
        </p:txBody>
      </p:sp>
      <p:sp>
        <p:nvSpPr>
          <p:cNvPr id="19" name="desc-960"/>
          <p:cNvSpPr txBox="1"/>
          <p:nvPr/>
        </p:nvSpPr>
        <p:spPr>
          <a:xfrm>
            <a:off x="8356397" y="2267712"/>
            <a:ext cx="3058058" cy="1188720"/>
          </a:xfrm>
          <a:prstGeom prst="rect">
            <a:avLst/>
          </a:prstGeom>
          <a:noFill/>
          <a:ln/>
        </p:spPr>
        <p:txBody>
          <a:bodyPr wrap="square" lIns="0" tIns="0" rIns="0" bIns="0" rtlCol="0" anchor="t"/>
          <a:lstStyle/>
          <a:p>
            <a:pPr indent="0" marL="0">
              <a:buNone/>
            </a:pPr>
            <a:r>
              <a:rPr lang="en-US" sz="1600" dirty="0">
                <a:solidFill>
                  <a:schemeClr val="tx1"/>
                </a:solidFill>
              </a:rPr>
              <a:t>Tareas terminadas se modifican por error.</a:t>
            </a:r>
            <a:endParaRPr lang="en-US" sz="1600" dirty="0"/>
          </a:p>
        </p:txBody>
      </p:sp>
      <p:sp>
        <p:nvSpPr>
          <p:cNvPr id="20" name="caja-961"/>
          <p:cNvSpPr/>
          <p:nvPr/>
        </p:nvSpPr>
        <p:spPr>
          <a:xfrm>
            <a:off x="548640" y="3931920"/>
            <a:ext cx="3538728" cy="548640"/>
          </a:xfrm>
          <a:prstGeom prst="roundRect">
            <a:avLst>
              <a:gd name="adj" fmla="val 13333"/>
            </a:avLst>
          </a:prstGeom>
          <a:solidFill>
            <a:schemeClr val="accent4"/>
          </a:solidFill>
          <a:ln/>
        </p:spPr>
      </p:sp>
      <p:sp>
        <p:nvSpPr>
          <p:cNvPr id="21" name="caja-t-962"/>
          <p:cNvSpPr txBox="1"/>
          <p:nvPr/>
        </p:nvSpPr>
        <p:spPr>
          <a:xfrm>
            <a:off x="640080" y="3931920"/>
            <a:ext cx="3355848" cy="548640"/>
          </a:xfrm>
          <a:prstGeom prst="rect">
            <a:avLst/>
          </a:prstGeom>
          <a:noFill/>
          <a:ln/>
        </p:spPr>
        <p:txBody>
          <a:bodyPr wrap="square" lIns="0" tIns="0" rIns="0" bIns="0" rtlCol="0" anchor="ctr"/>
          <a:lstStyle/>
          <a:p>
            <a:pPr algn="ctr" indent="0" marL="0">
              <a:buNone/>
            </a:pPr>
            <a:r>
              <a:rPr lang="en-US" sz="1600" b="1" dirty="0">
                <a:solidFill>
                  <a:schemeClr val="bg1"/>
                </a:solidFill>
              </a:rPr>
              <a:t>Por hacer</a:t>
            </a:r>
            <a:endParaRPr lang="en-US" sz="1600" dirty="0"/>
          </a:p>
        </p:txBody>
      </p:sp>
      <p:sp>
        <p:nvSpPr>
          <p:cNvPr id="22" name="Shape 19"/>
          <p:cNvSpPr/>
          <p:nvPr/>
        </p:nvSpPr>
        <p:spPr>
          <a:xfrm>
            <a:off x="548640" y="4572000"/>
            <a:ext cx="3538728" cy="1371600"/>
          </a:xfrm>
          <a:prstGeom prst="roundRect">
            <a:avLst>
              <a:gd name="adj" fmla="val 5333"/>
            </a:avLst>
          </a:prstGeom>
          <a:solidFill>
            <a:schemeClr val="bg2"/>
          </a:solidFill>
          <a:ln/>
        </p:spPr>
      </p:sp>
      <p:sp>
        <p:nvSpPr>
          <p:cNvPr id="23" name="texto-963"/>
          <p:cNvSpPr txBox="1"/>
          <p:nvPr/>
        </p:nvSpPr>
        <p:spPr>
          <a:xfrm>
            <a:off x="777240" y="4709160"/>
            <a:ext cx="3108960" cy="1097280"/>
          </a:xfrm>
          <a:prstGeom prst="rect">
            <a:avLst/>
          </a:prstGeom>
          <a:noFill/>
          <a:ln/>
        </p:spPr>
        <p:txBody>
          <a:bodyPr wrap="square" lIns="0" tIns="0" rIns="0" bIns="0" rtlCol="0" anchor="ctr"/>
          <a:lstStyle/>
          <a:p>
            <a:pPr algn="ctr" indent="0" marL="0">
              <a:buNone/>
            </a:pPr>
            <a:r>
              <a:rPr lang="en-US" sz="1600" dirty="0">
                <a:solidFill>
                  <a:schemeClr val="tx1"/>
                </a:solidFill>
              </a:rPr>
              <a:t>Pendientes, aún sin iniciar</a:t>
            </a:r>
            <a:endParaRPr lang="en-US" sz="1600" dirty="0"/>
          </a:p>
        </p:txBody>
      </p:sp>
      <p:sp>
        <p:nvSpPr>
          <p:cNvPr id="24" name="caja-964"/>
          <p:cNvSpPr/>
          <p:nvPr/>
        </p:nvSpPr>
        <p:spPr>
          <a:xfrm>
            <a:off x="4325112" y="3931920"/>
            <a:ext cx="3538728" cy="548640"/>
          </a:xfrm>
          <a:prstGeom prst="roundRect">
            <a:avLst>
              <a:gd name="adj" fmla="val 13333"/>
            </a:avLst>
          </a:prstGeom>
          <a:solidFill>
            <a:schemeClr val="accent3"/>
          </a:solidFill>
          <a:ln/>
        </p:spPr>
      </p:sp>
      <p:sp>
        <p:nvSpPr>
          <p:cNvPr id="25" name="caja-t-965"/>
          <p:cNvSpPr txBox="1"/>
          <p:nvPr/>
        </p:nvSpPr>
        <p:spPr>
          <a:xfrm>
            <a:off x="4416552" y="3931920"/>
            <a:ext cx="3355848" cy="548640"/>
          </a:xfrm>
          <a:prstGeom prst="rect">
            <a:avLst/>
          </a:prstGeom>
          <a:noFill/>
          <a:ln/>
        </p:spPr>
        <p:txBody>
          <a:bodyPr wrap="square" lIns="0" tIns="0" rIns="0" bIns="0" rtlCol="0" anchor="ctr"/>
          <a:lstStyle/>
          <a:p>
            <a:pPr algn="ctr" indent="0" marL="0">
              <a:buNone/>
            </a:pPr>
            <a:r>
              <a:rPr lang="en-US" sz="1600" b="1" dirty="0">
                <a:solidFill>
                  <a:schemeClr val="bg1"/>
                </a:solidFill>
              </a:rPr>
              <a:t>En curso</a:t>
            </a:r>
            <a:endParaRPr lang="en-US" sz="1600" dirty="0"/>
          </a:p>
        </p:txBody>
      </p:sp>
      <p:sp>
        <p:nvSpPr>
          <p:cNvPr id="26" name="Shape 23"/>
          <p:cNvSpPr/>
          <p:nvPr/>
        </p:nvSpPr>
        <p:spPr>
          <a:xfrm>
            <a:off x="4325112" y="4572000"/>
            <a:ext cx="3538728" cy="1371600"/>
          </a:xfrm>
          <a:prstGeom prst="roundRect">
            <a:avLst>
              <a:gd name="adj" fmla="val 5333"/>
            </a:avLst>
          </a:prstGeom>
          <a:solidFill>
            <a:schemeClr val="bg2"/>
          </a:solidFill>
          <a:ln/>
        </p:spPr>
      </p:sp>
      <p:sp>
        <p:nvSpPr>
          <p:cNvPr id="27" name="texto-966"/>
          <p:cNvSpPr txBox="1"/>
          <p:nvPr/>
        </p:nvSpPr>
        <p:spPr>
          <a:xfrm>
            <a:off x="4553712" y="4709160"/>
            <a:ext cx="3108960" cy="1097280"/>
          </a:xfrm>
          <a:prstGeom prst="rect">
            <a:avLst/>
          </a:prstGeom>
          <a:noFill/>
          <a:ln/>
        </p:spPr>
        <p:txBody>
          <a:bodyPr wrap="square" lIns="0" tIns="0" rIns="0" bIns="0" rtlCol="0" anchor="ctr"/>
          <a:lstStyle/>
          <a:p>
            <a:pPr algn="ctr" indent="0" marL="0">
              <a:buNone/>
            </a:pPr>
            <a:r>
              <a:rPr lang="en-US" sz="1600" dirty="0">
                <a:solidFill>
                  <a:schemeClr val="tx1"/>
                </a:solidFill>
              </a:rPr>
              <a:t>Máximo 3 a la vez</a:t>
            </a:r>
            <a:endParaRPr lang="en-US" sz="1600" dirty="0"/>
          </a:p>
        </p:txBody>
      </p:sp>
      <p:sp>
        <p:nvSpPr>
          <p:cNvPr id="28" name="caja-967"/>
          <p:cNvSpPr/>
          <p:nvPr/>
        </p:nvSpPr>
        <p:spPr>
          <a:xfrm>
            <a:off x="8101584" y="3931920"/>
            <a:ext cx="3538728" cy="548640"/>
          </a:xfrm>
          <a:prstGeom prst="roundRect">
            <a:avLst>
              <a:gd name="adj" fmla="val 13333"/>
            </a:avLst>
          </a:prstGeom>
          <a:solidFill>
            <a:schemeClr val="accent2"/>
          </a:solidFill>
          <a:ln/>
        </p:spPr>
      </p:sp>
      <p:sp>
        <p:nvSpPr>
          <p:cNvPr id="29" name="caja-t-968"/>
          <p:cNvSpPr txBox="1"/>
          <p:nvPr/>
        </p:nvSpPr>
        <p:spPr>
          <a:xfrm>
            <a:off x="8193024" y="3931920"/>
            <a:ext cx="3355848" cy="548640"/>
          </a:xfrm>
          <a:prstGeom prst="rect">
            <a:avLst/>
          </a:prstGeom>
          <a:noFill/>
          <a:ln/>
        </p:spPr>
        <p:txBody>
          <a:bodyPr wrap="square" lIns="0" tIns="0" rIns="0" bIns="0" rtlCol="0" anchor="ctr"/>
          <a:lstStyle/>
          <a:p>
            <a:pPr algn="ctr" indent="0" marL="0">
              <a:buNone/>
            </a:pPr>
            <a:r>
              <a:rPr lang="en-US" sz="1600" b="1" dirty="0">
                <a:solidFill>
                  <a:schemeClr val="bg1"/>
                </a:solidFill>
              </a:rPr>
              <a:t>Hecha</a:t>
            </a:r>
            <a:endParaRPr lang="en-US" sz="1600" dirty="0"/>
          </a:p>
        </p:txBody>
      </p:sp>
      <p:sp>
        <p:nvSpPr>
          <p:cNvPr id="30" name="Shape 27"/>
          <p:cNvSpPr/>
          <p:nvPr/>
        </p:nvSpPr>
        <p:spPr>
          <a:xfrm>
            <a:off x="8101584" y="4572000"/>
            <a:ext cx="3538728" cy="1371600"/>
          </a:xfrm>
          <a:prstGeom prst="roundRect">
            <a:avLst>
              <a:gd name="adj" fmla="val 5333"/>
            </a:avLst>
          </a:prstGeom>
          <a:solidFill>
            <a:schemeClr val="bg2"/>
          </a:solidFill>
          <a:ln/>
        </p:spPr>
      </p:sp>
      <p:sp>
        <p:nvSpPr>
          <p:cNvPr id="31" name="texto-969"/>
          <p:cNvSpPr txBox="1"/>
          <p:nvPr/>
        </p:nvSpPr>
        <p:spPr>
          <a:xfrm>
            <a:off x="8330184" y="4709160"/>
            <a:ext cx="3108960" cy="1097280"/>
          </a:xfrm>
          <a:prstGeom prst="rect">
            <a:avLst/>
          </a:prstGeom>
          <a:noFill/>
          <a:ln/>
        </p:spPr>
        <p:txBody>
          <a:bodyPr wrap="square" lIns="0" tIns="0" rIns="0" bIns="0" rtlCol="0" anchor="ctr"/>
          <a:lstStyle/>
          <a:p>
            <a:pPr algn="ctr" indent="0" marL="0">
              <a:buNone/>
            </a:pPr>
            <a:r>
              <a:rPr lang="en-US" sz="1600" dirty="0">
                <a:solidFill>
                  <a:schemeClr val="tx1"/>
                </a:solidFill>
              </a:rPr>
              <a:t>Terminadas: no se editan</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EL PROYECTO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Estados y reglas de negocio</a:t>
            </a:r>
            <a:endParaRPr lang="en-US" sz="3400" dirty="0"/>
          </a:p>
        </p:txBody>
      </p:sp>
      <p:sp>
        <p:nvSpPr>
          <p:cNvPr id="5" name="caja-970"/>
          <p:cNvSpPr/>
          <p:nvPr/>
        </p:nvSpPr>
        <p:spPr>
          <a:xfrm>
            <a:off x="914400" y="1938528"/>
            <a:ext cx="2651760" cy="914400"/>
          </a:xfrm>
          <a:prstGeom prst="roundRect">
            <a:avLst>
              <a:gd name="adj" fmla="val 8000"/>
            </a:avLst>
          </a:prstGeom>
          <a:solidFill>
            <a:schemeClr val="accent4"/>
          </a:solidFill>
          <a:ln/>
        </p:spPr>
      </p:sp>
      <p:sp>
        <p:nvSpPr>
          <p:cNvPr id="6" name="caja-t-971"/>
          <p:cNvSpPr txBox="1"/>
          <p:nvPr/>
        </p:nvSpPr>
        <p:spPr>
          <a:xfrm>
            <a:off x="1005840" y="1938528"/>
            <a:ext cx="2468880" cy="914400"/>
          </a:xfrm>
          <a:prstGeom prst="rect">
            <a:avLst/>
          </a:prstGeom>
          <a:noFill/>
          <a:ln/>
        </p:spPr>
        <p:txBody>
          <a:bodyPr wrap="square" lIns="0" tIns="0" rIns="0" bIns="0" rtlCol="0" anchor="ctr"/>
          <a:lstStyle/>
          <a:p>
            <a:pPr algn="ctr" indent="0" marL="0">
              <a:buNone/>
            </a:pPr>
            <a:r>
              <a:rPr lang="en-US" sz="1800" b="1" dirty="0">
                <a:solidFill>
                  <a:schemeClr val="bg1"/>
                </a:solidFill>
              </a:rPr>
              <a:t>POR_HACER</a:t>
            </a:r>
            <a:endParaRPr lang="en-US" sz="1800" dirty="0"/>
          </a:p>
        </p:txBody>
      </p:sp>
      <p:sp>
        <p:nvSpPr>
          <p:cNvPr id="7" name="caja-972"/>
          <p:cNvSpPr/>
          <p:nvPr/>
        </p:nvSpPr>
        <p:spPr>
          <a:xfrm>
            <a:off x="4663440" y="1938528"/>
            <a:ext cx="2651760" cy="914400"/>
          </a:xfrm>
          <a:prstGeom prst="roundRect">
            <a:avLst>
              <a:gd name="adj" fmla="val 8000"/>
            </a:avLst>
          </a:prstGeom>
          <a:solidFill>
            <a:schemeClr val="accent3"/>
          </a:solidFill>
          <a:ln/>
        </p:spPr>
      </p:sp>
      <p:sp>
        <p:nvSpPr>
          <p:cNvPr id="8" name="caja-t-973"/>
          <p:cNvSpPr txBox="1"/>
          <p:nvPr/>
        </p:nvSpPr>
        <p:spPr>
          <a:xfrm>
            <a:off x="4754880" y="1938528"/>
            <a:ext cx="2468880" cy="914400"/>
          </a:xfrm>
          <a:prstGeom prst="rect">
            <a:avLst/>
          </a:prstGeom>
          <a:noFill/>
          <a:ln/>
        </p:spPr>
        <p:txBody>
          <a:bodyPr wrap="square" lIns="0" tIns="0" rIns="0" bIns="0" rtlCol="0" anchor="ctr"/>
          <a:lstStyle/>
          <a:p>
            <a:pPr algn="ctr" indent="0" marL="0">
              <a:buNone/>
            </a:pPr>
            <a:r>
              <a:rPr lang="en-US" sz="1800" b="1" dirty="0">
                <a:solidFill>
                  <a:schemeClr val="bg1"/>
                </a:solidFill>
              </a:rPr>
              <a:t>EN_CURSO</a:t>
            </a:r>
            <a:endParaRPr lang="en-US" sz="1800" dirty="0"/>
          </a:p>
        </p:txBody>
      </p:sp>
      <p:sp>
        <p:nvSpPr>
          <p:cNvPr id="9" name="caja-974"/>
          <p:cNvSpPr/>
          <p:nvPr/>
        </p:nvSpPr>
        <p:spPr>
          <a:xfrm>
            <a:off x="8412480" y="1938528"/>
            <a:ext cx="2651760" cy="914400"/>
          </a:xfrm>
          <a:prstGeom prst="roundRect">
            <a:avLst>
              <a:gd name="adj" fmla="val 8000"/>
            </a:avLst>
          </a:prstGeom>
          <a:solidFill>
            <a:schemeClr val="accent2"/>
          </a:solidFill>
          <a:ln/>
        </p:spPr>
      </p:sp>
      <p:sp>
        <p:nvSpPr>
          <p:cNvPr id="10" name="caja-t-975"/>
          <p:cNvSpPr txBox="1"/>
          <p:nvPr/>
        </p:nvSpPr>
        <p:spPr>
          <a:xfrm>
            <a:off x="8503920" y="1938528"/>
            <a:ext cx="2468880" cy="914400"/>
          </a:xfrm>
          <a:prstGeom prst="rect">
            <a:avLst/>
          </a:prstGeom>
          <a:noFill/>
          <a:ln/>
        </p:spPr>
        <p:txBody>
          <a:bodyPr wrap="square" lIns="0" tIns="0" rIns="0" bIns="0" rtlCol="0" anchor="ctr"/>
          <a:lstStyle/>
          <a:p>
            <a:pPr algn="ctr" indent="0" marL="0">
              <a:buNone/>
            </a:pPr>
            <a:r>
              <a:rPr lang="en-US" sz="1800" b="1" dirty="0">
                <a:solidFill>
                  <a:schemeClr val="bg1"/>
                </a:solidFill>
              </a:rPr>
              <a:t>HECHA</a:t>
            </a:r>
            <a:endParaRPr lang="en-US" sz="1800" dirty="0"/>
          </a:p>
        </p:txBody>
      </p:sp>
      <p:sp>
        <p:nvSpPr>
          <p:cNvPr id="11" name="linea-976"/>
          <p:cNvSpPr/>
          <p:nvPr/>
        </p:nvSpPr>
        <p:spPr>
          <a:xfrm>
            <a:off x="3611880" y="2231136"/>
            <a:ext cx="1005840" cy="0"/>
          </a:xfrm>
          <a:prstGeom prst="line">
            <a:avLst/>
          </a:prstGeom>
          <a:noFill/>
          <a:ln w="22225">
            <a:solidFill>
              <a:schemeClr val="accent5"/>
            </a:solidFill>
            <a:prstDash val="solid"/>
            <a:tailEnd type="triangle"/>
          </a:ln>
        </p:spPr>
      </p:sp>
      <p:sp>
        <p:nvSpPr>
          <p:cNvPr id="12" name="linea-977"/>
          <p:cNvSpPr/>
          <p:nvPr/>
        </p:nvSpPr>
        <p:spPr>
          <a:xfrm flipH="1">
            <a:off x="3611880" y="2560320"/>
            <a:ext cx="1005840" cy="0"/>
          </a:xfrm>
          <a:prstGeom prst="line">
            <a:avLst/>
          </a:prstGeom>
          <a:noFill/>
          <a:ln w="22225">
            <a:solidFill>
              <a:schemeClr val="accent5"/>
            </a:solidFill>
            <a:prstDash val="solid"/>
            <a:tailEnd type="triangle"/>
          </a:ln>
        </p:spPr>
      </p:sp>
      <p:sp>
        <p:nvSpPr>
          <p:cNvPr id="13" name="linea-978"/>
          <p:cNvSpPr/>
          <p:nvPr/>
        </p:nvSpPr>
        <p:spPr>
          <a:xfrm>
            <a:off x="7360920" y="2231136"/>
            <a:ext cx="1005840" cy="0"/>
          </a:xfrm>
          <a:prstGeom prst="line">
            <a:avLst/>
          </a:prstGeom>
          <a:noFill/>
          <a:ln w="22225">
            <a:solidFill>
              <a:schemeClr val="accent5"/>
            </a:solidFill>
            <a:prstDash val="solid"/>
            <a:tailEnd type="triangle"/>
          </a:ln>
        </p:spPr>
      </p:sp>
      <p:sp>
        <p:nvSpPr>
          <p:cNvPr id="14" name="linea-979"/>
          <p:cNvSpPr/>
          <p:nvPr/>
        </p:nvSpPr>
        <p:spPr>
          <a:xfrm flipH="1">
            <a:off x="7360920" y="2560320"/>
            <a:ext cx="1005840" cy="0"/>
          </a:xfrm>
          <a:prstGeom prst="line">
            <a:avLst/>
          </a:prstGeom>
          <a:noFill/>
          <a:ln w="22225">
            <a:solidFill>
              <a:schemeClr val="accent5"/>
            </a:solidFill>
            <a:prstDash val="solid"/>
            <a:tailEnd type="triangle"/>
          </a:ln>
        </p:spPr>
      </p:sp>
      <p:sp>
        <p:nvSpPr>
          <p:cNvPr id="15" name="etq-980"/>
          <p:cNvSpPr txBox="1"/>
          <p:nvPr/>
        </p:nvSpPr>
        <p:spPr>
          <a:xfrm>
            <a:off x="3474720" y="1755648"/>
            <a:ext cx="1280160" cy="274320"/>
          </a:xfrm>
          <a:prstGeom prst="rect">
            <a:avLst/>
          </a:prstGeom>
          <a:noFill/>
          <a:ln/>
        </p:spPr>
        <p:txBody>
          <a:bodyPr wrap="square" lIns="0" tIns="0" rIns="0" bIns="0" rtlCol="0" anchor="ctr"/>
          <a:lstStyle/>
          <a:p>
            <a:pPr algn="ctr" indent="0" marL="0">
              <a:buNone/>
            </a:pPr>
            <a:r>
              <a:rPr lang="en-US" sz="1200" b="1" dirty="0">
                <a:solidFill>
                  <a:schemeClr val="accent1"/>
                </a:solidFill>
              </a:rPr>
              <a:t>[hay cupo]</a:t>
            </a:r>
            <a:endParaRPr lang="en-US" sz="1200" dirty="0"/>
          </a:p>
        </p:txBody>
      </p:sp>
      <p:sp>
        <p:nvSpPr>
          <p:cNvPr id="16" name="etq-981"/>
          <p:cNvSpPr txBox="1"/>
          <p:nvPr/>
        </p:nvSpPr>
        <p:spPr>
          <a:xfrm>
            <a:off x="7223760" y="2670048"/>
            <a:ext cx="1280160" cy="274320"/>
          </a:xfrm>
          <a:prstGeom prst="rect">
            <a:avLst/>
          </a:prstGeom>
          <a:noFill/>
          <a:ln/>
        </p:spPr>
        <p:txBody>
          <a:bodyPr wrap="square" lIns="0" tIns="0" rIns="0" bIns="0" rtlCol="0" anchor="ctr"/>
          <a:lstStyle/>
          <a:p>
            <a:pPr algn="ctr" indent="0" marL="0">
              <a:buNone/>
            </a:pPr>
            <a:r>
              <a:rPr lang="en-US" sz="1200" b="1" dirty="0">
                <a:solidFill>
                  <a:schemeClr val="accent1"/>
                </a:solidFill>
              </a:rPr>
              <a:t>[hay cupo]</a:t>
            </a:r>
            <a:endParaRPr lang="en-US" sz="1200" dirty="0"/>
          </a:p>
        </p:txBody>
      </p:sp>
      <p:sp>
        <p:nvSpPr>
          <p:cNvPr id="17" name="etq-982"/>
          <p:cNvSpPr txBox="1"/>
          <p:nvPr/>
        </p:nvSpPr>
        <p:spPr>
          <a:xfrm>
            <a:off x="914400" y="2944368"/>
            <a:ext cx="2651760" cy="274320"/>
          </a:xfrm>
          <a:prstGeom prst="rect">
            <a:avLst/>
          </a:prstGeom>
          <a:noFill/>
          <a:ln/>
        </p:spPr>
        <p:txBody>
          <a:bodyPr wrap="square" lIns="0" tIns="0" rIns="0" bIns="0" rtlCol="0" anchor="ctr"/>
          <a:lstStyle/>
          <a:p>
            <a:pPr algn="ctr" indent="0" marL="0">
              <a:buNone/>
            </a:pPr>
            <a:r>
              <a:rPr lang="en-US" sz="1200" dirty="0">
                <a:solidFill>
                  <a:schemeClr val="accent5"/>
                </a:solidFill>
              </a:rPr>
              <a:t>crear → nace aquí</a:t>
            </a:r>
            <a:endParaRPr lang="en-US" sz="1200" dirty="0"/>
          </a:p>
        </p:txBody>
      </p:sp>
      <p:sp>
        <p:nvSpPr>
          <p:cNvPr id="18" name="tarjeta-983"/>
          <p:cNvSpPr/>
          <p:nvPr/>
        </p:nvSpPr>
        <p:spPr>
          <a:xfrm>
            <a:off x="548640" y="3657600"/>
            <a:ext cx="2567864" cy="2286000"/>
          </a:xfrm>
          <a:prstGeom prst="roundRect">
            <a:avLst>
              <a:gd name="adj" fmla="val 4000"/>
            </a:avLst>
          </a:prstGeom>
          <a:solidFill>
            <a:schemeClr val="bg2"/>
          </a:solidFill>
          <a:ln/>
        </p:spPr>
      </p:sp>
      <p:sp>
        <p:nvSpPr>
          <p:cNvPr id="19" name="circulo-984"/>
          <p:cNvSpPr/>
          <p:nvPr/>
        </p:nvSpPr>
        <p:spPr>
          <a:xfrm>
            <a:off x="749808" y="3858768"/>
            <a:ext cx="438912" cy="438912"/>
          </a:xfrm>
          <a:prstGeom prst="ellipse">
            <a:avLst/>
          </a:prstGeom>
          <a:solidFill>
            <a:schemeClr val="accent1"/>
          </a:solidFill>
          <a:ln/>
        </p:spPr>
      </p:sp>
      <p:sp>
        <p:nvSpPr>
          <p:cNvPr id="20" name="num-985"/>
          <p:cNvSpPr txBox="1"/>
          <p:nvPr/>
        </p:nvSpPr>
        <p:spPr>
          <a:xfrm>
            <a:off x="749808" y="385876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itulo-986"/>
          <p:cNvSpPr txBox="1"/>
          <p:nvPr/>
        </p:nvSpPr>
        <p:spPr>
          <a:xfrm>
            <a:off x="1325880" y="3840480"/>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Nace en POR_HACER</a:t>
            </a:r>
            <a:endParaRPr lang="en-US" sz="1700" dirty="0"/>
          </a:p>
        </p:txBody>
      </p:sp>
      <p:sp>
        <p:nvSpPr>
          <p:cNvPr id="22" name="desc-987"/>
          <p:cNvSpPr txBox="1"/>
          <p:nvPr/>
        </p:nvSpPr>
        <p:spPr>
          <a:xfrm>
            <a:off x="777240" y="4443984"/>
            <a:ext cx="2110664" cy="1371600"/>
          </a:xfrm>
          <a:prstGeom prst="rect">
            <a:avLst/>
          </a:prstGeom>
          <a:noFill/>
          <a:ln/>
        </p:spPr>
        <p:txBody>
          <a:bodyPr wrap="square" lIns="0" tIns="0" rIns="0" bIns="0" rtlCol="0" anchor="t"/>
          <a:lstStyle/>
          <a:p>
            <a:pPr indent="0" marL="0">
              <a:buNone/>
            </a:pPr>
            <a:r>
              <a:rPr lang="en-US" sz="1500" dirty="0">
                <a:solidFill>
                  <a:schemeClr val="tx1"/>
                </a:solidFill>
              </a:rPr>
              <a:t>El alta no acepta estado: lo fija el servidor.</a:t>
            </a:r>
            <a:endParaRPr lang="en-US" sz="1500" dirty="0"/>
          </a:p>
        </p:txBody>
      </p:sp>
      <p:sp>
        <p:nvSpPr>
          <p:cNvPr id="23" name="tarjeta-988"/>
          <p:cNvSpPr/>
          <p:nvPr/>
        </p:nvSpPr>
        <p:spPr>
          <a:xfrm>
            <a:off x="3390824" y="3657600"/>
            <a:ext cx="2567864" cy="2286000"/>
          </a:xfrm>
          <a:prstGeom prst="roundRect">
            <a:avLst>
              <a:gd name="adj" fmla="val 4000"/>
            </a:avLst>
          </a:prstGeom>
          <a:solidFill>
            <a:schemeClr val="bg2"/>
          </a:solidFill>
          <a:ln/>
        </p:spPr>
      </p:sp>
      <p:sp>
        <p:nvSpPr>
          <p:cNvPr id="24" name="circulo-989"/>
          <p:cNvSpPr/>
          <p:nvPr/>
        </p:nvSpPr>
        <p:spPr>
          <a:xfrm>
            <a:off x="3591992" y="3858768"/>
            <a:ext cx="438912" cy="438912"/>
          </a:xfrm>
          <a:prstGeom prst="ellipse">
            <a:avLst/>
          </a:prstGeom>
          <a:solidFill>
            <a:schemeClr val="accent3"/>
          </a:solidFill>
          <a:ln/>
        </p:spPr>
      </p:sp>
      <p:sp>
        <p:nvSpPr>
          <p:cNvPr id="25" name="num-990"/>
          <p:cNvSpPr txBox="1"/>
          <p:nvPr/>
        </p:nvSpPr>
        <p:spPr>
          <a:xfrm>
            <a:off x="3591992" y="385876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6" name="titulo-991"/>
          <p:cNvSpPr txBox="1"/>
          <p:nvPr/>
        </p:nvSpPr>
        <p:spPr>
          <a:xfrm>
            <a:off x="4168064" y="3840480"/>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Máximo 3 en curso</a:t>
            </a:r>
            <a:endParaRPr lang="en-US" sz="1700" dirty="0"/>
          </a:p>
        </p:txBody>
      </p:sp>
      <p:sp>
        <p:nvSpPr>
          <p:cNvPr id="27" name="desc-992"/>
          <p:cNvSpPr txBox="1"/>
          <p:nvPr/>
        </p:nvSpPr>
        <p:spPr>
          <a:xfrm>
            <a:off x="3619424" y="4443984"/>
            <a:ext cx="2110664" cy="1371600"/>
          </a:xfrm>
          <a:prstGeom prst="rect">
            <a:avLst/>
          </a:prstGeom>
          <a:noFill/>
          <a:ln/>
        </p:spPr>
        <p:txBody>
          <a:bodyPr wrap="square" lIns="0" tIns="0" rIns="0" bIns="0" rtlCol="0" anchor="t"/>
          <a:lstStyle/>
          <a:p>
            <a:pPr indent="0" marL="0">
              <a:buNone/>
            </a:pPr>
            <a:r>
              <a:rPr lang="en-US" sz="1500" dirty="0">
                <a:solidFill>
                  <a:schemeClr val="tx1"/>
                </a:solidFill>
              </a:rPr>
              <a:t>La cuarta entrada a EN_CURSO devuelve 409.</a:t>
            </a:r>
            <a:endParaRPr lang="en-US" sz="1500" dirty="0"/>
          </a:p>
        </p:txBody>
      </p:sp>
      <p:sp>
        <p:nvSpPr>
          <p:cNvPr id="28" name="tarjeta-993"/>
          <p:cNvSpPr/>
          <p:nvPr/>
        </p:nvSpPr>
        <p:spPr>
          <a:xfrm>
            <a:off x="6233008" y="3657600"/>
            <a:ext cx="2567864" cy="2286000"/>
          </a:xfrm>
          <a:prstGeom prst="roundRect">
            <a:avLst>
              <a:gd name="adj" fmla="val 4000"/>
            </a:avLst>
          </a:prstGeom>
          <a:solidFill>
            <a:schemeClr val="bg2"/>
          </a:solidFill>
          <a:ln/>
        </p:spPr>
      </p:sp>
      <p:sp>
        <p:nvSpPr>
          <p:cNvPr id="29" name="circulo-994"/>
          <p:cNvSpPr/>
          <p:nvPr/>
        </p:nvSpPr>
        <p:spPr>
          <a:xfrm>
            <a:off x="6434176" y="3858768"/>
            <a:ext cx="438912" cy="438912"/>
          </a:xfrm>
          <a:prstGeom prst="ellipse">
            <a:avLst/>
          </a:prstGeom>
          <a:solidFill>
            <a:schemeClr val="accent4"/>
          </a:solidFill>
          <a:ln/>
        </p:spPr>
      </p:sp>
      <p:sp>
        <p:nvSpPr>
          <p:cNvPr id="30" name="num-995"/>
          <p:cNvSpPr txBox="1"/>
          <p:nvPr/>
        </p:nvSpPr>
        <p:spPr>
          <a:xfrm>
            <a:off x="6434176" y="385876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1" name="titulo-996"/>
          <p:cNvSpPr txBox="1"/>
          <p:nvPr/>
        </p:nvSpPr>
        <p:spPr>
          <a:xfrm>
            <a:off x="7010248" y="3840480"/>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Un paso a la vez</a:t>
            </a:r>
            <a:endParaRPr lang="en-US" sz="1700" dirty="0"/>
          </a:p>
        </p:txBody>
      </p:sp>
      <p:sp>
        <p:nvSpPr>
          <p:cNvPr id="32" name="desc-997"/>
          <p:cNvSpPr txBox="1"/>
          <p:nvPr/>
        </p:nvSpPr>
        <p:spPr>
          <a:xfrm>
            <a:off x="6461608" y="4443984"/>
            <a:ext cx="2110664" cy="1371600"/>
          </a:xfrm>
          <a:prstGeom prst="rect">
            <a:avLst/>
          </a:prstGeom>
          <a:noFill/>
          <a:ln/>
        </p:spPr>
        <p:txBody>
          <a:bodyPr wrap="square" lIns="0" tIns="0" rIns="0" bIns="0" rtlCol="0" anchor="t"/>
          <a:lstStyle/>
          <a:p>
            <a:pPr indent="0" marL="0">
              <a:buNone/>
            </a:pPr>
            <a:r>
              <a:rPr lang="en-US" sz="1500" dirty="0">
                <a:solidFill>
                  <a:schemeClr val="tx1"/>
                </a:solidFill>
              </a:rPr>
              <a:t>Solo a la columna vecina; saltar devuelve 409.</a:t>
            </a:r>
            <a:endParaRPr lang="en-US" sz="1500" dirty="0"/>
          </a:p>
        </p:txBody>
      </p:sp>
      <p:sp>
        <p:nvSpPr>
          <p:cNvPr id="33" name="tarjeta-998"/>
          <p:cNvSpPr/>
          <p:nvPr/>
        </p:nvSpPr>
        <p:spPr>
          <a:xfrm>
            <a:off x="9075191" y="3657600"/>
            <a:ext cx="2567864" cy="2286000"/>
          </a:xfrm>
          <a:prstGeom prst="roundRect">
            <a:avLst>
              <a:gd name="adj" fmla="val 4000"/>
            </a:avLst>
          </a:prstGeom>
          <a:solidFill>
            <a:schemeClr val="bg2"/>
          </a:solidFill>
          <a:ln/>
        </p:spPr>
      </p:sp>
      <p:sp>
        <p:nvSpPr>
          <p:cNvPr id="34" name="circulo-999"/>
          <p:cNvSpPr/>
          <p:nvPr/>
        </p:nvSpPr>
        <p:spPr>
          <a:xfrm>
            <a:off x="9276359" y="3858768"/>
            <a:ext cx="438912" cy="438912"/>
          </a:xfrm>
          <a:prstGeom prst="ellipse">
            <a:avLst/>
          </a:prstGeom>
          <a:solidFill>
            <a:schemeClr val="accent2"/>
          </a:solidFill>
          <a:ln/>
        </p:spPr>
      </p:sp>
      <p:sp>
        <p:nvSpPr>
          <p:cNvPr id="35" name="num-1000"/>
          <p:cNvSpPr txBox="1"/>
          <p:nvPr/>
        </p:nvSpPr>
        <p:spPr>
          <a:xfrm>
            <a:off x="9276359" y="385876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6" name="titulo-1001"/>
          <p:cNvSpPr txBox="1"/>
          <p:nvPr/>
        </p:nvSpPr>
        <p:spPr>
          <a:xfrm>
            <a:off x="9852431" y="3840480"/>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HECHA no se edita</a:t>
            </a:r>
            <a:endParaRPr lang="en-US" sz="1700" dirty="0"/>
          </a:p>
        </p:txBody>
      </p:sp>
      <p:sp>
        <p:nvSpPr>
          <p:cNvPr id="37" name="desc-1002"/>
          <p:cNvSpPr txBox="1"/>
          <p:nvPr/>
        </p:nvSpPr>
        <p:spPr>
          <a:xfrm>
            <a:off x="9303791" y="4443984"/>
            <a:ext cx="2110664" cy="1371600"/>
          </a:xfrm>
          <a:prstGeom prst="rect">
            <a:avLst/>
          </a:prstGeom>
          <a:noFill/>
          <a:ln/>
        </p:spPr>
        <p:txBody>
          <a:bodyPr wrap="square" lIns="0" tIns="0" rIns="0" bIns="0" rtlCol="0" anchor="t"/>
          <a:lstStyle/>
          <a:p>
            <a:pPr indent="0" marL="0">
              <a:buNone/>
            </a:pPr>
            <a:r>
              <a:rPr lang="en-US" sz="1500" dirty="0">
                <a:solidFill>
                  <a:schemeClr val="tx1"/>
                </a:solidFill>
              </a:rPr>
              <a:t>Editar devuelve 409; primero se reabre.</a:t>
            </a:r>
            <a:endParaRPr lang="en-US" sz="15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EL PROYECTO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Arquitectura de contenedores (C4 nivel 2)</a:t>
            </a:r>
            <a:endParaRPr lang="en-US" sz="3400" dirty="0"/>
          </a:p>
        </p:txBody>
      </p:sp>
      <p:sp>
        <p:nvSpPr>
          <p:cNvPr id="5" name="Shape 2"/>
          <p:cNvSpPr/>
          <p:nvPr/>
        </p:nvSpPr>
        <p:spPr>
          <a:xfrm>
            <a:off x="548640" y="1938528"/>
            <a:ext cx="3017520" cy="2011680"/>
          </a:xfrm>
          <a:prstGeom prst="roundRect">
            <a:avLst>
              <a:gd name="adj" fmla="val 4545"/>
            </a:avLst>
          </a:prstGeom>
          <a:solidFill>
            <a:schemeClr val="accent4"/>
          </a:solidFill>
          <a:ln/>
        </p:spPr>
      </p:sp>
      <p:sp>
        <p:nvSpPr>
          <p:cNvPr id="6" name="texto-1003"/>
          <p:cNvSpPr txBox="1"/>
          <p:nvPr/>
        </p:nvSpPr>
        <p:spPr>
          <a:xfrm>
            <a:off x="685800" y="2121408"/>
            <a:ext cx="2743200" cy="1645920"/>
          </a:xfrm>
          <a:prstGeom prst="rect">
            <a:avLst/>
          </a:prstGeom>
          <a:noFill/>
          <a:ln/>
        </p:spPr>
        <p:txBody>
          <a:bodyPr wrap="square" lIns="0" tIns="0" rIns="0" bIns="0" rtlCol="0" anchor="ctr"/>
          <a:lstStyle/>
          <a:p>
            <a:pPr algn="ctr" indent="0" marL="0">
              <a:buNone/>
            </a:pPr>
            <a:r>
              <a:rPr lang="en-US" sz="2200" b="1" dirty="0">
                <a:solidFill>
                  <a:schemeClr val="bg1"/>
                </a:solidFill>
              </a:rPr>
              <a:t>Angular 21</a:t>
            </a:r>
            <a:endParaRPr lang="en-US" sz="1600" dirty="0"/>
          </a:p>
          <a:p>
            <a:pPr algn="ctr" indent="0" marL="0">
              <a:buNone/>
            </a:pPr>
            <a:r>
              <a:rPr lang="en-US" sz="1600" dirty="0">
                <a:solidFill>
                  <a:schemeClr val="bg1"/>
                </a:solidFill>
              </a:rPr>
              <a:t>Interfaz en el navegador</a:t>
            </a:r>
            <a:endParaRPr lang="en-US" sz="1600" dirty="0"/>
          </a:p>
          <a:p>
            <a:pPr algn="ctr" indent="0" marL="0">
              <a:buNone/>
            </a:pPr>
            <a:r>
              <a:rPr lang="en-US" sz="1500" i="1" dirty="0">
                <a:solidFill>
                  <a:schemeClr val="bg1"/>
                </a:solidFill>
              </a:rPr>
              <a:t>localhost:4200</a:t>
            </a:r>
            <a:endParaRPr lang="en-US" sz="1600" dirty="0"/>
          </a:p>
        </p:txBody>
      </p:sp>
      <p:sp>
        <p:nvSpPr>
          <p:cNvPr id="7" name="linea-1004"/>
          <p:cNvSpPr/>
          <p:nvPr/>
        </p:nvSpPr>
        <p:spPr>
          <a:xfrm>
            <a:off x="3639312" y="2944368"/>
            <a:ext cx="731520" cy="0"/>
          </a:xfrm>
          <a:prstGeom prst="line">
            <a:avLst/>
          </a:prstGeom>
          <a:noFill/>
          <a:ln w="22225">
            <a:solidFill>
              <a:schemeClr val="accent5"/>
            </a:solidFill>
            <a:prstDash val="solid"/>
            <a:tailEnd type="triangle"/>
          </a:ln>
        </p:spPr>
      </p:sp>
      <p:sp>
        <p:nvSpPr>
          <p:cNvPr id="8" name="etq-1005"/>
          <p:cNvSpPr txBox="1"/>
          <p:nvPr/>
        </p:nvSpPr>
        <p:spPr>
          <a:xfrm>
            <a:off x="3593592" y="2395728"/>
            <a:ext cx="822960" cy="502920"/>
          </a:xfrm>
          <a:prstGeom prst="rect">
            <a:avLst/>
          </a:prstGeom>
          <a:noFill/>
          <a:ln/>
        </p:spPr>
        <p:txBody>
          <a:bodyPr wrap="square" lIns="0" tIns="0" rIns="0" bIns="0" rtlCol="0" anchor="ctr"/>
          <a:lstStyle/>
          <a:p>
            <a:pPr algn="ctr" indent="0" marL="0">
              <a:buNone/>
            </a:pPr>
            <a:r>
              <a:rPr lang="en-US" sz="1100" dirty="0">
                <a:solidFill>
                  <a:schemeClr val="accent5"/>
                </a:solidFill>
              </a:rPr>
              <a:t>HTTP</a:t>
            </a:r>
            <a:endParaRPr lang="en-US" sz="1100" dirty="0"/>
          </a:p>
          <a:p>
            <a:pPr algn="ctr" indent="0" marL="0">
              <a:buNone/>
            </a:pPr>
            <a:r>
              <a:rPr lang="en-US" sz="1100" dirty="0">
                <a:solidFill>
                  <a:schemeClr val="accent5"/>
                </a:solidFill>
              </a:rPr>
              <a:t>JSON</a:t>
            </a:r>
            <a:endParaRPr lang="en-US" sz="1100" dirty="0"/>
          </a:p>
        </p:txBody>
      </p:sp>
      <p:sp>
        <p:nvSpPr>
          <p:cNvPr id="9" name="Shape 6"/>
          <p:cNvSpPr/>
          <p:nvPr/>
        </p:nvSpPr>
        <p:spPr>
          <a:xfrm>
            <a:off x="4434840" y="1938528"/>
            <a:ext cx="3017520" cy="2011680"/>
          </a:xfrm>
          <a:prstGeom prst="roundRect">
            <a:avLst>
              <a:gd name="adj" fmla="val 4545"/>
            </a:avLst>
          </a:prstGeom>
          <a:solidFill>
            <a:schemeClr val="tx2"/>
          </a:solidFill>
          <a:ln/>
        </p:spPr>
      </p:sp>
      <p:sp>
        <p:nvSpPr>
          <p:cNvPr id="10" name="texto-1006"/>
          <p:cNvSpPr txBox="1"/>
          <p:nvPr/>
        </p:nvSpPr>
        <p:spPr>
          <a:xfrm>
            <a:off x="4572000" y="2121408"/>
            <a:ext cx="2743200" cy="1645920"/>
          </a:xfrm>
          <a:prstGeom prst="rect">
            <a:avLst/>
          </a:prstGeom>
          <a:noFill/>
          <a:ln/>
        </p:spPr>
        <p:txBody>
          <a:bodyPr wrap="square" lIns="0" tIns="0" rIns="0" bIns="0" rtlCol="0" anchor="ctr"/>
          <a:lstStyle/>
          <a:p>
            <a:pPr algn="ctr" indent="0" marL="0">
              <a:buNone/>
            </a:pPr>
            <a:r>
              <a:rPr lang="en-US" sz="2200" b="1" dirty="0">
                <a:solidFill>
                  <a:schemeClr val="bg1"/>
                </a:solidFill>
              </a:rPr>
              <a:t>Spring Boot 3.5</a:t>
            </a:r>
            <a:endParaRPr lang="en-US" sz="1600" dirty="0"/>
          </a:p>
          <a:p>
            <a:pPr algn="ctr" indent="0" marL="0">
              <a:buNone/>
            </a:pPr>
            <a:r>
              <a:rPr lang="en-US" sz="1600" dirty="0">
                <a:solidFill>
                  <a:schemeClr val="bg1"/>
                </a:solidFill>
              </a:rPr>
              <a:t>API REST · Java 21</a:t>
            </a:r>
            <a:endParaRPr lang="en-US" sz="1600" dirty="0"/>
          </a:p>
          <a:p>
            <a:pPr algn="ctr" indent="0" marL="0">
              <a:buNone/>
            </a:pPr>
            <a:r>
              <a:rPr lang="en-US" sz="1500" i="1" dirty="0">
                <a:solidFill>
                  <a:schemeClr val="bg1"/>
                </a:solidFill>
              </a:rPr>
              <a:t>localhost:8083</a:t>
            </a:r>
            <a:endParaRPr lang="en-US" sz="1600" dirty="0"/>
          </a:p>
        </p:txBody>
      </p:sp>
      <p:sp>
        <p:nvSpPr>
          <p:cNvPr id="11" name="linea-1007"/>
          <p:cNvSpPr/>
          <p:nvPr/>
        </p:nvSpPr>
        <p:spPr>
          <a:xfrm>
            <a:off x="7525512" y="2944368"/>
            <a:ext cx="731520" cy="0"/>
          </a:xfrm>
          <a:prstGeom prst="line">
            <a:avLst/>
          </a:prstGeom>
          <a:noFill/>
          <a:ln w="22225">
            <a:solidFill>
              <a:schemeClr val="accent5"/>
            </a:solidFill>
            <a:prstDash val="solid"/>
            <a:tailEnd type="triangle"/>
          </a:ln>
        </p:spPr>
      </p:sp>
      <p:sp>
        <p:nvSpPr>
          <p:cNvPr id="12" name="etq-1008"/>
          <p:cNvSpPr txBox="1"/>
          <p:nvPr/>
        </p:nvSpPr>
        <p:spPr>
          <a:xfrm>
            <a:off x="7479792" y="2395728"/>
            <a:ext cx="822960" cy="502920"/>
          </a:xfrm>
          <a:prstGeom prst="rect">
            <a:avLst/>
          </a:prstGeom>
          <a:noFill/>
          <a:ln/>
        </p:spPr>
        <p:txBody>
          <a:bodyPr wrap="square" lIns="0" tIns="0" rIns="0" bIns="0" rtlCol="0" anchor="ctr"/>
          <a:lstStyle/>
          <a:p>
            <a:pPr algn="ctr" indent="0" marL="0">
              <a:buNone/>
            </a:pPr>
            <a:r>
              <a:rPr lang="en-US" sz="1100" dirty="0">
                <a:solidFill>
                  <a:schemeClr val="accent5"/>
                </a:solidFill>
              </a:rPr>
              <a:t>JDBC</a:t>
            </a:r>
            <a:endParaRPr lang="en-US" sz="1100" dirty="0"/>
          </a:p>
          <a:p>
            <a:pPr algn="ctr" indent="0" marL="0">
              <a:buNone/>
            </a:pPr>
            <a:r>
              <a:rPr lang="en-US" sz="1100" dirty="0">
                <a:solidFill>
                  <a:schemeClr val="accent5"/>
                </a:solidFill>
              </a:rPr>
              <a:t>SQL</a:t>
            </a:r>
            <a:endParaRPr lang="en-US" sz="1100" dirty="0"/>
          </a:p>
        </p:txBody>
      </p:sp>
      <p:sp>
        <p:nvSpPr>
          <p:cNvPr id="13" name="Shape 10"/>
          <p:cNvSpPr/>
          <p:nvPr/>
        </p:nvSpPr>
        <p:spPr>
          <a:xfrm>
            <a:off x="8321040" y="1938528"/>
            <a:ext cx="3017520" cy="2011680"/>
          </a:xfrm>
          <a:prstGeom prst="roundRect">
            <a:avLst>
              <a:gd name="adj" fmla="val 4545"/>
            </a:avLst>
          </a:prstGeom>
          <a:solidFill>
            <a:schemeClr val="accent1"/>
          </a:solidFill>
          <a:ln/>
        </p:spPr>
      </p:sp>
      <p:sp>
        <p:nvSpPr>
          <p:cNvPr id="14" name="texto-1009"/>
          <p:cNvSpPr txBox="1"/>
          <p:nvPr/>
        </p:nvSpPr>
        <p:spPr>
          <a:xfrm>
            <a:off x="8458200" y="2121408"/>
            <a:ext cx="2743200" cy="1645920"/>
          </a:xfrm>
          <a:prstGeom prst="rect">
            <a:avLst/>
          </a:prstGeom>
          <a:noFill/>
          <a:ln/>
        </p:spPr>
        <p:txBody>
          <a:bodyPr wrap="square" lIns="0" tIns="0" rIns="0" bIns="0" rtlCol="0" anchor="ctr"/>
          <a:lstStyle/>
          <a:p>
            <a:pPr algn="ctr" indent="0" marL="0">
              <a:buNone/>
            </a:pPr>
            <a:r>
              <a:rPr lang="en-US" sz="2200" b="1" dirty="0">
                <a:solidFill>
                  <a:schemeClr val="bg1"/>
                </a:solidFill>
              </a:rPr>
              <a:t>PostgreSQL 18</a:t>
            </a:r>
            <a:endParaRPr lang="en-US" sz="1600" dirty="0"/>
          </a:p>
          <a:p>
            <a:pPr algn="ctr" indent="0" marL="0">
              <a:buNone/>
            </a:pPr>
            <a:r>
              <a:rPr lang="en-US" sz="1600" dirty="0">
                <a:solidFill>
                  <a:schemeClr val="bg1"/>
                </a:solidFill>
              </a:rPr>
              <a:t>Base kanban_db</a:t>
            </a:r>
            <a:endParaRPr lang="en-US" sz="1600" dirty="0"/>
          </a:p>
          <a:p>
            <a:pPr algn="ctr" indent="0" marL="0">
              <a:buNone/>
            </a:pPr>
            <a:r>
              <a:rPr lang="en-US" sz="1500" i="1" dirty="0">
                <a:solidFill>
                  <a:schemeClr val="bg1"/>
                </a:solidFill>
              </a:rPr>
              <a:t>puerto 5432</a:t>
            </a:r>
            <a:endParaRPr lang="en-US" sz="1600" dirty="0"/>
          </a:p>
        </p:txBody>
      </p:sp>
      <p:sp>
        <p:nvSpPr>
          <p:cNvPr id="15" name="tarjeta-1010"/>
          <p:cNvSpPr/>
          <p:nvPr/>
        </p:nvSpPr>
        <p:spPr>
          <a:xfrm>
            <a:off x="548640" y="4160520"/>
            <a:ext cx="3515258" cy="1783080"/>
          </a:xfrm>
          <a:prstGeom prst="roundRect">
            <a:avLst>
              <a:gd name="adj" fmla="val 5128"/>
            </a:avLst>
          </a:prstGeom>
          <a:solidFill>
            <a:schemeClr val="bg2"/>
          </a:solidFill>
          <a:ln/>
        </p:spPr>
      </p:sp>
      <p:sp>
        <p:nvSpPr>
          <p:cNvPr id="16" name="circulo-1011"/>
          <p:cNvSpPr/>
          <p:nvPr/>
        </p:nvSpPr>
        <p:spPr>
          <a:xfrm>
            <a:off x="749808" y="4361688"/>
            <a:ext cx="438912" cy="438912"/>
          </a:xfrm>
          <a:prstGeom prst="ellipse">
            <a:avLst/>
          </a:prstGeom>
          <a:solidFill>
            <a:schemeClr val="accent1"/>
          </a:solidFill>
          <a:ln/>
        </p:spPr>
      </p:sp>
      <p:sp>
        <p:nvSpPr>
          <p:cNvPr id="17" name="num-1012"/>
          <p:cNvSpPr txBox="1"/>
          <p:nvPr/>
        </p:nvSpPr>
        <p:spPr>
          <a:xfrm>
            <a:off x="749808" y="436168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itulo-1013"/>
          <p:cNvSpPr txBox="1"/>
          <p:nvPr/>
        </p:nvSpPr>
        <p:spPr>
          <a:xfrm>
            <a:off x="1325880" y="4343400"/>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Proxy de desarrollo</a:t>
            </a:r>
            <a:endParaRPr lang="en-US" sz="1700" dirty="0"/>
          </a:p>
        </p:txBody>
      </p:sp>
      <p:sp>
        <p:nvSpPr>
          <p:cNvPr id="19" name="desc-1014"/>
          <p:cNvSpPr txBox="1"/>
          <p:nvPr/>
        </p:nvSpPr>
        <p:spPr>
          <a:xfrm>
            <a:off x="777240" y="4946904"/>
            <a:ext cx="3058058" cy="868680"/>
          </a:xfrm>
          <a:prstGeom prst="rect">
            <a:avLst/>
          </a:prstGeom>
          <a:noFill/>
          <a:ln/>
        </p:spPr>
        <p:txBody>
          <a:bodyPr wrap="square" lIns="0" tIns="0" rIns="0" bIns="0" rtlCol="0" anchor="t"/>
          <a:lstStyle/>
          <a:p>
            <a:pPr indent="0" marL="0">
              <a:buNone/>
            </a:pPr>
            <a:r>
              <a:rPr lang="en-US" sz="1600" dirty="0">
                <a:solidFill>
                  <a:schemeClr val="tx1"/>
                </a:solidFill>
              </a:rPr>
              <a:t>proxy.conf.json envía /api a 8083.</a:t>
            </a:r>
            <a:endParaRPr lang="en-US" sz="1600" dirty="0"/>
          </a:p>
        </p:txBody>
      </p:sp>
      <p:sp>
        <p:nvSpPr>
          <p:cNvPr id="20" name="tarjeta-1015"/>
          <p:cNvSpPr/>
          <p:nvPr/>
        </p:nvSpPr>
        <p:spPr>
          <a:xfrm>
            <a:off x="4338218" y="4160520"/>
            <a:ext cx="3515258" cy="1783080"/>
          </a:xfrm>
          <a:prstGeom prst="roundRect">
            <a:avLst>
              <a:gd name="adj" fmla="val 5128"/>
            </a:avLst>
          </a:prstGeom>
          <a:solidFill>
            <a:schemeClr val="bg2"/>
          </a:solidFill>
          <a:ln/>
        </p:spPr>
      </p:sp>
      <p:sp>
        <p:nvSpPr>
          <p:cNvPr id="21" name="circulo-1016"/>
          <p:cNvSpPr/>
          <p:nvPr/>
        </p:nvSpPr>
        <p:spPr>
          <a:xfrm>
            <a:off x="4539386" y="4361688"/>
            <a:ext cx="438912" cy="438912"/>
          </a:xfrm>
          <a:prstGeom prst="ellipse">
            <a:avLst/>
          </a:prstGeom>
          <a:solidFill>
            <a:schemeClr val="accent2"/>
          </a:solidFill>
          <a:ln/>
        </p:spPr>
      </p:sp>
      <p:sp>
        <p:nvSpPr>
          <p:cNvPr id="22" name="num-1017"/>
          <p:cNvSpPr txBox="1"/>
          <p:nvPr/>
        </p:nvSpPr>
        <p:spPr>
          <a:xfrm>
            <a:off x="4539386" y="436168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3" name="titulo-1018"/>
          <p:cNvSpPr txBox="1"/>
          <p:nvPr/>
        </p:nvSpPr>
        <p:spPr>
          <a:xfrm>
            <a:off x="5115458" y="4343400"/>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Configuración externa</a:t>
            </a:r>
            <a:endParaRPr lang="en-US" sz="1700" dirty="0"/>
          </a:p>
        </p:txBody>
      </p:sp>
      <p:sp>
        <p:nvSpPr>
          <p:cNvPr id="24" name="desc-1019"/>
          <p:cNvSpPr txBox="1"/>
          <p:nvPr/>
        </p:nvSpPr>
        <p:spPr>
          <a:xfrm>
            <a:off x="4566818" y="4946904"/>
            <a:ext cx="3058058" cy="868680"/>
          </a:xfrm>
          <a:prstGeom prst="rect">
            <a:avLst/>
          </a:prstGeom>
          <a:noFill/>
          <a:ln/>
        </p:spPr>
        <p:txBody>
          <a:bodyPr wrap="square" lIns="0" tIns="0" rIns="0" bIns="0" rtlCol="0" anchor="t"/>
          <a:lstStyle/>
          <a:p>
            <a:pPr indent="0" marL="0">
              <a:buNone/>
            </a:pPr>
            <a:r>
              <a:rPr lang="en-US" sz="1600" dirty="0">
                <a:solidFill>
                  <a:schemeClr val="tx1"/>
                </a:solidFill>
              </a:rPr>
              <a:t>DB_HOST, DB_USER, SERVER_PORT, CORS_ORIGINS…</a:t>
            </a:r>
            <a:endParaRPr lang="en-US" sz="1600" dirty="0"/>
          </a:p>
        </p:txBody>
      </p:sp>
      <p:sp>
        <p:nvSpPr>
          <p:cNvPr id="25" name="tarjeta-1020"/>
          <p:cNvSpPr/>
          <p:nvPr/>
        </p:nvSpPr>
        <p:spPr>
          <a:xfrm>
            <a:off x="8127797" y="4160520"/>
            <a:ext cx="3515258" cy="1783080"/>
          </a:xfrm>
          <a:prstGeom prst="roundRect">
            <a:avLst>
              <a:gd name="adj" fmla="val 5128"/>
            </a:avLst>
          </a:prstGeom>
          <a:solidFill>
            <a:schemeClr val="bg2"/>
          </a:solidFill>
          <a:ln/>
        </p:spPr>
      </p:sp>
      <p:sp>
        <p:nvSpPr>
          <p:cNvPr id="26" name="circulo-1021"/>
          <p:cNvSpPr/>
          <p:nvPr/>
        </p:nvSpPr>
        <p:spPr>
          <a:xfrm>
            <a:off x="8328965" y="4361688"/>
            <a:ext cx="438912" cy="438912"/>
          </a:xfrm>
          <a:prstGeom prst="ellipse">
            <a:avLst/>
          </a:prstGeom>
          <a:solidFill>
            <a:schemeClr val="accent3"/>
          </a:solidFill>
          <a:ln/>
        </p:spPr>
      </p:sp>
      <p:sp>
        <p:nvSpPr>
          <p:cNvPr id="27" name="num-1022"/>
          <p:cNvSpPr txBox="1"/>
          <p:nvPr/>
        </p:nvSpPr>
        <p:spPr>
          <a:xfrm>
            <a:off x="8328965" y="436168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8" name="titulo-1023"/>
          <p:cNvSpPr txBox="1"/>
          <p:nvPr/>
        </p:nvSpPr>
        <p:spPr>
          <a:xfrm>
            <a:off x="8905037" y="4343400"/>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Esquema con Flyway</a:t>
            </a:r>
            <a:endParaRPr lang="en-US" sz="1700" dirty="0"/>
          </a:p>
        </p:txBody>
      </p:sp>
      <p:sp>
        <p:nvSpPr>
          <p:cNvPr id="29" name="desc-1024"/>
          <p:cNvSpPr txBox="1"/>
          <p:nvPr/>
        </p:nvSpPr>
        <p:spPr>
          <a:xfrm>
            <a:off x="8356397" y="4946904"/>
            <a:ext cx="3058058" cy="868680"/>
          </a:xfrm>
          <a:prstGeom prst="rect">
            <a:avLst/>
          </a:prstGeom>
          <a:noFill/>
          <a:ln/>
        </p:spPr>
        <p:txBody>
          <a:bodyPr wrap="square" lIns="0" tIns="0" rIns="0" bIns="0" rtlCol="0" anchor="t"/>
          <a:lstStyle/>
          <a:p>
            <a:pPr indent="0" marL="0">
              <a:buNone/>
            </a:pPr>
            <a:r>
              <a:rPr lang="en-US" sz="1600" dirty="0">
                <a:solidFill>
                  <a:schemeClr val="tx1"/>
                </a:solidFill>
              </a:rPr>
              <a:t>Hibernate solo valida: ddl-auto: validate.</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EL PROYECTO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Estructura del repositorio</a:t>
            </a:r>
            <a:endParaRPr lang="en-US" sz="3400" dirty="0"/>
          </a:p>
        </p:txBody>
      </p:sp>
      <p:graphicFrame>
        <p:nvGraphicFramePr>
          <p:cNvPr id="76" name="tabla-1025"/>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926080"/>
                <a:gridCol w="8165592"/>
              </a:tblGrid>
              <a:tr h="640080">
                <a:tc>
                  <a:txBody>
                    <a:bodyPr/>
                    <a:lstStyle/>
                    <a:p>
                      <a:pPr indent="0" marL="0">
                        <a:buNone/>
                      </a:pPr>
                      <a:r>
                        <a:rPr lang="en-US" sz="1400" b="1" dirty="0">
                          <a:solidFill>
                            <a:schemeClr val="bg1"/>
                          </a:solidFill>
                        </a:rPr>
                        <a:t>Carpeta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Contenido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1"/>
                          </a:solidFill>
                        </a:rPr>
                        <a:t>kanban-backend/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Backend terminado: Spring Boot, 20 pruebas, Flyway V1 y V2</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kanban-backend-base/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Esqueleto en blanco con TODO por paquete, para que el alumno lo complete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kanban-frontend/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Angular 21: tablero con signals, arrastrar y soltar, 8 pruebas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docs/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Casos de uso, teoría, UML, base de datos, guías paso a paso y presentaciones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docs/_build/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Generador de las guías desde el código real (--check verifica que coinciden)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6" name="destacado-1026"/>
          <p:cNvSpPr/>
          <p:nvPr/>
        </p:nvSpPr>
        <p:spPr>
          <a:xfrm>
            <a:off x="548640" y="5532120"/>
            <a:ext cx="11094415" cy="566928"/>
          </a:xfrm>
          <a:prstGeom prst="roundRect">
            <a:avLst>
              <a:gd name="adj" fmla="val 12903"/>
            </a:avLst>
          </a:prstGeom>
          <a:solidFill>
            <a:schemeClr val="tx2"/>
          </a:solidFill>
          <a:ln/>
        </p:spPr>
      </p:sp>
      <p:sp>
        <p:nvSpPr>
          <p:cNvPr id="7" name="destacado-t-1027"/>
          <p:cNvSpPr txBox="1"/>
          <p:nvPr/>
        </p:nvSpPr>
        <p:spPr>
          <a:xfrm>
            <a:off x="822960" y="5532120"/>
            <a:ext cx="10545775" cy="566928"/>
          </a:xfrm>
          <a:prstGeom prst="rect">
            <a:avLst/>
          </a:prstGeom>
          <a:noFill/>
          <a:ln/>
        </p:spPr>
        <p:txBody>
          <a:bodyPr wrap="square" lIns="0" tIns="0" rIns="0" bIns="0" rtlCol="0" anchor="ctr"/>
          <a:lstStyle/>
          <a:p>
            <a:pPr indent="0" marL="0">
              <a:buNone/>
            </a:pPr>
            <a:r>
              <a:rPr lang="en-US" sz="1600" dirty="0">
                <a:solidFill>
                  <a:schemeClr val="bg1"/>
                </a:solidFill>
              </a:rPr>
              <a:t>Sin Lombok ni generadores de código: compila en Eclipse, IntelliJ y VS Code sin plugins.</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15</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Del requisito al código</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Casos de uso, historias, criterios de aceptación y trazabilidad aplicados al tablero.</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DEL REQUISITO AL CÓDIGO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Casos de uso que se vuelven endpoints</a:t>
            </a:r>
            <a:endParaRPr lang="en-US" sz="3400" dirty="0"/>
          </a:p>
        </p:txBody>
      </p:sp>
      <p:graphicFrame>
        <p:nvGraphicFramePr>
          <p:cNvPr id="78" name="tabla-1028"/>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743200"/>
                <a:gridCol w="3840480"/>
                <a:gridCol w="2560320"/>
                <a:gridCol w="1947672"/>
              </a:tblGrid>
              <a:tr h="594360">
                <a:tc>
                  <a:txBody>
                    <a:bodyPr/>
                    <a:lstStyle/>
                    <a:p>
                      <a:pPr indent="0" marL="0">
                        <a:buNone/>
                      </a:pPr>
                      <a:r>
                        <a:rPr lang="en-US" sz="1400" b="1" dirty="0">
                          <a:solidFill>
                            <a:schemeClr val="bg1"/>
                          </a:solidFill>
                        </a:rPr>
                        <a:t>Caso de uso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Endpoint</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Método del service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Éxito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94360">
                <a:tc>
                  <a:txBody>
                    <a:bodyPr/>
                    <a:lstStyle/>
                    <a:p>
                      <a:pPr indent="0" marL="0">
                        <a:buNone/>
                      </a:pPr>
                      <a:r>
                        <a:rPr lang="en-US" sz="1400" b="1" dirty="0">
                          <a:solidFill>
                            <a:schemeClr val="tx1"/>
                          </a:solidFill>
                        </a:rPr>
                        <a:t>CU-01 Ver tablero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GET /api/tareas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listar()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200</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94360">
                <a:tc>
                  <a:txBody>
                    <a:bodyPr/>
                    <a:lstStyle/>
                    <a:p>
                      <a:pPr indent="0" marL="0">
                        <a:buNone/>
                      </a:pPr>
                      <a:r>
                        <a:rPr lang="en-US" sz="1400" b="1" dirty="0">
                          <a:solidFill>
                            <a:schemeClr val="tx1"/>
                          </a:solidFill>
                        </a:rPr>
                        <a:t>CU-02 Crear tarea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POST /api/tareas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201 + Location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94360">
                <a:tc>
                  <a:txBody>
                    <a:bodyPr/>
                    <a:lstStyle/>
                    <a:p>
                      <a:pPr indent="0" marL="0">
                        <a:buNone/>
                      </a:pPr>
                      <a:r>
                        <a:rPr lang="en-US" sz="1400" b="1" dirty="0">
                          <a:solidFill>
                            <a:schemeClr val="tx1"/>
                          </a:solidFill>
                        </a:rPr>
                        <a:t>CU-03 Editar tarea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PUT /api/tareas/{id}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actualizar()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200</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94360">
                <a:tc>
                  <a:txBody>
                    <a:bodyPr/>
                    <a:lstStyle/>
                    <a:p>
                      <a:pPr indent="0" marL="0">
                        <a:buNone/>
                      </a:pPr>
                      <a:r>
                        <a:rPr lang="en-US" sz="1400" b="1" dirty="0">
                          <a:solidFill>
                            <a:schemeClr val="tx1"/>
                          </a:solidFill>
                        </a:rPr>
                        <a:t>CU-04 Mover tarea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PATCH /api/tareas/{id}/estado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mover()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200</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94360">
                <a:tc>
                  <a:txBody>
                    <a:bodyPr/>
                    <a:lstStyle/>
                    <a:p>
                      <a:pPr indent="0" marL="0">
                        <a:buNone/>
                      </a:pPr>
                      <a:r>
                        <a:rPr lang="en-US" sz="1400" b="1" dirty="0">
                          <a:solidFill>
                            <a:schemeClr val="tx1"/>
                          </a:solidFill>
                        </a:rPr>
                        <a:t>CU-05 Eliminar tarea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DELETE /api/tareas/{id}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eliminar()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204</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6" name="destacado-1029"/>
          <p:cNvSpPr/>
          <p:nvPr/>
        </p:nvSpPr>
        <p:spPr>
          <a:xfrm>
            <a:off x="548640" y="5212080"/>
            <a:ext cx="11094415" cy="566928"/>
          </a:xfrm>
          <a:prstGeom prst="roundRect">
            <a:avLst>
              <a:gd name="adj" fmla="val 12903"/>
            </a:avLst>
          </a:prstGeom>
          <a:solidFill>
            <a:schemeClr val="tx2"/>
          </a:solidFill>
          <a:ln/>
        </p:spPr>
      </p:sp>
      <p:sp>
        <p:nvSpPr>
          <p:cNvPr id="7" name="destacado-t-1030"/>
          <p:cNvSpPr txBox="1"/>
          <p:nvPr/>
        </p:nvSpPr>
        <p:spPr>
          <a:xfrm>
            <a:off x="822960" y="5212080"/>
            <a:ext cx="10545775" cy="566928"/>
          </a:xfrm>
          <a:prstGeom prst="rect">
            <a:avLst/>
          </a:prstGeom>
          <a:noFill/>
          <a:ln/>
        </p:spPr>
        <p:txBody>
          <a:bodyPr wrap="square" lIns="0" tIns="0" rIns="0" bIns="0" rtlCol="0" anchor="ctr"/>
          <a:lstStyle/>
          <a:p>
            <a:pPr indent="0" marL="0">
              <a:buNone/>
            </a:pPr>
            <a:r>
              <a:rPr lang="en-US" sz="1600" dirty="0">
                <a:solidFill>
                  <a:schemeClr val="bg1"/>
                </a:solidFill>
              </a:rPr>
              <a:t>Flujos alternativos: 400 datos inválidos · 404 no existe · 409 cupo lleno, salto de columna o tarea hecha</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DEL REQUISITO AL CÓDIGO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Historia y criterios del límite en curso</a:t>
            </a:r>
            <a:endParaRPr lang="en-US" sz="3400" dirty="0"/>
          </a:p>
        </p:txBody>
      </p:sp>
      <p:sp>
        <p:nvSpPr>
          <p:cNvPr id="5" name="caja-1031"/>
          <p:cNvSpPr/>
          <p:nvPr/>
        </p:nvSpPr>
        <p:spPr>
          <a:xfrm>
            <a:off x="548640" y="1481328"/>
            <a:ext cx="11094415" cy="822960"/>
          </a:xfrm>
          <a:prstGeom prst="roundRect">
            <a:avLst>
              <a:gd name="adj" fmla="val 8889"/>
            </a:avLst>
          </a:prstGeom>
          <a:solidFill>
            <a:schemeClr val="tx2"/>
          </a:solidFill>
          <a:ln/>
        </p:spPr>
      </p:sp>
      <p:sp>
        <p:nvSpPr>
          <p:cNvPr id="6" name="caja-t-1032"/>
          <p:cNvSpPr txBox="1"/>
          <p:nvPr/>
        </p:nvSpPr>
        <p:spPr>
          <a:xfrm>
            <a:off x="640080" y="1481328"/>
            <a:ext cx="10911535" cy="822960"/>
          </a:xfrm>
          <a:prstGeom prst="rect">
            <a:avLst/>
          </a:prstGeom>
          <a:noFill/>
          <a:ln/>
        </p:spPr>
        <p:txBody>
          <a:bodyPr wrap="square" lIns="0" tIns="0" rIns="0" bIns="0" rtlCol="0" anchor="ctr"/>
          <a:lstStyle/>
          <a:p>
            <a:pPr algn="ctr" indent="0" marL="0">
              <a:buNone/>
            </a:pPr>
            <a:r>
              <a:rPr lang="en-US" sz="2000" b="1" dirty="0">
                <a:solidFill>
                  <a:schemeClr val="bg1"/>
                </a:solidFill>
              </a:rPr>
              <a:t>Como estudiante, quiero iniciar una tarea, para reflejar en qué estoy trabajando.</a:t>
            </a:r>
            <a:endParaRPr lang="en-US" sz="2000" dirty="0"/>
          </a:p>
        </p:txBody>
      </p:sp>
      <p:graphicFrame>
        <p:nvGraphicFramePr>
          <p:cNvPr id="79" name="tabla-1033"/>
          <p:cNvGraphicFramePr>
            <a:graphicFrameLocks noGrp="1"/>
          </p:cNvGraphicFramePr>
          <p:nvPr>
            <p:extLst>
              <p:ext uri="{D42A27DB-BD31-4B8C-83A1-F6EECF244321}">
                <p14:modId xmlns:p14="http://schemas.microsoft.com/office/powerpoint/2010/main" val="1579011935"/>
              </p:ext>
            </p:extLst>
          </p:nvPr>
        </p:nvGraphicFramePr>
        <p:xfrm>
          <a:off x="548640" y="2606040"/>
          <a:ext cx="11094415" cy="914400"/>
        </p:xfrm>
        <a:graphic>
          <a:graphicData uri="http://schemas.openxmlformats.org/drawingml/2006/table">
            <a:tbl>
              <a:tblPr/>
              <a:tblGrid>
                <a:gridCol w="2194560"/>
                <a:gridCol w="2834640"/>
                <a:gridCol w="3108960"/>
                <a:gridCol w="2953512"/>
              </a:tblGrid>
              <a:tr h="685800">
                <a:tc>
                  <a:txBody>
                    <a:bodyPr/>
                    <a:lstStyle/>
                    <a:p>
                      <a:pPr indent="0" marL="0">
                        <a:buNone/>
                      </a:pPr>
                      <a:r>
                        <a:rPr lang="en-US" sz="1400" b="1" dirty="0">
                          <a:solidFill>
                            <a:schemeClr val="bg1"/>
                          </a:solidFill>
                        </a:rPr>
                        <a:t>Escenario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Cuando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Entonces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685800">
                <a:tc>
                  <a:txBody>
                    <a:bodyPr/>
                    <a:lstStyle/>
                    <a:p>
                      <a:pPr indent="0" marL="0">
                        <a:buNone/>
                      </a:pPr>
                      <a:r>
                        <a:rPr lang="en-US" sz="1400" b="1" dirty="0">
                          <a:solidFill>
                            <a:schemeClr val="tx1"/>
                          </a:solidFill>
                        </a:rPr>
                        <a:t>Cupo disponible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hay 2 tareas en curso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muevo una tarea de Por hacer a En curso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200: quedan 3 en curso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Cupo lleno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hay 3 tareas en curso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intento iniciar otra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409 y la tarea sigue en Por hacer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85800">
                <a:tc>
                  <a:txBody>
                    <a:bodyPr/>
                    <a:lstStyle/>
                    <a:p>
                      <a:pPr indent="0" marL="0">
                        <a:buNone/>
                      </a:pPr>
                      <a:r>
                        <a:rPr lang="en-US" sz="1400" b="1" dirty="0">
                          <a:solidFill>
                            <a:schemeClr val="tx1"/>
                          </a:solidFill>
                        </a:rPr>
                        <a:t>Salto de columna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una tarea está en Por hacer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 muevo directo a Hecha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409: solo una columna a la vez</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Reabrir sin cupo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una tarea está Hecha y hay 3 en curso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la vuelvo a En curso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409 por cupo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DEL REQUISITO AL CÓDIGO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Trazabilidad de la regla R-03</a:t>
            </a:r>
            <a:endParaRPr lang="en-US" sz="3400" dirty="0"/>
          </a:p>
        </p:txBody>
      </p:sp>
      <p:sp>
        <p:nvSpPr>
          <p:cNvPr id="5" name="paso-1034"/>
          <p:cNvSpPr/>
          <p:nvPr/>
        </p:nvSpPr>
        <p:spPr>
          <a:xfrm>
            <a:off x="548640" y="1847088"/>
            <a:ext cx="1911645" cy="822960"/>
          </a:xfrm>
          <a:prstGeom prst="roundRect">
            <a:avLst>
              <a:gd name="adj" fmla="val 11111"/>
            </a:avLst>
          </a:prstGeom>
          <a:solidFill>
            <a:schemeClr val="tx2"/>
          </a:solidFill>
          <a:ln/>
        </p:spPr>
      </p:sp>
      <p:sp>
        <p:nvSpPr>
          <p:cNvPr id="6" name="paso-t-1035"/>
          <p:cNvSpPr txBox="1"/>
          <p:nvPr/>
        </p:nvSpPr>
        <p:spPr>
          <a:xfrm>
            <a:off x="621792" y="184708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R-03</a:t>
            </a:r>
            <a:endParaRPr lang="en-US" sz="1600" dirty="0"/>
          </a:p>
        </p:txBody>
      </p:sp>
      <p:sp>
        <p:nvSpPr>
          <p:cNvPr id="7" name="flecha-1036"/>
          <p:cNvSpPr/>
          <p:nvPr/>
        </p:nvSpPr>
        <p:spPr>
          <a:xfrm>
            <a:off x="2524293" y="2139696"/>
            <a:ext cx="256032" cy="237744"/>
          </a:xfrm>
          <a:prstGeom prst="rightArrow">
            <a:avLst/>
          </a:prstGeom>
          <a:solidFill>
            <a:schemeClr val="accent5"/>
          </a:solidFill>
          <a:ln/>
        </p:spPr>
      </p:sp>
      <p:sp>
        <p:nvSpPr>
          <p:cNvPr id="8" name="paso-d-1037"/>
          <p:cNvSpPr txBox="1"/>
          <p:nvPr/>
        </p:nvSpPr>
        <p:spPr>
          <a:xfrm>
            <a:off x="548640" y="2852928"/>
            <a:ext cx="1911645" cy="1371600"/>
          </a:xfrm>
          <a:prstGeom prst="rect">
            <a:avLst/>
          </a:prstGeom>
          <a:noFill/>
          <a:ln/>
        </p:spPr>
        <p:txBody>
          <a:bodyPr wrap="square" lIns="0" tIns="0" rIns="0" bIns="0" rtlCol="0" anchor="t"/>
          <a:lstStyle/>
          <a:p>
            <a:pPr indent="0" marL="0">
              <a:buNone/>
            </a:pPr>
            <a:r>
              <a:rPr lang="en-US" sz="1500" dirty="0">
                <a:solidFill>
                  <a:schemeClr val="tx1"/>
                </a:solidFill>
              </a:rPr>
              <a:t>Máximo 3 tareas en curso</a:t>
            </a:r>
            <a:endParaRPr lang="en-US" sz="1500" dirty="0"/>
          </a:p>
        </p:txBody>
      </p:sp>
      <p:sp>
        <p:nvSpPr>
          <p:cNvPr id="9" name="paso-1038"/>
          <p:cNvSpPr/>
          <p:nvPr/>
        </p:nvSpPr>
        <p:spPr>
          <a:xfrm>
            <a:off x="2844333" y="1847088"/>
            <a:ext cx="1911645" cy="822960"/>
          </a:xfrm>
          <a:prstGeom prst="roundRect">
            <a:avLst>
              <a:gd name="adj" fmla="val 11111"/>
            </a:avLst>
          </a:prstGeom>
          <a:solidFill>
            <a:schemeClr val="tx2"/>
          </a:solidFill>
          <a:ln/>
        </p:spPr>
      </p:sp>
      <p:sp>
        <p:nvSpPr>
          <p:cNvPr id="10" name="paso-t-1039"/>
          <p:cNvSpPr txBox="1"/>
          <p:nvPr/>
        </p:nvSpPr>
        <p:spPr>
          <a:xfrm>
            <a:off x="2917485" y="184708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Criterio</a:t>
            </a:r>
            <a:endParaRPr lang="en-US" sz="1600" dirty="0"/>
          </a:p>
        </p:txBody>
      </p:sp>
      <p:sp>
        <p:nvSpPr>
          <p:cNvPr id="11" name="flecha-1040"/>
          <p:cNvSpPr/>
          <p:nvPr/>
        </p:nvSpPr>
        <p:spPr>
          <a:xfrm>
            <a:off x="4819985" y="2139696"/>
            <a:ext cx="256032" cy="237744"/>
          </a:xfrm>
          <a:prstGeom prst="rightArrow">
            <a:avLst/>
          </a:prstGeom>
          <a:solidFill>
            <a:schemeClr val="accent5"/>
          </a:solidFill>
          <a:ln/>
        </p:spPr>
      </p:sp>
      <p:sp>
        <p:nvSpPr>
          <p:cNvPr id="12" name="paso-d-1041"/>
          <p:cNvSpPr txBox="1"/>
          <p:nvPr/>
        </p:nvSpPr>
        <p:spPr>
          <a:xfrm>
            <a:off x="2844333" y="2852928"/>
            <a:ext cx="1911645" cy="1371600"/>
          </a:xfrm>
          <a:prstGeom prst="rect">
            <a:avLst/>
          </a:prstGeom>
          <a:noFill/>
          <a:ln/>
        </p:spPr>
        <p:txBody>
          <a:bodyPr wrap="square" lIns="0" tIns="0" rIns="0" bIns="0" rtlCol="0" anchor="t"/>
          <a:lstStyle/>
          <a:p>
            <a:pPr indent="0" marL="0">
              <a:buNone/>
            </a:pPr>
            <a:r>
              <a:rPr lang="en-US" sz="1500" dirty="0">
                <a:solidFill>
                  <a:schemeClr val="tx1"/>
                </a:solidFill>
              </a:rPr>
              <a:t>Con 3 en curso, la 4.ª devuelve 409 y no cambia</a:t>
            </a:r>
            <a:endParaRPr lang="en-US" sz="1500" dirty="0"/>
          </a:p>
        </p:txBody>
      </p:sp>
      <p:sp>
        <p:nvSpPr>
          <p:cNvPr id="13" name="paso-1042"/>
          <p:cNvSpPr/>
          <p:nvPr/>
        </p:nvSpPr>
        <p:spPr>
          <a:xfrm>
            <a:off x="5140025" y="1847088"/>
            <a:ext cx="1911645" cy="822960"/>
          </a:xfrm>
          <a:prstGeom prst="roundRect">
            <a:avLst>
              <a:gd name="adj" fmla="val 11111"/>
            </a:avLst>
          </a:prstGeom>
          <a:solidFill>
            <a:schemeClr val="tx2"/>
          </a:solidFill>
          <a:ln/>
        </p:spPr>
      </p:sp>
      <p:sp>
        <p:nvSpPr>
          <p:cNvPr id="14" name="paso-t-1043"/>
          <p:cNvSpPr txBox="1"/>
          <p:nvPr/>
        </p:nvSpPr>
        <p:spPr>
          <a:xfrm>
            <a:off x="5213177" y="184708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Modelo</a:t>
            </a:r>
            <a:endParaRPr lang="en-US" sz="1600" dirty="0"/>
          </a:p>
        </p:txBody>
      </p:sp>
      <p:sp>
        <p:nvSpPr>
          <p:cNvPr id="15" name="flecha-1044"/>
          <p:cNvSpPr/>
          <p:nvPr/>
        </p:nvSpPr>
        <p:spPr>
          <a:xfrm>
            <a:off x="7115678" y="2139696"/>
            <a:ext cx="256032" cy="237744"/>
          </a:xfrm>
          <a:prstGeom prst="rightArrow">
            <a:avLst/>
          </a:prstGeom>
          <a:solidFill>
            <a:schemeClr val="accent5"/>
          </a:solidFill>
          <a:ln/>
        </p:spPr>
      </p:sp>
      <p:sp>
        <p:nvSpPr>
          <p:cNvPr id="16" name="paso-d-1045"/>
          <p:cNvSpPr txBox="1"/>
          <p:nvPr/>
        </p:nvSpPr>
        <p:spPr>
          <a:xfrm>
            <a:off x="5140025" y="2852928"/>
            <a:ext cx="1911645" cy="1371600"/>
          </a:xfrm>
          <a:prstGeom prst="rect">
            <a:avLst/>
          </a:prstGeom>
          <a:noFill/>
          <a:ln/>
        </p:spPr>
        <p:txBody>
          <a:bodyPr wrap="square" lIns="0" tIns="0" rIns="0" bIns="0" rtlCol="0" anchor="t"/>
          <a:lstStyle/>
          <a:p>
            <a:pPr indent="0" marL="0">
              <a:buNone/>
            </a:pPr>
            <a:r>
              <a:rPr lang="en-US" sz="1500" dirty="0">
                <a:solidFill>
                  <a:schemeClr val="tx1"/>
                </a:solidFill>
              </a:rPr>
              <a:t>Transición con guarda [hay cupo]</a:t>
            </a:r>
            <a:endParaRPr lang="en-US" sz="1500" dirty="0"/>
          </a:p>
        </p:txBody>
      </p:sp>
      <p:sp>
        <p:nvSpPr>
          <p:cNvPr id="17" name="paso-1046"/>
          <p:cNvSpPr/>
          <p:nvPr/>
        </p:nvSpPr>
        <p:spPr>
          <a:xfrm>
            <a:off x="7435718" y="1847088"/>
            <a:ext cx="1911645" cy="822960"/>
          </a:xfrm>
          <a:prstGeom prst="roundRect">
            <a:avLst>
              <a:gd name="adj" fmla="val 11111"/>
            </a:avLst>
          </a:prstGeom>
          <a:solidFill>
            <a:schemeClr val="tx2"/>
          </a:solidFill>
          <a:ln/>
        </p:spPr>
      </p:sp>
      <p:sp>
        <p:nvSpPr>
          <p:cNvPr id="18" name="paso-t-1047"/>
          <p:cNvSpPr txBox="1"/>
          <p:nvPr/>
        </p:nvSpPr>
        <p:spPr>
          <a:xfrm>
            <a:off x="7508870" y="184708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Código</a:t>
            </a:r>
            <a:endParaRPr lang="en-US" sz="1600" dirty="0"/>
          </a:p>
        </p:txBody>
      </p:sp>
      <p:sp>
        <p:nvSpPr>
          <p:cNvPr id="19" name="flecha-1048"/>
          <p:cNvSpPr/>
          <p:nvPr/>
        </p:nvSpPr>
        <p:spPr>
          <a:xfrm>
            <a:off x="9411371" y="2139696"/>
            <a:ext cx="256032" cy="237744"/>
          </a:xfrm>
          <a:prstGeom prst="rightArrow">
            <a:avLst/>
          </a:prstGeom>
          <a:solidFill>
            <a:schemeClr val="accent5"/>
          </a:solidFill>
          <a:ln/>
        </p:spPr>
      </p:sp>
      <p:sp>
        <p:nvSpPr>
          <p:cNvPr id="20" name="paso-d-1049"/>
          <p:cNvSpPr txBox="1"/>
          <p:nvPr/>
        </p:nvSpPr>
        <p:spPr>
          <a:xfrm>
            <a:off x="7435718" y="2852928"/>
            <a:ext cx="1911645" cy="1371600"/>
          </a:xfrm>
          <a:prstGeom prst="rect">
            <a:avLst/>
          </a:prstGeom>
          <a:noFill/>
          <a:ln/>
        </p:spPr>
        <p:txBody>
          <a:bodyPr wrap="square" lIns="0" tIns="0" rIns="0" bIns="0" rtlCol="0" anchor="t"/>
          <a:lstStyle/>
          <a:p>
            <a:pPr indent="0" marL="0">
              <a:buNone/>
            </a:pPr>
            <a:r>
              <a:rPr lang="en-US" sz="1500" dirty="0">
                <a:solidFill>
                  <a:schemeClr val="tx1"/>
                </a:solidFill>
              </a:rPr>
              <a:t>TareaServiceImpl.mover + countByEstado</a:t>
            </a:r>
            <a:endParaRPr lang="en-US" sz="1500" dirty="0"/>
          </a:p>
        </p:txBody>
      </p:sp>
      <p:sp>
        <p:nvSpPr>
          <p:cNvPr id="21" name="paso-1050"/>
          <p:cNvSpPr/>
          <p:nvPr/>
        </p:nvSpPr>
        <p:spPr>
          <a:xfrm>
            <a:off x="9731411" y="1847088"/>
            <a:ext cx="1911645" cy="822960"/>
          </a:xfrm>
          <a:prstGeom prst="roundRect">
            <a:avLst>
              <a:gd name="adj" fmla="val 11111"/>
            </a:avLst>
          </a:prstGeom>
          <a:solidFill>
            <a:schemeClr val="accent1"/>
          </a:solidFill>
          <a:ln/>
        </p:spPr>
      </p:sp>
      <p:sp>
        <p:nvSpPr>
          <p:cNvPr id="22" name="paso-t-1051"/>
          <p:cNvSpPr txBox="1"/>
          <p:nvPr/>
        </p:nvSpPr>
        <p:spPr>
          <a:xfrm>
            <a:off x="9804563" y="184708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Prueba</a:t>
            </a:r>
            <a:endParaRPr lang="en-US" sz="1600" dirty="0"/>
          </a:p>
        </p:txBody>
      </p:sp>
      <p:sp>
        <p:nvSpPr>
          <p:cNvPr id="23" name="paso-d-1052"/>
          <p:cNvSpPr txBox="1"/>
          <p:nvPr/>
        </p:nvSpPr>
        <p:spPr>
          <a:xfrm>
            <a:off x="9731411" y="2852928"/>
            <a:ext cx="1911645" cy="1371600"/>
          </a:xfrm>
          <a:prstGeom prst="rect">
            <a:avLst/>
          </a:prstGeom>
          <a:noFill/>
          <a:ln/>
        </p:spPr>
        <p:txBody>
          <a:bodyPr wrap="square" lIns="0" tIns="0" rIns="0" bIns="0" rtlCol="0" anchor="t"/>
          <a:lstStyle/>
          <a:p>
            <a:pPr indent="0" marL="0">
              <a:buNone/>
            </a:pPr>
            <a:r>
              <a:rPr lang="en-US" sz="1500" dirty="0">
                <a:solidFill>
                  <a:schemeClr val="tx1"/>
                </a:solidFill>
              </a:rPr>
              <a:t>Test del service: rechaza la cuarta tarea y nunca llama a save</a:t>
            </a:r>
            <a:endParaRPr lang="en-US" sz="1500" dirty="0"/>
          </a:p>
        </p:txBody>
      </p:sp>
      <p:sp>
        <p:nvSpPr>
          <p:cNvPr id="24" name="destacado-1053"/>
          <p:cNvSpPr/>
          <p:nvPr/>
        </p:nvSpPr>
        <p:spPr>
          <a:xfrm>
            <a:off x="548640" y="4937760"/>
            <a:ext cx="11094415" cy="566928"/>
          </a:xfrm>
          <a:prstGeom prst="roundRect">
            <a:avLst>
              <a:gd name="adj" fmla="val 12903"/>
            </a:avLst>
          </a:prstGeom>
          <a:solidFill>
            <a:schemeClr val="accent1"/>
          </a:solidFill>
          <a:ln/>
        </p:spPr>
      </p:sp>
      <p:sp>
        <p:nvSpPr>
          <p:cNvPr id="25" name="destacado-t-1054"/>
          <p:cNvSpPr txBox="1"/>
          <p:nvPr/>
        </p:nvSpPr>
        <p:spPr>
          <a:xfrm>
            <a:off x="822960" y="4937760"/>
            <a:ext cx="10545775" cy="566928"/>
          </a:xfrm>
          <a:prstGeom prst="rect">
            <a:avLst/>
          </a:prstGeom>
          <a:noFill/>
          <a:ln/>
        </p:spPr>
        <p:txBody>
          <a:bodyPr wrap="square" lIns="0" tIns="0" rIns="0" bIns="0" rtlCol="0" anchor="ctr"/>
          <a:lstStyle/>
          <a:p>
            <a:pPr indent="0" marL="0">
              <a:buNone/>
            </a:pPr>
            <a:r>
              <a:rPr lang="en-US" sz="1600" dirty="0">
                <a:solidFill>
                  <a:schemeClr val="bg1"/>
                </a:solidFill>
              </a:rPr>
              <a:t>Pendiente: una prueba concurrente que demuestre la regla con dos solicitudes simultáneas.</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DEL REQUISITO AL CÓDIGO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Atributos de calidad del Kanban</a:t>
            </a:r>
            <a:endParaRPr lang="en-US" sz="3400" dirty="0"/>
          </a:p>
        </p:txBody>
      </p:sp>
      <p:graphicFrame>
        <p:nvGraphicFramePr>
          <p:cNvPr id="81" name="tabla-1055"/>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103120"/>
                <a:gridCol w="3931920"/>
                <a:gridCol w="3566160"/>
                <a:gridCol w="1490472"/>
              </a:tblGrid>
              <a:tr h="685800">
                <a:tc>
                  <a:txBody>
                    <a:bodyPr/>
                    <a:lstStyle/>
                    <a:p>
                      <a:pPr indent="0" marL="0">
                        <a:buNone/>
                      </a:pPr>
                      <a:r>
                        <a:rPr lang="en-US" sz="1400" b="1" dirty="0">
                          <a:solidFill>
                            <a:schemeClr val="bg1"/>
                          </a:solidFill>
                        </a:rPr>
                        <a:t>Atributo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Pregunta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Cómo comprobarlo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Hoy</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685800">
                <a:tc>
                  <a:txBody>
                    <a:bodyPr/>
                    <a:lstStyle/>
                    <a:p>
                      <a:pPr indent="0" marL="0">
                        <a:buNone/>
                      </a:pPr>
                      <a:r>
                        <a:rPr lang="en-US" sz="1400" b="1" dirty="0">
                          <a:solidFill>
                            <a:schemeClr val="tx1"/>
                          </a:solidFill>
                        </a:rPr>
                        <a:t>Integridad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 respeta el cupo con accesos simultáneos?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Prueba concurrente en PostgreSQL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Pendiente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Seguridad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¿Quién puede editar esta tarea?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Prueba de autorización por recurso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Sin login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85800">
                <a:tc>
                  <a:txBody>
                    <a:bodyPr/>
                    <a:lstStyle/>
                    <a:p>
                      <a:pPr indent="0" marL="0">
                        <a:buNone/>
                      </a:pPr>
                      <a:r>
                        <a:rPr lang="en-US" sz="1400" b="1" dirty="0">
                          <a:solidFill>
                            <a:schemeClr val="tx1"/>
                          </a:solidFill>
                        </a:rPr>
                        <a:t>Usabilidad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 ve el tablero sin scroll lateral?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Revisión a 1366, 1024, 800 y 375 px</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Verificado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Recuperación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¿Podemos restaurar los datos?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Ensayo de restauración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Pendiente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16</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Backend en capas</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Spring Boot con arquitectura por capas: controller, service, repository, entity, DTO, mapper y manejo de errores.</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BACKEND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Capas del backend</a:t>
            </a:r>
            <a:endParaRPr lang="en-US" sz="3400" dirty="0"/>
          </a:p>
        </p:txBody>
      </p:sp>
      <p:sp>
        <p:nvSpPr>
          <p:cNvPr id="5" name="caja-1056"/>
          <p:cNvSpPr/>
          <p:nvPr/>
        </p:nvSpPr>
        <p:spPr>
          <a:xfrm>
            <a:off x="548640" y="1481328"/>
            <a:ext cx="3474720" cy="868680"/>
          </a:xfrm>
          <a:prstGeom prst="roundRect">
            <a:avLst>
              <a:gd name="adj" fmla="val 8421"/>
            </a:avLst>
          </a:prstGeom>
          <a:solidFill>
            <a:schemeClr val="tx2"/>
          </a:solidFill>
          <a:ln/>
        </p:spPr>
      </p:sp>
      <p:sp>
        <p:nvSpPr>
          <p:cNvPr id="6" name="caja-t-1057"/>
          <p:cNvSpPr txBox="1"/>
          <p:nvPr/>
        </p:nvSpPr>
        <p:spPr>
          <a:xfrm>
            <a:off x="640080" y="1481328"/>
            <a:ext cx="3291840" cy="868680"/>
          </a:xfrm>
          <a:prstGeom prst="rect">
            <a:avLst/>
          </a:prstGeom>
          <a:noFill/>
          <a:ln/>
        </p:spPr>
        <p:txBody>
          <a:bodyPr wrap="square" lIns="0" tIns="0" rIns="0" bIns="0" rtlCol="0" anchor="ctr"/>
          <a:lstStyle/>
          <a:p>
            <a:pPr algn="ctr" indent="0" marL="0">
              <a:buNone/>
            </a:pPr>
            <a:r>
              <a:rPr lang="en-US" sz="1700" b="1" dirty="0">
                <a:solidFill>
                  <a:schemeClr val="bg1"/>
                </a:solidFill>
              </a:rPr>
              <a:t>TareaController</a:t>
            </a:r>
            <a:endParaRPr lang="en-US" sz="1700" dirty="0"/>
          </a:p>
        </p:txBody>
      </p:sp>
      <p:sp>
        <p:nvSpPr>
          <p:cNvPr id="7" name="texto-1058"/>
          <p:cNvSpPr txBox="1"/>
          <p:nvPr/>
        </p:nvSpPr>
        <p:spPr>
          <a:xfrm>
            <a:off x="4251960" y="1481328"/>
            <a:ext cx="3291840" cy="868680"/>
          </a:xfrm>
          <a:prstGeom prst="rect">
            <a:avLst/>
          </a:prstGeom>
          <a:noFill/>
          <a:ln/>
        </p:spPr>
        <p:txBody>
          <a:bodyPr wrap="square" lIns="0" tIns="0" rIns="0" bIns="0" rtlCol="0" anchor="ctr"/>
          <a:lstStyle/>
          <a:p>
            <a:pPr indent="0" marL="0">
              <a:buNone/>
            </a:pPr>
            <a:r>
              <a:rPr lang="en-US" sz="1600" dirty="0">
                <a:solidFill>
                  <a:schemeClr val="tx1"/>
                </a:solidFill>
              </a:rPr>
              <a:t>HTTP, validación @Valid y códigos de respuesta</a:t>
            </a:r>
            <a:endParaRPr lang="en-US" sz="1600" dirty="0"/>
          </a:p>
        </p:txBody>
      </p:sp>
      <p:sp>
        <p:nvSpPr>
          <p:cNvPr id="8" name="linea-1059"/>
          <p:cNvSpPr/>
          <p:nvPr/>
        </p:nvSpPr>
        <p:spPr>
          <a:xfrm>
            <a:off x="2286000" y="2368296"/>
            <a:ext cx="0" cy="210312"/>
          </a:xfrm>
          <a:prstGeom prst="line">
            <a:avLst/>
          </a:prstGeom>
          <a:noFill/>
          <a:ln w="22225">
            <a:solidFill>
              <a:schemeClr val="accent5"/>
            </a:solidFill>
            <a:prstDash val="solid"/>
            <a:tailEnd type="triangle"/>
          </a:ln>
        </p:spPr>
      </p:sp>
      <p:sp>
        <p:nvSpPr>
          <p:cNvPr id="9" name="caja-1060"/>
          <p:cNvSpPr/>
          <p:nvPr/>
        </p:nvSpPr>
        <p:spPr>
          <a:xfrm>
            <a:off x="548640" y="2596896"/>
            <a:ext cx="3474720" cy="868680"/>
          </a:xfrm>
          <a:prstGeom prst="roundRect">
            <a:avLst>
              <a:gd name="adj" fmla="val 8421"/>
            </a:avLst>
          </a:prstGeom>
          <a:solidFill>
            <a:schemeClr val="accent1"/>
          </a:solidFill>
          <a:ln/>
        </p:spPr>
      </p:sp>
      <p:sp>
        <p:nvSpPr>
          <p:cNvPr id="10" name="caja-t-1061"/>
          <p:cNvSpPr txBox="1"/>
          <p:nvPr/>
        </p:nvSpPr>
        <p:spPr>
          <a:xfrm>
            <a:off x="640080" y="2596896"/>
            <a:ext cx="3291840" cy="868680"/>
          </a:xfrm>
          <a:prstGeom prst="rect">
            <a:avLst/>
          </a:prstGeom>
          <a:noFill/>
          <a:ln/>
        </p:spPr>
        <p:txBody>
          <a:bodyPr wrap="square" lIns="0" tIns="0" rIns="0" bIns="0" rtlCol="0" anchor="ctr"/>
          <a:lstStyle/>
          <a:p>
            <a:pPr algn="ctr" indent="0" marL="0">
              <a:buNone/>
            </a:pPr>
            <a:r>
              <a:rPr lang="en-US" sz="1700" b="1" dirty="0">
                <a:solidFill>
                  <a:schemeClr val="bg1"/>
                </a:solidFill>
              </a:rPr>
              <a:t>TareaService / Impl</a:t>
            </a:r>
            <a:endParaRPr lang="en-US" sz="1700" dirty="0"/>
          </a:p>
        </p:txBody>
      </p:sp>
      <p:sp>
        <p:nvSpPr>
          <p:cNvPr id="11" name="texto-1062"/>
          <p:cNvSpPr txBox="1"/>
          <p:nvPr/>
        </p:nvSpPr>
        <p:spPr>
          <a:xfrm>
            <a:off x="4251960" y="2596896"/>
            <a:ext cx="3291840" cy="868680"/>
          </a:xfrm>
          <a:prstGeom prst="rect">
            <a:avLst/>
          </a:prstGeom>
          <a:noFill/>
          <a:ln/>
        </p:spPr>
        <p:txBody>
          <a:bodyPr wrap="square" lIns="0" tIns="0" rIns="0" bIns="0" rtlCol="0" anchor="ctr"/>
          <a:lstStyle/>
          <a:p>
            <a:pPr indent="0" marL="0">
              <a:buNone/>
            </a:pPr>
            <a:r>
              <a:rPr lang="en-US" sz="1600" dirty="0">
                <a:solidFill>
                  <a:schemeClr val="tx1"/>
                </a:solidFill>
              </a:rPr>
              <a:t>Reglas de negocio y transacciones</a:t>
            </a:r>
            <a:endParaRPr lang="en-US" sz="1600" dirty="0"/>
          </a:p>
        </p:txBody>
      </p:sp>
      <p:sp>
        <p:nvSpPr>
          <p:cNvPr id="12" name="linea-1063"/>
          <p:cNvSpPr/>
          <p:nvPr/>
        </p:nvSpPr>
        <p:spPr>
          <a:xfrm>
            <a:off x="2286000" y="3483864"/>
            <a:ext cx="0" cy="210312"/>
          </a:xfrm>
          <a:prstGeom prst="line">
            <a:avLst/>
          </a:prstGeom>
          <a:noFill/>
          <a:ln w="22225">
            <a:solidFill>
              <a:schemeClr val="accent5"/>
            </a:solidFill>
            <a:prstDash val="solid"/>
            <a:tailEnd type="triangle"/>
          </a:ln>
        </p:spPr>
      </p:sp>
      <p:sp>
        <p:nvSpPr>
          <p:cNvPr id="13" name="caja-1064"/>
          <p:cNvSpPr/>
          <p:nvPr/>
        </p:nvSpPr>
        <p:spPr>
          <a:xfrm>
            <a:off x="548640" y="3712464"/>
            <a:ext cx="3474720" cy="868680"/>
          </a:xfrm>
          <a:prstGeom prst="roundRect">
            <a:avLst>
              <a:gd name="adj" fmla="val 8421"/>
            </a:avLst>
          </a:prstGeom>
          <a:solidFill>
            <a:schemeClr val="accent4"/>
          </a:solidFill>
          <a:ln/>
        </p:spPr>
      </p:sp>
      <p:sp>
        <p:nvSpPr>
          <p:cNvPr id="14" name="caja-t-1065"/>
          <p:cNvSpPr txBox="1"/>
          <p:nvPr/>
        </p:nvSpPr>
        <p:spPr>
          <a:xfrm>
            <a:off x="640080" y="3712464"/>
            <a:ext cx="3291840" cy="868680"/>
          </a:xfrm>
          <a:prstGeom prst="rect">
            <a:avLst/>
          </a:prstGeom>
          <a:noFill/>
          <a:ln/>
        </p:spPr>
        <p:txBody>
          <a:bodyPr wrap="square" lIns="0" tIns="0" rIns="0" bIns="0" rtlCol="0" anchor="ctr"/>
          <a:lstStyle/>
          <a:p>
            <a:pPr algn="ctr" indent="0" marL="0">
              <a:buNone/>
            </a:pPr>
            <a:r>
              <a:rPr lang="en-US" sz="1700" b="1" dirty="0">
                <a:solidFill>
                  <a:schemeClr val="bg1"/>
                </a:solidFill>
              </a:rPr>
              <a:t>TareaRepository</a:t>
            </a:r>
            <a:endParaRPr lang="en-US" sz="1700" dirty="0"/>
          </a:p>
        </p:txBody>
      </p:sp>
      <p:sp>
        <p:nvSpPr>
          <p:cNvPr id="15" name="texto-1066"/>
          <p:cNvSpPr txBox="1"/>
          <p:nvPr/>
        </p:nvSpPr>
        <p:spPr>
          <a:xfrm>
            <a:off x="4251960" y="3712464"/>
            <a:ext cx="3291840" cy="868680"/>
          </a:xfrm>
          <a:prstGeom prst="rect">
            <a:avLst/>
          </a:prstGeom>
          <a:noFill/>
          <a:ln/>
        </p:spPr>
        <p:txBody>
          <a:bodyPr wrap="square" lIns="0" tIns="0" rIns="0" bIns="0" rtlCol="0" anchor="ctr"/>
          <a:lstStyle/>
          <a:p>
            <a:pPr indent="0" marL="0">
              <a:buNone/>
            </a:pPr>
            <a:r>
              <a:rPr lang="en-US" sz="1600" dirty="0">
                <a:solidFill>
                  <a:schemeClr val="tx1"/>
                </a:solidFill>
              </a:rPr>
              <a:t>Acceso a datos con Spring Data JPA</a:t>
            </a:r>
            <a:endParaRPr lang="en-US" sz="1600" dirty="0"/>
          </a:p>
        </p:txBody>
      </p:sp>
      <p:sp>
        <p:nvSpPr>
          <p:cNvPr id="16" name="linea-1067"/>
          <p:cNvSpPr/>
          <p:nvPr/>
        </p:nvSpPr>
        <p:spPr>
          <a:xfrm>
            <a:off x="2286000" y="4599432"/>
            <a:ext cx="0" cy="210312"/>
          </a:xfrm>
          <a:prstGeom prst="line">
            <a:avLst/>
          </a:prstGeom>
          <a:noFill/>
          <a:ln w="22225">
            <a:solidFill>
              <a:schemeClr val="accent5"/>
            </a:solidFill>
            <a:prstDash val="solid"/>
            <a:tailEnd type="triangle"/>
          </a:ln>
        </p:spPr>
      </p:sp>
      <p:sp>
        <p:nvSpPr>
          <p:cNvPr id="17" name="caja-1068"/>
          <p:cNvSpPr/>
          <p:nvPr/>
        </p:nvSpPr>
        <p:spPr>
          <a:xfrm>
            <a:off x="548640" y="4828032"/>
            <a:ext cx="3474720" cy="868680"/>
          </a:xfrm>
          <a:prstGeom prst="roundRect">
            <a:avLst>
              <a:gd name="adj" fmla="val 8421"/>
            </a:avLst>
          </a:prstGeom>
          <a:solidFill>
            <a:schemeClr val="accent5"/>
          </a:solidFill>
          <a:ln/>
        </p:spPr>
      </p:sp>
      <p:sp>
        <p:nvSpPr>
          <p:cNvPr id="18" name="caja-t-1069"/>
          <p:cNvSpPr txBox="1"/>
          <p:nvPr/>
        </p:nvSpPr>
        <p:spPr>
          <a:xfrm>
            <a:off x="640080" y="4828032"/>
            <a:ext cx="3291840" cy="868680"/>
          </a:xfrm>
          <a:prstGeom prst="rect">
            <a:avLst/>
          </a:prstGeom>
          <a:noFill/>
          <a:ln/>
        </p:spPr>
        <p:txBody>
          <a:bodyPr wrap="square" lIns="0" tIns="0" rIns="0" bIns="0" rtlCol="0" anchor="ctr"/>
          <a:lstStyle/>
          <a:p>
            <a:pPr algn="ctr" indent="0" marL="0">
              <a:buNone/>
            </a:pPr>
            <a:r>
              <a:rPr lang="en-US" sz="1700" b="1" dirty="0">
                <a:solidFill>
                  <a:schemeClr val="bg1"/>
                </a:solidFill>
              </a:rPr>
              <a:t>PostgreSQL</a:t>
            </a:r>
            <a:endParaRPr lang="en-US" sz="1700" dirty="0"/>
          </a:p>
        </p:txBody>
      </p:sp>
      <p:sp>
        <p:nvSpPr>
          <p:cNvPr id="19" name="texto-1070"/>
          <p:cNvSpPr txBox="1"/>
          <p:nvPr/>
        </p:nvSpPr>
        <p:spPr>
          <a:xfrm>
            <a:off x="4251960" y="4828032"/>
            <a:ext cx="3291840" cy="868680"/>
          </a:xfrm>
          <a:prstGeom prst="rect">
            <a:avLst/>
          </a:prstGeom>
          <a:noFill/>
          <a:ln/>
        </p:spPr>
        <p:txBody>
          <a:bodyPr wrap="square" lIns="0" tIns="0" rIns="0" bIns="0" rtlCol="0" anchor="ctr"/>
          <a:lstStyle/>
          <a:p>
            <a:pPr indent="0" marL="0">
              <a:buNone/>
            </a:pPr>
            <a:r>
              <a:rPr lang="en-US" sz="1600" dirty="0">
                <a:solidFill>
                  <a:schemeClr val="tx1"/>
                </a:solidFill>
              </a:rPr>
              <a:t>Tabla tarea, migrada por Flyway</a:t>
            </a:r>
            <a:endParaRPr lang="en-US" sz="1600" dirty="0"/>
          </a:p>
        </p:txBody>
      </p:sp>
      <p:sp>
        <p:nvSpPr>
          <p:cNvPr id="20" name="tarjeta-1071"/>
          <p:cNvSpPr/>
          <p:nvPr/>
        </p:nvSpPr>
        <p:spPr>
          <a:xfrm>
            <a:off x="7863840" y="1481328"/>
            <a:ext cx="3776472" cy="1325880"/>
          </a:xfrm>
          <a:prstGeom prst="roundRect">
            <a:avLst>
              <a:gd name="adj" fmla="val 6897"/>
            </a:avLst>
          </a:prstGeom>
          <a:solidFill>
            <a:schemeClr val="bg2"/>
          </a:solidFill>
          <a:ln/>
        </p:spPr>
      </p:sp>
      <p:sp>
        <p:nvSpPr>
          <p:cNvPr id="21" name="circulo-1072"/>
          <p:cNvSpPr/>
          <p:nvPr/>
        </p:nvSpPr>
        <p:spPr>
          <a:xfrm>
            <a:off x="8065008" y="1682496"/>
            <a:ext cx="438912" cy="438912"/>
          </a:xfrm>
          <a:prstGeom prst="ellipse">
            <a:avLst/>
          </a:prstGeom>
          <a:solidFill>
            <a:schemeClr val="accent1"/>
          </a:solidFill>
          <a:ln/>
        </p:spPr>
      </p:sp>
      <p:sp>
        <p:nvSpPr>
          <p:cNvPr id="22" name="num-1073"/>
          <p:cNvSpPr txBox="1"/>
          <p:nvPr/>
        </p:nvSpPr>
        <p:spPr>
          <a:xfrm>
            <a:off x="80650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3" name="titulo-1074"/>
          <p:cNvSpPr txBox="1"/>
          <p:nvPr/>
        </p:nvSpPr>
        <p:spPr>
          <a:xfrm>
            <a:off x="8641080" y="1664208"/>
            <a:ext cx="2816352" cy="475488"/>
          </a:xfrm>
          <a:prstGeom prst="rect">
            <a:avLst/>
          </a:prstGeom>
          <a:noFill/>
          <a:ln/>
        </p:spPr>
        <p:txBody>
          <a:bodyPr wrap="square" lIns="0" tIns="0" rIns="0" bIns="0" rtlCol="0" anchor="ctr">
            <a:normAutofit/>
          </a:bodyPr>
          <a:lstStyle/>
          <a:p>
            <a:pPr indent="0" marL="0">
              <a:buNone/>
            </a:pPr>
            <a:r>
              <a:rPr lang="en-US" sz="1600" b="1" dirty="0">
                <a:solidFill>
                  <a:schemeClr val="tx2"/>
                </a:solidFill>
              </a:rPr>
              <a:t>DTO (record)</a:t>
            </a:r>
            <a:endParaRPr lang="en-US" sz="1600" dirty="0"/>
          </a:p>
        </p:txBody>
      </p:sp>
      <p:sp>
        <p:nvSpPr>
          <p:cNvPr id="24" name="desc-1075"/>
          <p:cNvSpPr txBox="1"/>
          <p:nvPr/>
        </p:nvSpPr>
        <p:spPr>
          <a:xfrm>
            <a:off x="8092440" y="2267712"/>
            <a:ext cx="3319272" cy="411480"/>
          </a:xfrm>
          <a:prstGeom prst="rect">
            <a:avLst/>
          </a:prstGeom>
          <a:noFill/>
          <a:ln/>
        </p:spPr>
        <p:txBody>
          <a:bodyPr wrap="square" lIns="0" tIns="0" rIns="0" bIns="0" rtlCol="0" anchor="t"/>
          <a:lstStyle/>
          <a:p>
            <a:pPr indent="0" marL="0">
              <a:buNone/>
            </a:pPr>
            <a:r>
              <a:rPr lang="en-US" sz="1600" dirty="0">
                <a:solidFill>
                  <a:schemeClr val="tx1"/>
                </a:solidFill>
              </a:rPr>
              <a:t>Contrato HTTP de entrada y salida.</a:t>
            </a:r>
            <a:endParaRPr lang="en-US" sz="1600" dirty="0"/>
          </a:p>
        </p:txBody>
      </p:sp>
      <p:sp>
        <p:nvSpPr>
          <p:cNvPr id="25" name="tarjeta-1076"/>
          <p:cNvSpPr/>
          <p:nvPr/>
        </p:nvSpPr>
        <p:spPr>
          <a:xfrm>
            <a:off x="7863840" y="2990088"/>
            <a:ext cx="3776472" cy="1325880"/>
          </a:xfrm>
          <a:prstGeom prst="roundRect">
            <a:avLst>
              <a:gd name="adj" fmla="val 6897"/>
            </a:avLst>
          </a:prstGeom>
          <a:solidFill>
            <a:schemeClr val="bg2"/>
          </a:solidFill>
          <a:ln/>
        </p:spPr>
      </p:sp>
      <p:sp>
        <p:nvSpPr>
          <p:cNvPr id="26" name="circulo-1077"/>
          <p:cNvSpPr/>
          <p:nvPr/>
        </p:nvSpPr>
        <p:spPr>
          <a:xfrm>
            <a:off x="8065008" y="3191256"/>
            <a:ext cx="438912" cy="438912"/>
          </a:xfrm>
          <a:prstGeom prst="ellipse">
            <a:avLst/>
          </a:prstGeom>
          <a:solidFill>
            <a:schemeClr val="accent2"/>
          </a:solidFill>
          <a:ln/>
        </p:spPr>
      </p:sp>
      <p:sp>
        <p:nvSpPr>
          <p:cNvPr id="27" name="num-1078"/>
          <p:cNvSpPr txBox="1"/>
          <p:nvPr/>
        </p:nvSpPr>
        <p:spPr>
          <a:xfrm>
            <a:off x="8065008" y="319125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8" name="titulo-1079"/>
          <p:cNvSpPr txBox="1"/>
          <p:nvPr/>
        </p:nvSpPr>
        <p:spPr>
          <a:xfrm>
            <a:off x="8641080" y="3172968"/>
            <a:ext cx="2816352" cy="475488"/>
          </a:xfrm>
          <a:prstGeom prst="rect">
            <a:avLst/>
          </a:prstGeom>
          <a:noFill/>
          <a:ln/>
        </p:spPr>
        <p:txBody>
          <a:bodyPr wrap="square" lIns="0" tIns="0" rIns="0" bIns="0" rtlCol="0" anchor="ctr">
            <a:normAutofit/>
          </a:bodyPr>
          <a:lstStyle/>
          <a:p>
            <a:pPr indent="0" marL="0">
              <a:buNone/>
            </a:pPr>
            <a:r>
              <a:rPr lang="en-US" sz="1600" b="1" dirty="0">
                <a:solidFill>
                  <a:schemeClr val="tx2"/>
                </a:solidFill>
              </a:rPr>
              <a:t>TareaMapper</a:t>
            </a:r>
            <a:endParaRPr lang="en-US" sz="1600" dirty="0"/>
          </a:p>
        </p:txBody>
      </p:sp>
      <p:sp>
        <p:nvSpPr>
          <p:cNvPr id="29" name="desc-1080"/>
          <p:cNvSpPr txBox="1"/>
          <p:nvPr/>
        </p:nvSpPr>
        <p:spPr>
          <a:xfrm>
            <a:off x="8092440" y="3776472"/>
            <a:ext cx="3319272" cy="411480"/>
          </a:xfrm>
          <a:prstGeom prst="rect">
            <a:avLst/>
          </a:prstGeom>
          <a:noFill/>
          <a:ln/>
        </p:spPr>
        <p:txBody>
          <a:bodyPr wrap="square" lIns="0" tIns="0" rIns="0" bIns="0" rtlCol="0" anchor="t"/>
          <a:lstStyle/>
          <a:p>
            <a:pPr indent="0" marL="0">
              <a:buNone/>
            </a:pPr>
            <a:r>
              <a:rPr lang="en-US" sz="1600" dirty="0">
                <a:solidFill>
                  <a:schemeClr val="tx1"/>
                </a:solidFill>
              </a:rPr>
              <a:t>Convierte DTO ↔ Entity, a mano.</a:t>
            </a:r>
            <a:endParaRPr lang="en-US" sz="1600" dirty="0"/>
          </a:p>
        </p:txBody>
      </p:sp>
      <p:sp>
        <p:nvSpPr>
          <p:cNvPr id="30" name="tarjeta-1081"/>
          <p:cNvSpPr/>
          <p:nvPr/>
        </p:nvSpPr>
        <p:spPr>
          <a:xfrm>
            <a:off x="7863840" y="4498848"/>
            <a:ext cx="3776472" cy="1325880"/>
          </a:xfrm>
          <a:prstGeom prst="roundRect">
            <a:avLst>
              <a:gd name="adj" fmla="val 6897"/>
            </a:avLst>
          </a:prstGeom>
          <a:solidFill>
            <a:schemeClr val="bg2"/>
          </a:solidFill>
          <a:ln/>
        </p:spPr>
      </p:sp>
      <p:sp>
        <p:nvSpPr>
          <p:cNvPr id="31" name="circulo-1082"/>
          <p:cNvSpPr/>
          <p:nvPr/>
        </p:nvSpPr>
        <p:spPr>
          <a:xfrm>
            <a:off x="8065008" y="4700016"/>
            <a:ext cx="438912" cy="438912"/>
          </a:xfrm>
          <a:prstGeom prst="ellipse">
            <a:avLst/>
          </a:prstGeom>
          <a:solidFill>
            <a:schemeClr val="accent3"/>
          </a:solidFill>
          <a:ln/>
        </p:spPr>
      </p:sp>
      <p:sp>
        <p:nvSpPr>
          <p:cNvPr id="32" name="num-1083"/>
          <p:cNvSpPr txBox="1"/>
          <p:nvPr/>
        </p:nvSpPr>
        <p:spPr>
          <a:xfrm>
            <a:off x="8065008" y="470001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3" name="titulo-1084"/>
          <p:cNvSpPr txBox="1"/>
          <p:nvPr/>
        </p:nvSpPr>
        <p:spPr>
          <a:xfrm>
            <a:off x="8641080" y="4681728"/>
            <a:ext cx="2816352" cy="475488"/>
          </a:xfrm>
          <a:prstGeom prst="rect">
            <a:avLst/>
          </a:prstGeom>
          <a:noFill/>
          <a:ln/>
        </p:spPr>
        <p:txBody>
          <a:bodyPr wrap="square" lIns="0" tIns="0" rIns="0" bIns="0" rtlCol="0" anchor="ctr">
            <a:normAutofit/>
          </a:bodyPr>
          <a:lstStyle/>
          <a:p>
            <a:pPr indent="0" marL="0">
              <a:buNone/>
            </a:pPr>
            <a:r>
              <a:rPr lang="en-US" sz="1600" b="1" dirty="0">
                <a:solidFill>
                  <a:schemeClr val="tx2"/>
                </a:solidFill>
              </a:rPr>
              <a:t>GlobalExceptionHandler</a:t>
            </a:r>
            <a:endParaRPr lang="en-US" sz="1600" dirty="0"/>
          </a:p>
        </p:txBody>
      </p:sp>
      <p:sp>
        <p:nvSpPr>
          <p:cNvPr id="34" name="desc-1085"/>
          <p:cNvSpPr txBox="1"/>
          <p:nvPr/>
        </p:nvSpPr>
        <p:spPr>
          <a:xfrm>
            <a:off x="8092440" y="5285232"/>
            <a:ext cx="3319272" cy="411480"/>
          </a:xfrm>
          <a:prstGeom prst="rect">
            <a:avLst/>
          </a:prstGeom>
          <a:noFill/>
          <a:ln/>
        </p:spPr>
        <p:txBody>
          <a:bodyPr wrap="square" lIns="0" tIns="0" rIns="0" bIns="0" rtlCol="0" anchor="t"/>
          <a:lstStyle/>
          <a:p>
            <a:pPr indent="0" marL="0">
              <a:buNone/>
            </a:pPr>
            <a:r>
              <a:rPr lang="en-US" sz="1600" dirty="0">
                <a:solidFill>
                  <a:schemeClr val="tx1"/>
                </a:solidFill>
              </a:rPr>
              <a:t>Traduce excepciones a ApiError.</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BACKEND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Paquetes y responsabilidades</a:t>
            </a:r>
            <a:endParaRPr lang="en-US" sz="3400" dirty="0"/>
          </a:p>
        </p:txBody>
      </p:sp>
      <p:graphicFrame>
        <p:nvGraphicFramePr>
          <p:cNvPr id="84" name="tabla-1086"/>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743200"/>
                <a:gridCol w="5029200"/>
                <a:gridCol w="3319272"/>
              </a:tblGrid>
              <a:tr h="658368">
                <a:tc>
                  <a:txBody>
                    <a:bodyPr/>
                    <a:lstStyle/>
                    <a:p>
                      <a:pPr indent="0" marL="0">
                        <a:buNone/>
                      </a:pPr>
                      <a:r>
                        <a:rPr lang="en-US" sz="1400" b="1" dirty="0">
                          <a:solidFill>
                            <a:schemeClr val="bg1"/>
                          </a:solidFill>
                        </a:rPr>
                        <a:t>Paquete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Clases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Responsabilidad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tx1"/>
                          </a:solidFill>
                        </a:rPr>
                        <a:t>enums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EstadoTarea, PrioridadTarea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Valores cerrados del dominio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1"/>
                          </a:solidFill>
                        </a:rPr>
                        <a:t>entity</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Tarea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Mapeo a la tabla tarea (JPA)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1"/>
                          </a:solidFill>
                        </a:rPr>
                        <a:t>repository</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TareaRepository</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CRUD heredado + countByEstado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1"/>
                          </a:solidFill>
                        </a:rPr>
                        <a:t>dto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CrearTareaRequest, ActualizarTareaRequest, MoverTareaRequest, TareaResponse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Contrato HTTP con validaciones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1"/>
                          </a:solidFill>
                        </a:rPr>
                        <a:t>exception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 excepciones, ApiError, GlobalExceptionHandler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Errores con nombre y formato único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1"/>
                          </a:solidFill>
                        </a:rPr>
                        <a:t>mapper · service · config · controller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TareaMapper, TareaService(Impl), CorsConfig, SwaggerConfig, TareaController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Conversión, reglas, configuración y HTTP</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BACKEND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Validación de entrada frente a regla de negocio</a:t>
            </a:r>
            <a:endParaRPr lang="en-US" sz="3400" dirty="0"/>
          </a:p>
        </p:txBody>
      </p:sp>
      <p:graphicFrame>
        <p:nvGraphicFramePr>
          <p:cNvPr id="85" name="tabla-1087"/>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4206240"/>
                <a:gridCol w="3931920"/>
                <a:gridCol w="2953512"/>
              </a:tblGrid>
              <a:tr h="566928">
                <a:tc>
                  <a:txBody>
                    <a:bodyPr/>
                    <a:lstStyle/>
                    <a:p>
                      <a:pPr indent="0" marL="0">
                        <a:buNone/>
                      </a:pPr>
                      <a:r>
                        <a:rPr lang="en-US" sz="1400" b="1" dirty="0">
                          <a:solidFill>
                            <a:schemeClr val="bg1"/>
                          </a:solidFill>
                        </a:rPr>
                        <a:t>Situación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Quién la detecta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Respuesta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Título vacío o de más de 100 caracteres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DTO + @Valid en el controller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400 con detalles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Estado "ARCHIVADA" (no existe en el enum)</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Lectura del JSON (Jackson)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400 solicitud mal formada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Id inexistente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Service → handler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404</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Cupo lleno o salto de columna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Regla en el service → handler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409</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Editar una tarea HECHA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Regla en el service → handler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409</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Error inesperado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Handler genérico + log de error</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500 sin detalles internos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BACKEND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Mover una tarea: camino exitoso</a:t>
            </a:r>
            <a:endParaRPr lang="en-US" sz="3400" dirty="0"/>
          </a:p>
        </p:txBody>
      </p:sp>
      <p:sp>
        <p:nvSpPr>
          <p:cNvPr id="5" name="part-1088"/>
          <p:cNvSpPr/>
          <p:nvPr/>
        </p:nvSpPr>
        <p:spPr>
          <a:xfrm>
            <a:off x="548640" y="1481328"/>
            <a:ext cx="1999427" cy="502920"/>
          </a:xfrm>
          <a:prstGeom prst="roundRect">
            <a:avLst>
              <a:gd name="adj" fmla="val 14545"/>
            </a:avLst>
          </a:prstGeom>
          <a:solidFill>
            <a:schemeClr val="tx2"/>
          </a:solidFill>
          <a:ln/>
        </p:spPr>
      </p:sp>
      <p:sp>
        <p:nvSpPr>
          <p:cNvPr id="6" name="part-t-1089"/>
          <p:cNvSpPr txBox="1"/>
          <p:nvPr/>
        </p:nvSpPr>
        <p:spPr>
          <a:xfrm>
            <a:off x="548640" y="1481328"/>
            <a:ext cx="1999427" cy="502920"/>
          </a:xfrm>
          <a:prstGeom prst="rect">
            <a:avLst/>
          </a:prstGeom>
          <a:noFill/>
          <a:ln/>
        </p:spPr>
        <p:txBody>
          <a:bodyPr wrap="square" lIns="0" tIns="0" rIns="0" bIns="0" rtlCol="0" anchor="ctr"/>
          <a:lstStyle/>
          <a:p>
            <a:pPr algn="ctr" indent="0" marL="0">
              <a:buNone/>
            </a:pPr>
            <a:r>
              <a:rPr lang="en-US" sz="1400" b="1" dirty="0">
                <a:solidFill>
                  <a:schemeClr val="bg1"/>
                </a:solidFill>
              </a:rPr>
              <a:t>Angular</a:t>
            </a:r>
            <a:endParaRPr lang="en-US" sz="1400" dirty="0"/>
          </a:p>
        </p:txBody>
      </p:sp>
      <p:sp>
        <p:nvSpPr>
          <p:cNvPr id="7" name="vida-1090"/>
          <p:cNvSpPr/>
          <p:nvPr/>
        </p:nvSpPr>
        <p:spPr>
          <a:xfrm>
            <a:off x="1548354" y="1984248"/>
            <a:ext cx="0" cy="4187952"/>
          </a:xfrm>
          <a:prstGeom prst="line">
            <a:avLst/>
          </a:prstGeom>
          <a:noFill/>
          <a:ln w="12700">
            <a:solidFill>
              <a:srgbClr val="B8C1D1"/>
            </a:solidFill>
            <a:prstDash val="dash"/>
          </a:ln>
        </p:spPr>
      </p:sp>
      <p:sp>
        <p:nvSpPr>
          <p:cNvPr id="8" name="part-1091"/>
          <p:cNvSpPr/>
          <p:nvPr/>
        </p:nvSpPr>
        <p:spPr>
          <a:xfrm>
            <a:off x="2822387" y="1481328"/>
            <a:ext cx="1999427" cy="502920"/>
          </a:xfrm>
          <a:prstGeom prst="roundRect">
            <a:avLst>
              <a:gd name="adj" fmla="val 14545"/>
            </a:avLst>
          </a:prstGeom>
          <a:solidFill>
            <a:schemeClr val="tx2"/>
          </a:solidFill>
          <a:ln/>
        </p:spPr>
      </p:sp>
      <p:sp>
        <p:nvSpPr>
          <p:cNvPr id="9" name="part-t-1092"/>
          <p:cNvSpPr txBox="1"/>
          <p:nvPr/>
        </p:nvSpPr>
        <p:spPr>
          <a:xfrm>
            <a:off x="2822387" y="1481328"/>
            <a:ext cx="1999427" cy="502920"/>
          </a:xfrm>
          <a:prstGeom prst="rect">
            <a:avLst/>
          </a:prstGeom>
          <a:noFill/>
          <a:ln/>
        </p:spPr>
        <p:txBody>
          <a:bodyPr wrap="square" lIns="0" tIns="0" rIns="0" bIns="0" rtlCol="0" anchor="ctr"/>
          <a:lstStyle/>
          <a:p>
            <a:pPr algn="ctr" indent="0" marL="0">
              <a:buNone/>
            </a:pPr>
            <a:r>
              <a:rPr lang="en-US" sz="1400" b="1" dirty="0">
                <a:solidFill>
                  <a:schemeClr val="bg1"/>
                </a:solidFill>
              </a:rPr>
              <a:t>TareaController</a:t>
            </a:r>
            <a:endParaRPr lang="en-US" sz="1400" dirty="0"/>
          </a:p>
        </p:txBody>
      </p:sp>
      <p:sp>
        <p:nvSpPr>
          <p:cNvPr id="10" name="vida-1093"/>
          <p:cNvSpPr/>
          <p:nvPr/>
        </p:nvSpPr>
        <p:spPr>
          <a:xfrm>
            <a:off x="3822101" y="1984248"/>
            <a:ext cx="0" cy="4187952"/>
          </a:xfrm>
          <a:prstGeom prst="line">
            <a:avLst/>
          </a:prstGeom>
          <a:noFill/>
          <a:ln w="12700">
            <a:solidFill>
              <a:srgbClr val="B8C1D1"/>
            </a:solidFill>
            <a:prstDash val="dash"/>
          </a:ln>
        </p:spPr>
      </p:sp>
      <p:sp>
        <p:nvSpPr>
          <p:cNvPr id="11" name="part-1094"/>
          <p:cNvSpPr/>
          <p:nvPr/>
        </p:nvSpPr>
        <p:spPr>
          <a:xfrm>
            <a:off x="5096134" y="1481328"/>
            <a:ext cx="1999427" cy="502920"/>
          </a:xfrm>
          <a:prstGeom prst="roundRect">
            <a:avLst>
              <a:gd name="adj" fmla="val 14545"/>
            </a:avLst>
          </a:prstGeom>
          <a:solidFill>
            <a:schemeClr val="tx2"/>
          </a:solidFill>
          <a:ln/>
        </p:spPr>
      </p:sp>
      <p:sp>
        <p:nvSpPr>
          <p:cNvPr id="12" name="part-t-1095"/>
          <p:cNvSpPr txBox="1"/>
          <p:nvPr/>
        </p:nvSpPr>
        <p:spPr>
          <a:xfrm>
            <a:off x="5096134" y="1481328"/>
            <a:ext cx="1999427" cy="502920"/>
          </a:xfrm>
          <a:prstGeom prst="rect">
            <a:avLst/>
          </a:prstGeom>
          <a:noFill/>
          <a:ln/>
        </p:spPr>
        <p:txBody>
          <a:bodyPr wrap="square" lIns="0" tIns="0" rIns="0" bIns="0" rtlCol="0" anchor="ctr"/>
          <a:lstStyle/>
          <a:p>
            <a:pPr algn="ctr" indent="0" marL="0">
              <a:buNone/>
            </a:pPr>
            <a:r>
              <a:rPr lang="en-US" sz="1400" b="1" dirty="0">
                <a:solidFill>
                  <a:schemeClr val="bg1"/>
                </a:solidFill>
              </a:rPr>
              <a:t>TareaServiceImpl</a:t>
            </a:r>
            <a:endParaRPr lang="en-US" sz="1400" dirty="0"/>
          </a:p>
        </p:txBody>
      </p:sp>
      <p:sp>
        <p:nvSpPr>
          <p:cNvPr id="13" name="vida-1096"/>
          <p:cNvSpPr/>
          <p:nvPr/>
        </p:nvSpPr>
        <p:spPr>
          <a:xfrm>
            <a:off x="6095848" y="1984248"/>
            <a:ext cx="0" cy="4187952"/>
          </a:xfrm>
          <a:prstGeom prst="line">
            <a:avLst/>
          </a:prstGeom>
          <a:noFill/>
          <a:ln w="12700">
            <a:solidFill>
              <a:srgbClr val="B8C1D1"/>
            </a:solidFill>
            <a:prstDash val="dash"/>
          </a:ln>
        </p:spPr>
      </p:sp>
      <p:sp>
        <p:nvSpPr>
          <p:cNvPr id="14" name="part-1097"/>
          <p:cNvSpPr/>
          <p:nvPr/>
        </p:nvSpPr>
        <p:spPr>
          <a:xfrm>
            <a:off x="7369881" y="1481328"/>
            <a:ext cx="1999427" cy="502920"/>
          </a:xfrm>
          <a:prstGeom prst="roundRect">
            <a:avLst>
              <a:gd name="adj" fmla="val 14545"/>
            </a:avLst>
          </a:prstGeom>
          <a:solidFill>
            <a:schemeClr val="tx2"/>
          </a:solidFill>
          <a:ln/>
        </p:spPr>
      </p:sp>
      <p:sp>
        <p:nvSpPr>
          <p:cNvPr id="15" name="part-t-1098"/>
          <p:cNvSpPr txBox="1"/>
          <p:nvPr/>
        </p:nvSpPr>
        <p:spPr>
          <a:xfrm>
            <a:off x="7369881" y="1481328"/>
            <a:ext cx="1999427" cy="502920"/>
          </a:xfrm>
          <a:prstGeom prst="rect">
            <a:avLst/>
          </a:prstGeom>
          <a:noFill/>
          <a:ln/>
        </p:spPr>
        <p:txBody>
          <a:bodyPr wrap="square" lIns="0" tIns="0" rIns="0" bIns="0" rtlCol="0" anchor="ctr"/>
          <a:lstStyle/>
          <a:p>
            <a:pPr algn="ctr" indent="0" marL="0">
              <a:buNone/>
            </a:pPr>
            <a:r>
              <a:rPr lang="en-US" sz="1400" b="1" dirty="0">
                <a:solidFill>
                  <a:schemeClr val="bg1"/>
                </a:solidFill>
              </a:rPr>
              <a:t>TareaRepository</a:t>
            </a:r>
            <a:endParaRPr lang="en-US" sz="1400" dirty="0"/>
          </a:p>
        </p:txBody>
      </p:sp>
      <p:sp>
        <p:nvSpPr>
          <p:cNvPr id="16" name="vida-1099"/>
          <p:cNvSpPr/>
          <p:nvPr/>
        </p:nvSpPr>
        <p:spPr>
          <a:xfrm>
            <a:off x="8369595" y="1984248"/>
            <a:ext cx="0" cy="4187952"/>
          </a:xfrm>
          <a:prstGeom prst="line">
            <a:avLst/>
          </a:prstGeom>
          <a:noFill/>
          <a:ln w="12700">
            <a:solidFill>
              <a:srgbClr val="B8C1D1"/>
            </a:solidFill>
            <a:prstDash val="dash"/>
          </a:ln>
        </p:spPr>
      </p:sp>
      <p:sp>
        <p:nvSpPr>
          <p:cNvPr id="17" name="part-1100"/>
          <p:cNvSpPr/>
          <p:nvPr/>
        </p:nvSpPr>
        <p:spPr>
          <a:xfrm>
            <a:off x="9643628" y="1481328"/>
            <a:ext cx="1999427" cy="502920"/>
          </a:xfrm>
          <a:prstGeom prst="roundRect">
            <a:avLst>
              <a:gd name="adj" fmla="val 14545"/>
            </a:avLst>
          </a:prstGeom>
          <a:solidFill>
            <a:schemeClr val="tx2"/>
          </a:solidFill>
          <a:ln/>
        </p:spPr>
      </p:sp>
      <p:sp>
        <p:nvSpPr>
          <p:cNvPr id="18" name="part-t-1101"/>
          <p:cNvSpPr txBox="1"/>
          <p:nvPr/>
        </p:nvSpPr>
        <p:spPr>
          <a:xfrm>
            <a:off x="9643628" y="1481328"/>
            <a:ext cx="1999427" cy="502920"/>
          </a:xfrm>
          <a:prstGeom prst="rect">
            <a:avLst/>
          </a:prstGeom>
          <a:noFill/>
          <a:ln/>
        </p:spPr>
        <p:txBody>
          <a:bodyPr wrap="square" lIns="0" tIns="0" rIns="0" bIns="0" rtlCol="0" anchor="ctr"/>
          <a:lstStyle/>
          <a:p>
            <a:pPr algn="ctr" indent="0" marL="0">
              <a:buNone/>
            </a:pPr>
            <a:r>
              <a:rPr lang="en-US" sz="1400" b="1" dirty="0">
                <a:solidFill>
                  <a:schemeClr val="bg1"/>
                </a:solidFill>
              </a:rPr>
              <a:t>PostgreSQL</a:t>
            </a:r>
            <a:endParaRPr lang="en-US" sz="1400" dirty="0"/>
          </a:p>
        </p:txBody>
      </p:sp>
      <p:sp>
        <p:nvSpPr>
          <p:cNvPr id="19" name="vida-1102"/>
          <p:cNvSpPr/>
          <p:nvPr/>
        </p:nvSpPr>
        <p:spPr>
          <a:xfrm>
            <a:off x="10643342" y="1984248"/>
            <a:ext cx="0" cy="4187952"/>
          </a:xfrm>
          <a:prstGeom prst="line">
            <a:avLst/>
          </a:prstGeom>
          <a:noFill/>
          <a:ln w="12700">
            <a:solidFill>
              <a:srgbClr val="B8C1D1"/>
            </a:solidFill>
            <a:prstDash val="dash"/>
          </a:ln>
        </p:spPr>
      </p:sp>
      <p:sp>
        <p:nvSpPr>
          <p:cNvPr id="20" name="msg-1103"/>
          <p:cNvSpPr/>
          <p:nvPr/>
        </p:nvSpPr>
        <p:spPr>
          <a:xfrm>
            <a:off x="1548354" y="2350008"/>
            <a:ext cx="2273747" cy="0"/>
          </a:xfrm>
          <a:prstGeom prst="line">
            <a:avLst/>
          </a:prstGeom>
          <a:noFill/>
          <a:ln w="19050">
            <a:solidFill>
              <a:schemeClr val="tx2"/>
            </a:solidFill>
            <a:prstDash val="solid"/>
            <a:tailEnd type="triangle"/>
          </a:ln>
        </p:spPr>
      </p:sp>
      <p:sp>
        <p:nvSpPr>
          <p:cNvPr id="21" name="msg-t-1104"/>
          <p:cNvSpPr txBox="1"/>
          <p:nvPr/>
        </p:nvSpPr>
        <p:spPr>
          <a:xfrm>
            <a:off x="1639794" y="2057400"/>
            <a:ext cx="2090867" cy="274320"/>
          </a:xfrm>
          <a:prstGeom prst="rect">
            <a:avLst/>
          </a:prstGeom>
          <a:noFill/>
          <a:ln/>
        </p:spPr>
        <p:txBody>
          <a:bodyPr wrap="square" lIns="0" tIns="0" rIns="0" bIns="0" rtlCol="0" anchor="ctr"/>
          <a:lstStyle/>
          <a:p>
            <a:pPr algn="ctr" indent="0" marL="0">
              <a:buNone/>
            </a:pPr>
            <a:r>
              <a:rPr lang="en-US" sz="1200" dirty="0">
                <a:solidFill>
                  <a:schemeClr val="tx2"/>
                </a:solidFill>
              </a:rPr>
              <a:t>PATCH /api/tareas/7/estado</a:t>
            </a:r>
            <a:endParaRPr lang="en-US" sz="1200" dirty="0"/>
          </a:p>
        </p:txBody>
      </p:sp>
      <p:sp>
        <p:nvSpPr>
          <p:cNvPr id="22" name="msg-t-1105"/>
          <p:cNvSpPr txBox="1"/>
          <p:nvPr/>
        </p:nvSpPr>
        <p:spPr>
          <a:xfrm>
            <a:off x="3931829" y="2505456"/>
            <a:ext cx="2090867" cy="274320"/>
          </a:xfrm>
          <a:prstGeom prst="rect">
            <a:avLst/>
          </a:prstGeom>
          <a:noFill/>
          <a:ln/>
        </p:spPr>
        <p:txBody>
          <a:bodyPr wrap="square" lIns="0" tIns="0" rIns="0" bIns="0" rtlCol="0" anchor="ctr"/>
          <a:lstStyle/>
          <a:p>
            <a:pPr indent="0" marL="0">
              <a:buNone/>
            </a:pPr>
            <a:r>
              <a:rPr lang="en-US" sz="1200" i="1" dirty="0">
                <a:solidFill>
                  <a:schemeClr val="tx2"/>
                </a:solidFill>
              </a:rPr>
              <a:t>@Valid MoverTareaRequest</a:t>
            </a:r>
            <a:endParaRPr lang="en-US" sz="1200" dirty="0"/>
          </a:p>
        </p:txBody>
      </p:sp>
      <p:sp>
        <p:nvSpPr>
          <p:cNvPr id="23" name="msg-1106"/>
          <p:cNvSpPr/>
          <p:nvPr/>
        </p:nvSpPr>
        <p:spPr>
          <a:xfrm>
            <a:off x="3822101" y="3209544"/>
            <a:ext cx="2273747" cy="0"/>
          </a:xfrm>
          <a:prstGeom prst="line">
            <a:avLst/>
          </a:prstGeom>
          <a:noFill/>
          <a:ln w="19050">
            <a:solidFill>
              <a:schemeClr val="tx2"/>
            </a:solidFill>
            <a:prstDash val="solid"/>
            <a:tailEnd type="triangle"/>
          </a:ln>
        </p:spPr>
      </p:sp>
      <p:sp>
        <p:nvSpPr>
          <p:cNvPr id="24" name="msg-t-1107"/>
          <p:cNvSpPr txBox="1"/>
          <p:nvPr/>
        </p:nvSpPr>
        <p:spPr>
          <a:xfrm>
            <a:off x="3913541" y="2916936"/>
            <a:ext cx="2090867" cy="274320"/>
          </a:xfrm>
          <a:prstGeom prst="rect">
            <a:avLst/>
          </a:prstGeom>
          <a:noFill/>
          <a:ln/>
        </p:spPr>
        <p:txBody>
          <a:bodyPr wrap="square" lIns="0" tIns="0" rIns="0" bIns="0" rtlCol="0" anchor="ctr"/>
          <a:lstStyle/>
          <a:p>
            <a:pPr algn="ctr" indent="0" marL="0">
              <a:buNone/>
            </a:pPr>
            <a:r>
              <a:rPr lang="en-US" sz="1200" dirty="0">
                <a:solidFill>
                  <a:schemeClr val="tx2"/>
                </a:solidFill>
              </a:rPr>
              <a:t>mover(7, EN_CURSO)</a:t>
            </a:r>
            <a:endParaRPr lang="en-US" sz="1200" dirty="0"/>
          </a:p>
        </p:txBody>
      </p:sp>
      <p:sp>
        <p:nvSpPr>
          <p:cNvPr id="25" name="msg-1108"/>
          <p:cNvSpPr/>
          <p:nvPr/>
        </p:nvSpPr>
        <p:spPr>
          <a:xfrm>
            <a:off x="6095848" y="3639312"/>
            <a:ext cx="2273747" cy="0"/>
          </a:xfrm>
          <a:prstGeom prst="line">
            <a:avLst/>
          </a:prstGeom>
          <a:noFill/>
          <a:ln w="19050">
            <a:solidFill>
              <a:schemeClr val="tx2"/>
            </a:solidFill>
            <a:prstDash val="solid"/>
            <a:tailEnd type="triangle"/>
          </a:ln>
        </p:spPr>
      </p:sp>
      <p:sp>
        <p:nvSpPr>
          <p:cNvPr id="26" name="msg-t-1109"/>
          <p:cNvSpPr txBox="1"/>
          <p:nvPr/>
        </p:nvSpPr>
        <p:spPr>
          <a:xfrm>
            <a:off x="6187288" y="3346704"/>
            <a:ext cx="2090867" cy="274320"/>
          </a:xfrm>
          <a:prstGeom prst="rect">
            <a:avLst/>
          </a:prstGeom>
          <a:noFill/>
          <a:ln/>
        </p:spPr>
        <p:txBody>
          <a:bodyPr wrap="square" lIns="0" tIns="0" rIns="0" bIns="0" rtlCol="0" anchor="ctr"/>
          <a:lstStyle/>
          <a:p>
            <a:pPr algn="ctr" indent="0" marL="0">
              <a:buNone/>
            </a:pPr>
            <a:r>
              <a:rPr lang="en-US" sz="1200" dirty="0">
                <a:solidFill>
                  <a:schemeClr val="tx2"/>
                </a:solidFill>
              </a:rPr>
              <a:t>findById(7)</a:t>
            </a:r>
            <a:endParaRPr lang="en-US" sz="1200" dirty="0"/>
          </a:p>
        </p:txBody>
      </p:sp>
      <p:sp>
        <p:nvSpPr>
          <p:cNvPr id="27" name="msg-1110"/>
          <p:cNvSpPr/>
          <p:nvPr/>
        </p:nvSpPr>
        <p:spPr>
          <a:xfrm>
            <a:off x="8369595" y="4069080"/>
            <a:ext cx="2273747" cy="0"/>
          </a:xfrm>
          <a:prstGeom prst="line">
            <a:avLst/>
          </a:prstGeom>
          <a:noFill/>
          <a:ln w="19050">
            <a:solidFill>
              <a:schemeClr val="tx2"/>
            </a:solidFill>
            <a:prstDash val="solid"/>
            <a:tailEnd type="triangle"/>
          </a:ln>
        </p:spPr>
      </p:sp>
      <p:sp>
        <p:nvSpPr>
          <p:cNvPr id="28" name="msg-t-1111"/>
          <p:cNvSpPr txBox="1"/>
          <p:nvPr/>
        </p:nvSpPr>
        <p:spPr>
          <a:xfrm>
            <a:off x="8461035" y="3776472"/>
            <a:ext cx="2090867" cy="274320"/>
          </a:xfrm>
          <a:prstGeom prst="rect">
            <a:avLst/>
          </a:prstGeom>
          <a:noFill/>
          <a:ln/>
        </p:spPr>
        <p:txBody>
          <a:bodyPr wrap="square" lIns="0" tIns="0" rIns="0" bIns="0" rtlCol="0" anchor="ctr"/>
          <a:lstStyle/>
          <a:p>
            <a:pPr algn="ctr" indent="0" marL="0">
              <a:buNone/>
            </a:pPr>
            <a:r>
              <a:rPr lang="en-US" sz="1200" dirty="0">
                <a:solidFill>
                  <a:schemeClr val="tx2"/>
                </a:solidFill>
              </a:rPr>
              <a:t>SELECT</a:t>
            </a:r>
            <a:endParaRPr lang="en-US" sz="1200" dirty="0"/>
          </a:p>
        </p:txBody>
      </p:sp>
      <p:sp>
        <p:nvSpPr>
          <p:cNvPr id="29" name="msg-t-1112"/>
          <p:cNvSpPr txBox="1"/>
          <p:nvPr/>
        </p:nvSpPr>
        <p:spPr>
          <a:xfrm>
            <a:off x="6205576" y="4224528"/>
            <a:ext cx="2090867" cy="274320"/>
          </a:xfrm>
          <a:prstGeom prst="rect">
            <a:avLst/>
          </a:prstGeom>
          <a:noFill/>
          <a:ln/>
        </p:spPr>
        <p:txBody>
          <a:bodyPr wrap="square" lIns="0" tIns="0" rIns="0" bIns="0" rtlCol="0" anchor="ctr"/>
          <a:lstStyle/>
          <a:p>
            <a:pPr indent="0" marL="0">
              <a:buNone/>
            </a:pPr>
            <a:r>
              <a:rPr lang="en-US" sz="1200" i="1" dirty="0">
                <a:solidFill>
                  <a:schemeClr val="tx2"/>
                </a:solidFill>
              </a:rPr>
              <a:t>¿un paso? sí</a:t>
            </a:r>
            <a:endParaRPr lang="en-US" sz="1200" dirty="0"/>
          </a:p>
        </p:txBody>
      </p:sp>
      <p:sp>
        <p:nvSpPr>
          <p:cNvPr id="30" name="msg-1113"/>
          <p:cNvSpPr/>
          <p:nvPr/>
        </p:nvSpPr>
        <p:spPr>
          <a:xfrm>
            <a:off x="6095848" y="4928616"/>
            <a:ext cx="2273747" cy="0"/>
          </a:xfrm>
          <a:prstGeom prst="line">
            <a:avLst/>
          </a:prstGeom>
          <a:noFill/>
          <a:ln w="19050">
            <a:solidFill>
              <a:schemeClr val="tx2"/>
            </a:solidFill>
            <a:prstDash val="solid"/>
            <a:tailEnd type="triangle"/>
          </a:ln>
        </p:spPr>
      </p:sp>
      <p:sp>
        <p:nvSpPr>
          <p:cNvPr id="31" name="msg-t-1114"/>
          <p:cNvSpPr txBox="1"/>
          <p:nvPr/>
        </p:nvSpPr>
        <p:spPr>
          <a:xfrm>
            <a:off x="6187288" y="4636008"/>
            <a:ext cx="2090867" cy="274320"/>
          </a:xfrm>
          <a:prstGeom prst="rect">
            <a:avLst/>
          </a:prstGeom>
          <a:noFill/>
          <a:ln/>
        </p:spPr>
        <p:txBody>
          <a:bodyPr wrap="square" lIns="0" tIns="0" rIns="0" bIns="0" rtlCol="0" anchor="ctr"/>
          <a:lstStyle/>
          <a:p>
            <a:pPr algn="ctr" indent="0" marL="0">
              <a:buNone/>
            </a:pPr>
            <a:r>
              <a:rPr lang="en-US" sz="1200" dirty="0">
                <a:solidFill>
                  <a:schemeClr val="tx2"/>
                </a:solidFill>
              </a:rPr>
              <a:t>countByEstado(EN_CURSO) → 2</a:t>
            </a:r>
            <a:endParaRPr lang="en-US" sz="1200" dirty="0"/>
          </a:p>
        </p:txBody>
      </p:sp>
      <p:sp>
        <p:nvSpPr>
          <p:cNvPr id="32" name="msg-1115"/>
          <p:cNvSpPr/>
          <p:nvPr/>
        </p:nvSpPr>
        <p:spPr>
          <a:xfrm>
            <a:off x="6095848" y="5358384"/>
            <a:ext cx="2273747" cy="0"/>
          </a:xfrm>
          <a:prstGeom prst="line">
            <a:avLst/>
          </a:prstGeom>
          <a:noFill/>
          <a:ln w="19050">
            <a:solidFill>
              <a:schemeClr val="tx2"/>
            </a:solidFill>
            <a:prstDash val="solid"/>
            <a:tailEnd type="triangle"/>
          </a:ln>
        </p:spPr>
      </p:sp>
      <p:sp>
        <p:nvSpPr>
          <p:cNvPr id="33" name="msg-t-1116"/>
          <p:cNvSpPr txBox="1"/>
          <p:nvPr/>
        </p:nvSpPr>
        <p:spPr>
          <a:xfrm>
            <a:off x="6187288" y="5065776"/>
            <a:ext cx="2090867" cy="274320"/>
          </a:xfrm>
          <a:prstGeom prst="rect">
            <a:avLst/>
          </a:prstGeom>
          <a:noFill/>
          <a:ln/>
        </p:spPr>
        <p:txBody>
          <a:bodyPr wrap="square" lIns="0" tIns="0" rIns="0" bIns="0" rtlCol="0" anchor="ctr"/>
          <a:lstStyle/>
          <a:p>
            <a:pPr algn="ctr" indent="0" marL="0">
              <a:buNone/>
            </a:pPr>
            <a:r>
              <a:rPr lang="en-US" sz="1200" dirty="0">
                <a:solidFill>
                  <a:schemeClr val="tx2"/>
                </a:solidFill>
              </a:rPr>
              <a:t>save(tarea)</a:t>
            </a:r>
            <a:endParaRPr lang="en-US" sz="1200" dirty="0"/>
          </a:p>
        </p:txBody>
      </p:sp>
      <p:sp>
        <p:nvSpPr>
          <p:cNvPr id="34" name="msg-1117"/>
          <p:cNvSpPr/>
          <p:nvPr/>
        </p:nvSpPr>
        <p:spPr>
          <a:xfrm flipH="1">
            <a:off x="3822101" y="5788152"/>
            <a:ext cx="2273747" cy="0"/>
          </a:xfrm>
          <a:prstGeom prst="line">
            <a:avLst/>
          </a:prstGeom>
          <a:noFill/>
          <a:ln w="19050">
            <a:solidFill>
              <a:schemeClr val="accent5"/>
            </a:solidFill>
            <a:prstDash val="dash"/>
            <a:tailEnd type="triangle"/>
          </a:ln>
        </p:spPr>
      </p:sp>
      <p:sp>
        <p:nvSpPr>
          <p:cNvPr id="35" name="msg-t-1118"/>
          <p:cNvSpPr txBox="1"/>
          <p:nvPr/>
        </p:nvSpPr>
        <p:spPr>
          <a:xfrm>
            <a:off x="3913541" y="5495544"/>
            <a:ext cx="2090867" cy="274320"/>
          </a:xfrm>
          <a:prstGeom prst="rect">
            <a:avLst/>
          </a:prstGeom>
          <a:noFill/>
          <a:ln/>
        </p:spPr>
        <p:txBody>
          <a:bodyPr wrap="square" lIns="0" tIns="0" rIns="0" bIns="0" rtlCol="0" anchor="ctr"/>
          <a:lstStyle/>
          <a:p>
            <a:pPr algn="ctr" indent="0" marL="0">
              <a:buNone/>
            </a:pPr>
            <a:r>
              <a:rPr lang="en-US" sz="1200" dirty="0">
                <a:solidFill>
                  <a:schemeClr val="accent5"/>
                </a:solidFill>
              </a:rPr>
              <a:t>TareaResponse</a:t>
            </a:r>
            <a:endParaRPr lang="en-US" sz="1200" dirty="0"/>
          </a:p>
        </p:txBody>
      </p:sp>
      <p:sp>
        <p:nvSpPr>
          <p:cNvPr id="36" name="msg-1119"/>
          <p:cNvSpPr/>
          <p:nvPr/>
        </p:nvSpPr>
        <p:spPr>
          <a:xfrm flipH="1">
            <a:off x="1548354" y="6217920"/>
            <a:ext cx="2273747" cy="0"/>
          </a:xfrm>
          <a:prstGeom prst="line">
            <a:avLst/>
          </a:prstGeom>
          <a:noFill/>
          <a:ln w="19050">
            <a:solidFill>
              <a:schemeClr val="accent5"/>
            </a:solidFill>
            <a:prstDash val="dash"/>
            <a:tailEnd type="triangle"/>
          </a:ln>
        </p:spPr>
      </p:sp>
      <p:sp>
        <p:nvSpPr>
          <p:cNvPr id="37" name="msg-t-1120"/>
          <p:cNvSpPr txBox="1"/>
          <p:nvPr/>
        </p:nvSpPr>
        <p:spPr>
          <a:xfrm>
            <a:off x="1639794" y="5925312"/>
            <a:ext cx="2090867" cy="274320"/>
          </a:xfrm>
          <a:prstGeom prst="rect">
            <a:avLst/>
          </a:prstGeom>
          <a:noFill/>
          <a:ln/>
        </p:spPr>
        <p:txBody>
          <a:bodyPr wrap="square" lIns="0" tIns="0" rIns="0" bIns="0" rtlCol="0" anchor="ctr"/>
          <a:lstStyle/>
          <a:p>
            <a:pPr algn="ctr" indent="0" marL="0">
              <a:buNone/>
            </a:pPr>
            <a:r>
              <a:rPr lang="en-US" sz="1200" dirty="0">
                <a:solidFill>
                  <a:schemeClr val="accent5"/>
                </a:solidFill>
              </a:rPr>
              <a:t>200 OK + JSON</a:t>
            </a:r>
            <a:endParaRPr lang="en-US" sz="12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BACKEND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Mover una tarea: rechazo con 409</a:t>
            </a:r>
            <a:endParaRPr lang="en-US" sz="3400" dirty="0"/>
          </a:p>
        </p:txBody>
      </p:sp>
      <p:sp>
        <p:nvSpPr>
          <p:cNvPr id="5" name="part-1121"/>
          <p:cNvSpPr/>
          <p:nvPr/>
        </p:nvSpPr>
        <p:spPr>
          <a:xfrm>
            <a:off x="548640" y="1481328"/>
            <a:ext cx="1999427" cy="502920"/>
          </a:xfrm>
          <a:prstGeom prst="roundRect">
            <a:avLst>
              <a:gd name="adj" fmla="val 14545"/>
            </a:avLst>
          </a:prstGeom>
          <a:solidFill>
            <a:schemeClr val="tx2"/>
          </a:solidFill>
          <a:ln/>
        </p:spPr>
      </p:sp>
      <p:sp>
        <p:nvSpPr>
          <p:cNvPr id="6" name="part-t-1122"/>
          <p:cNvSpPr txBox="1"/>
          <p:nvPr/>
        </p:nvSpPr>
        <p:spPr>
          <a:xfrm>
            <a:off x="548640" y="1481328"/>
            <a:ext cx="1999427" cy="502920"/>
          </a:xfrm>
          <a:prstGeom prst="rect">
            <a:avLst/>
          </a:prstGeom>
          <a:noFill/>
          <a:ln/>
        </p:spPr>
        <p:txBody>
          <a:bodyPr wrap="square" lIns="0" tIns="0" rIns="0" bIns="0" rtlCol="0" anchor="ctr"/>
          <a:lstStyle/>
          <a:p>
            <a:pPr algn="ctr" indent="0" marL="0">
              <a:buNone/>
            </a:pPr>
            <a:r>
              <a:rPr lang="en-US" sz="1400" b="1" dirty="0">
                <a:solidFill>
                  <a:schemeClr val="bg1"/>
                </a:solidFill>
              </a:rPr>
              <a:t>Angular</a:t>
            </a:r>
            <a:endParaRPr lang="en-US" sz="1400" dirty="0"/>
          </a:p>
        </p:txBody>
      </p:sp>
      <p:sp>
        <p:nvSpPr>
          <p:cNvPr id="7" name="vida-1123"/>
          <p:cNvSpPr/>
          <p:nvPr/>
        </p:nvSpPr>
        <p:spPr>
          <a:xfrm>
            <a:off x="1548354" y="1984248"/>
            <a:ext cx="0" cy="4187952"/>
          </a:xfrm>
          <a:prstGeom prst="line">
            <a:avLst/>
          </a:prstGeom>
          <a:noFill/>
          <a:ln w="12700">
            <a:solidFill>
              <a:srgbClr val="B8C1D1"/>
            </a:solidFill>
            <a:prstDash val="dash"/>
          </a:ln>
        </p:spPr>
      </p:sp>
      <p:sp>
        <p:nvSpPr>
          <p:cNvPr id="8" name="part-1124"/>
          <p:cNvSpPr/>
          <p:nvPr/>
        </p:nvSpPr>
        <p:spPr>
          <a:xfrm>
            <a:off x="2822387" y="1481328"/>
            <a:ext cx="1999427" cy="502920"/>
          </a:xfrm>
          <a:prstGeom prst="roundRect">
            <a:avLst>
              <a:gd name="adj" fmla="val 14545"/>
            </a:avLst>
          </a:prstGeom>
          <a:solidFill>
            <a:schemeClr val="tx2"/>
          </a:solidFill>
          <a:ln/>
        </p:spPr>
      </p:sp>
      <p:sp>
        <p:nvSpPr>
          <p:cNvPr id="9" name="part-t-1125"/>
          <p:cNvSpPr txBox="1"/>
          <p:nvPr/>
        </p:nvSpPr>
        <p:spPr>
          <a:xfrm>
            <a:off x="2822387" y="1481328"/>
            <a:ext cx="1999427" cy="502920"/>
          </a:xfrm>
          <a:prstGeom prst="rect">
            <a:avLst/>
          </a:prstGeom>
          <a:noFill/>
          <a:ln/>
        </p:spPr>
        <p:txBody>
          <a:bodyPr wrap="square" lIns="0" tIns="0" rIns="0" bIns="0" rtlCol="0" anchor="ctr"/>
          <a:lstStyle/>
          <a:p>
            <a:pPr algn="ctr" indent="0" marL="0">
              <a:buNone/>
            </a:pPr>
            <a:r>
              <a:rPr lang="en-US" sz="1400" b="1" dirty="0">
                <a:solidFill>
                  <a:schemeClr val="bg1"/>
                </a:solidFill>
              </a:rPr>
              <a:t>Spring MVC</a:t>
            </a:r>
            <a:endParaRPr lang="en-US" sz="1400" dirty="0"/>
          </a:p>
        </p:txBody>
      </p:sp>
      <p:sp>
        <p:nvSpPr>
          <p:cNvPr id="10" name="vida-1126"/>
          <p:cNvSpPr/>
          <p:nvPr/>
        </p:nvSpPr>
        <p:spPr>
          <a:xfrm>
            <a:off x="3822101" y="1984248"/>
            <a:ext cx="0" cy="4187952"/>
          </a:xfrm>
          <a:prstGeom prst="line">
            <a:avLst/>
          </a:prstGeom>
          <a:noFill/>
          <a:ln w="12700">
            <a:solidFill>
              <a:srgbClr val="B8C1D1"/>
            </a:solidFill>
            <a:prstDash val="dash"/>
          </a:ln>
        </p:spPr>
      </p:sp>
      <p:sp>
        <p:nvSpPr>
          <p:cNvPr id="11" name="part-1127"/>
          <p:cNvSpPr/>
          <p:nvPr/>
        </p:nvSpPr>
        <p:spPr>
          <a:xfrm>
            <a:off x="5096134" y="1481328"/>
            <a:ext cx="1999427" cy="502920"/>
          </a:xfrm>
          <a:prstGeom prst="roundRect">
            <a:avLst>
              <a:gd name="adj" fmla="val 14545"/>
            </a:avLst>
          </a:prstGeom>
          <a:solidFill>
            <a:schemeClr val="tx2"/>
          </a:solidFill>
          <a:ln/>
        </p:spPr>
      </p:sp>
      <p:sp>
        <p:nvSpPr>
          <p:cNvPr id="12" name="part-t-1128"/>
          <p:cNvSpPr txBox="1"/>
          <p:nvPr/>
        </p:nvSpPr>
        <p:spPr>
          <a:xfrm>
            <a:off x="5096134" y="1481328"/>
            <a:ext cx="1999427" cy="502920"/>
          </a:xfrm>
          <a:prstGeom prst="rect">
            <a:avLst/>
          </a:prstGeom>
          <a:noFill/>
          <a:ln/>
        </p:spPr>
        <p:txBody>
          <a:bodyPr wrap="square" lIns="0" tIns="0" rIns="0" bIns="0" rtlCol="0" anchor="ctr"/>
          <a:lstStyle/>
          <a:p>
            <a:pPr algn="ctr" indent="0" marL="0">
              <a:buNone/>
            </a:pPr>
            <a:r>
              <a:rPr lang="en-US" sz="1400" b="1" dirty="0">
                <a:solidFill>
                  <a:schemeClr val="bg1"/>
                </a:solidFill>
              </a:rPr>
              <a:t>TareaServiceImpl</a:t>
            </a:r>
            <a:endParaRPr lang="en-US" sz="1400" dirty="0"/>
          </a:p>
        </p:txBody>
      </p:sp>
      <p:sp>
        <p:nvSpPr>
          <p:cNvPr id="13" name="vida-1129"/>
          <p:cNvSpPr/>
          <p:nvPr/>
        </p:nvSpPr>
        <p:spPr>
          <a:xfrm>
            <a:off x="6095848" y="1984248"/>
            <a:ext cx="0" cy="4187952"/>
          </a:xfrm>
          <a:prstGeom prst="line">
            <a:avLst/>
          </a:prstGeom>
          <a:noFill/>
          <a:ln w="12700">
            <a:solidFill>
              <a:srgbClr val="B8C1D1"/>
            </a:solidFill>
            <a:prstDash val="dash"/>
          </a:ln>
        </p:spPr>
      </p:sp>
      <p:sp>
        <p:nvSpPr>
          <p:cNvPr id="14" name="part-1130"/>
          <p:cNvSpPr/>
          <p:nvPr/>
        </p:nvSpPr>
        <p:spPr>
          <a:xfrm>
            <a:off x="7369881" y="1481328"/>
            <a:ext cx="1999427" cy="502920"/>
          </a:xfrm>
          <a:prstGeom prst="roundRect">
            <a:avLst>
              <a:gd name="adj" fmla="val 14545"/>
            </a:avLst>
          </a:prstGeom>
          <a:solidFill>
            <a:schemeClr val="tx2"/>
          </a:solidFill>
          <a:ln/>
        </p:spPr>
      </p:sp>
      <p:sp>
        <p:nvSpPr>
          <p:cNvPr id="15" name="part-t-1131"/>
          <p:cNvSpPr txBox="1"/>
          <p:nvPr/>
        </p:nvSpPr>
        <p:spPr>
          <a:xfrm>
            <a:off x="7369881" y="1481328"/>
            <a:ext cx="1999427" cy="502920"/>
          </a:xfrm>
          <a:prstGeom prst="rect">
            <a:avLst/>
          </a:prstGeom>
          <a:noFill/>
          <a:ln/>
        </p:spPr>
        <p:txBody>
          <a:bodyPr wrap="square" lIns="0" tIns="0" rIns="0" bIns="0" rtlCol="0" anchor="ctr"/>
          <a:lstStyle/>
          <a:p>
            <a:pPr algn="ctr" indent="0" marL="0">
              <a:buNone/>
            </a:pPr>
            <a:r>
              <a:rPr lang="en-US" sz="1400" b="1" dirty="0">
                <a:solidFill>
                  <a:schemeClr val="bg1"/>
                </a:solidFill>
              </a:rPr>
              <a:t>TareaRepository</a:t>
            </a:r>
            <a:endParaRPr lang="en-US" sz="1400" dirty="0"/>
          </a:p>
        </p:txBody>
      </p:sp>
      <p:sp>
        <p:nvSpPr>
          <p:cNvPr id="16" name="vida-1132"/>
          <p:cNvSpPr/>
          <p:nvPr/>
        </p:nvSpPr>
        <p:spPr>
          <a:xfrm>
            <a:off x="8369595" y="1984248"/>
            <a:ext cx="0" cy="4187952"/>
          </a:xfrm>
          <a:prstGeom prst="line">
            <a:avLst/>
          </a:prstGeom>
          <a:noFill/>
          <a:ln w="12700">
            <a:solidFill>
              <a:srgbClr val="B8C1D1"/>
            </a:solidFill>
            <a:prstDash val="dash"/>
          </a:ln>
        </p:spPr>
      </p:sp>
      <p:sp>
        <p:nvSpPr>
          <p:cNvPr id="17" name="part-1133"/>
          <p:cNvSpPr/>
          <p:nvPr/>
        </p:nvSpPr>
        <p:spPr>
          <a:xfrm>
            <a:off x="9643628" y="1481328"/>
            <a:ext cx="1999427" cy="502920"/>
          </a:xfrm>
          <a:prstGeom prst="roundRect">
            <a:avLst>
              <a:gd name="adj" fmla="val 14545"/>
            </a:avLst>
          </a:prstGeom>
          <a:solidFill>
            <a:schemeClr val="tx2"/>
          </a:solidFill>
          <a:ln/>
        </p:spPr>
      </p:sp>
      <p:sp>
        <p:nvSpPr>
          <p:cNvPr id="18" name="part-t-1134"/>
          <p:cNvSpPr txBox="1"/>
          <p:nvPr/>
        </p:nvSpPr>
        <p:spPr>
          <a:xfrm>
            <a:off x="9643628" y="1481328"/>
            <a:ext cx="1999427" cy="502920"/>
          </a:xfrm>
          <a:prstGeom prst="rect">
            <a:avLst/>
          </a:prstGeom>
          <a:noFill/>
          <a:ln/>
        </p:spPr>
        <p:txBody>
          <a:bodyPr wrap="square" lIns="0" tIns="0" rIns="0" bIns="0" rtlCol="0" anchor="ctr"/>
          <a:lstStyle/>
          <a:p>
            <a:pPr algn="ctr" indent="0" marL="0">
              <a:buNone/>
            </a:pPr>
            <a:r>
              <a:rPr lang="en-US" sz="1400" b="1" dirty="0">
                <a:solidFill>
                  <a:schemeClr val="bg1"/>
                </a:solidFill>
              </a:rPr>
              <a:t>GlobalExceptionHandler</a:t>
            </a:r>
            <a:endParaRPr lang="en-US" sz="1400" dirty="0"/>
          </a:p>
        </p:txBody>
      </p:sp>
      <p:sp>
        <p:nvSpPr>
          <p:cNvPr id="19" name="vida-1135"/>
          <p:cNvSpPr/>
          <p:nvPr/>
        </p:nvSpPr>
        <p:spPr>
          <a:xfrm>
            <a:off x="10643342" y="1984248"/>
            <a:ext cx="0" cy="4187952"/>
          </a:xfrm>
          <a:prstGeom prst="line">
            <a:avLst/>
          </a:prstGeom>
          <a:noFill/>
          <a:ln w="12700">
            <a:solidFill>
              <a:srgbClr val="B8C1D1"/>
            </a:solidFill>
            <a:prstDash val="dash"/>
          </a:ln>
        </p:spPr>
      </p:sp>
      <p:sp>
        <p:nvSpPr>
          <p:cNvPr id="20" name="msg-1136"/>
          <p:cNvSpPr/>
          <p:nvPr/>
        </p:nvSpPr>
        <p:spPr>
          <a:xfrm>
            <a:off x="1548354" y="2350008"/>
            <a:ext cx="2273747" cy="0"/>
          </a:xfrm>
          <a:prstGeom prst="line">
            <a:avLst/>
          </a:prstGeom>
          <a:noFill/>
          <a:ln w="19050">
            <a:solidFill>
              <a:schemeClr val="tx2"/>
            </a:solidFill>
            <a:prstDash val="solid"/>
            <a:tailEnd type="triangle"/>
          </a:ln>
        </p:spPr>
      </p:sp>
      <p:sp>
        <p:nvSpPr>
          <p:cNvPr id="21" name="msg-t-1137"/>
          <p:cNvSpPr txBox="1"/>
          <p:nvPr/>
        </p:nvSpPr>
        <p:spPr>
          <a:xfrm>
            <a:off x="1639794" y="2057400"/>
            <a:ext cx="2090867" cy="274320"/>
          </a:xfrm>
          <a:prstGeom prst="rect">
            <a:avLst/>
          </a:prstGeom>
          <a:noFill/>
          <a:ln/>
        </p:spPr>
        <p:txBody>
          <a:bodyPr wrap="square" lIns="0" tIns="0" rIns="0" bIns="0" rtlCol="0" anchor="ctr"/>
          <a:lstStyle/>
          <a:p>
            <a:pPr algn="ctr" indent="0" marL="0">
              <a:buNone/>
            </a:pPr>
            <a:r>
              <a:rPr lang="en-US" sz="1200" dirty="0">
                <a:solidFill>
                  <a:schemeClr val="tx2"/>
                </a:solidFill>
              </a:rPr>
              <a:t>PATCH /api/tareas/9/estado</a:t>
            </a:r>
            <a:endParaRPr lang="en-US" sz="1200" dirty="0"/>
          </a:p>
        </p:txBody>
      </p:sp>
      <p:sp>
        <p:nvSpPr>
          <p:cNvPr id="22" name="msg-1138"/>
          <p:cNvSpPr/>
          <p:nvPr/>
        </p:nvSpPr>
        <p:spPr>
          <a:xfrm>
            <a:off x="3822101" y="2852928"/>
            <a:ext cx="2273747" cy="0"/>
          </a:xfrm>
          <a:prstGeom prst="line">
            <a:avLst/>
          </a:prstGeom>
          <a:noFill/>
          <a:ln w="19050">
            <a:solidFill>
              <a:schemeClr val="tx2"/>
            </a:solidFill>
            <a:prstDash val="solid"/>
            <a:tailEnd type="triangle"/>
          </a:ln>
        </p:spPr>
      </p:sp>
      <p:sp>
        <p:nvSpPr>
          <p:cNvPr id="23" name="msg-t-1139"/>
          <p:cNvSpPr txBox="1"/>
          <p:nvPr/>
        </p:nvSpPr>
        <p:spPr>
          <a:xfrm>
            <a:off x="3913541" y="2560320"/>
            <a:ext cx="2090867" cy="274320"/>
          </a:xfrm>
          <a:prstGeom prst="rect">
            <a:avLst/>
          </a:prstGeom>
          <a:noFill/>
          <a:ln/>
        </p:spPr>
        <p:txBody>
          <a:bodyPr wrap="square" lIns="0" tIns="0" rIns="0" bIns="0" rtlCol="0" anchor="ctr"/>
          <a:lstStyle/>
          <a:p>
            <a:pPr algn="ctr" indent="0" marL="0">
              <a:buNone/>
            </a:pPr>
            <a:r>
              <a:rPr lang="en-US" sz="1200" dirty="0">
                <a:solidFill>
                  <a:schemeClr val="tx2"/>
                </a:solidFill>
              </a:rPr>
              <a:t>mover(9, EN_CURSO)</a:t>
            </a:r>
            <a:endParaRPr lang="en-US" sz="1200" dirty="0"/>
          </a:p>
        </p:txBody>
      </p:sp>
      <p:sp>
        <p:nvSpPr>
          <p:cNvPr id="24" name="msg-1140"/>
          <p:cNvSpPr/>
          <p:nvPr/>
        </p:nvSpPr>
        <p:spPr>
          <a:xfrm>
            <a:off x="6095848" y="3355848"/>
            <a:ext cx="2273747" cy="0"/>
          </a:xfrm>
          <a:prstGeom prst="line">
            <a:avLst/>
          </a:prstGeom>
          <a:noFill/>
          <a:ln w="19050">
            <a:solidFill>
              <a:schemeClr val="tx2"/>
            </a:solidFill>
            <a:prstDash val="solid"/>
            <a:tailEnd type="triangle"/>
          </a:ln>
        </p:spPr>
      </p:sp>
      <p:sp>
        <p:nvSpPr>
          <p:cNvPr id="25" name="msg-t-1141"/>
          <p:cNvSpPr txBox="1"/>
          <p:nvPr/>
        </p:nvSpPr>
        <p:spPr>
          <a:xfrm>
            <a:off x="6187288" y="3063240"/>
            <a:ext cx="2090867" cy="274320"/>
          </a:xfrm>
          <a:prstGeom prst="rect">
            <a:avLst/>
          </a:prstGeom>
          <a:noFill/>
          <a:ln/>
        </p:spPr>
        <p:txBody>
          <a:bodyPr wrap="square" lIns="0" tIns="0" rIns="0" bIns="0" rtlCol="0" anchor="ctr"/>
          <a:lstStyle/>
          <a:p>
            <a:pPr algn="ctr" indent="0" marL="0">
              <a:buNone/>
            </a:pPr>
            <a:r>
              <a:rPr lang="en-US" sz="1200" dirty="0">
                <a:solidFill>
                  <a:schemeClr val="tx2"/>
                </a:solidFill>
              </a:rPr>
              <a:t>findById(9)</a:t>
            </a:r>
            <a:endParaRPr lang="en-US" sz="1200" dirty="0"/>
          </a:p>
        </p:txBody>
      </p:sp>
      <p:sp>
        <p:nvSpPr>
          <p:cNvPr id="26" name="msg-1142"/>
          <p:cNvSpPr/>
          <p:nvPr/>
        </p:nvSpPr>
        <p:spPr>
          <a:xfrm>
            <a:off x="6095848" y="3858768"/>
            <a:ext cx="2273747" cy="0"/>
          </a:xfrm>
          <a:prstGeom prst="line">
            <a:avLst/>
          </a:prstGeom>
          <a:noFill/>
          <a:ln w="19050">
            <a:solidFill>
              <a:schemeClr val="tx2"/>
            </a:solidFill>
            <a:prstDash val="solid"/>
            <a:tailEnd type="triangle"/>
          </a:ln>
        </p:spPr>
      </p:sp>
      <p:sp>
        <p:nvSpPr>
          <p:cNvPr id="27" name="msg-t-1143"/>
          <p:cNvSpPr txBox="1"/>
          <p:nvPr/>
        </p:nvSpPr>
        <p:spPr>
          <a:xfrm>
            <a:off x="6187288" y="3566160"/>
            <a:ext cx="2090867" cy="274320"/>
          </a:xfrm>
          <a:prstGeom prst="rect">
            <a:avLst/>
          </a:prstGeom>
          <a:noFill/>
          <a:ln/>
        </p:spPr>
        <p:txBody>
          <a:bodyPr wrap="square" lIns="0" tIns="0" rIns="0" bIns="0" rtlCol="0" anchor="ctr"/>
          <a:lstStyle/>
          <a:p>
            <a:pPr algn="ctr" indent="0" marL="0">
              <a:buNone/>
            </a:pPr>
            <a:r>
              <a:rPr lang="en-US" sz="1200" dirty="0">
                <a:solidFill>
                  <a:schemeClr val="tx2"/>
                </a:solidFill>
              </a:rPr>
              <a:t>countByEstado(EN_CURSO) → 3</a:t>
            </a:r>
            <a:endParaRPr lang="en-US" sz="1200" dirty="0"/>
          </a:p>
        </p:txBody>
      </p:sp>
      <p:sp>
        <p:nvSpPr>
          <p:cNvPr id="28" name="msg-t-1144"/>
          <p:cNvSpPr txBox="1"/>
          <p:nvPr/>
        </p:nvSpPr>
        <p:spPr>
          <a:xfrm>
            <a:off x="6205576" y="4087368"/>
            <a:ext cx="2090867" cy="274320"/>
          </a:xfrm>
          <a:prstGeom prst="rect">
            <a:avLst/>
          </a:prstGeom>
          <a:noFill/>
          <a:ln/>
        </p:spPr>
        <p:txBody>
          <a:bodyPr wrap="square" lIns="0" tIns="0" rIns="0" bIns="0" rtlCol="0" anchor="ctr"/>
          <a:lstStyle/>
          <a:p>
            <a:pPr indent="0" marL="0">
              <a:buNone/>
            </a:pPr>
            <a:r>
              <a:rPr lang="en-US" sz="1200" i="1" dirty="0">
                <a:solidFill>
                  <a:schemeClr val="accent1"/>
                </a:solidFill>
              </a:rPr>
              <a:t>warn: in-progress limit reached</a:t>
            </a:r>
            <a:endParaRPr lang="en-US" sz="1200" dirty="0"/>
          </a:p>
        </p:txBody>
      </p:sp>
      <p:sp>
        <p:nvSpPr>
          <p:cNvPr id="29" name="msg-1145"/>
          <p:cNvSpPr/>
          <p:nvPr/>
        </p:nvSpPr>
        <p:spPr>
          <a:xfrm flipH="1">
            <a:off x="3822101" y="4864608"/>
            <a:ext cx="2273747" cy="0"/>
          </a:xfrm>
          <a:prstGeom prst="line">
            <a:avLst/>
          </a:prstGeom>
          <a:noFill/>
          <a:ln w="19050">
            <a:solidFill>
              <a:schemeClr val="accent1"/>
            </a:solidFill>
            <a:prstDash val="dash"/>
            <a:tailEnd type="triangle"/>
          </a:ln>
        </p:spPr>
      </p:sp>
      <p:sp>
        <p:nvSpPr>
          <p:cNvPr id="30" name="msg-t-1146"/>
          <p:cNvSpPr txBox="1"/>
          <p:nvPr/>
        </p:nvSpPr>
        <p:spPr>
          <a:xfrm>
            <a:off x="3913541" y="4572000"/>
            <a:ext cx="2090867" cy="274320"/>
          </a:xfrm>
          <a:prstGeom prst="rect">
            <a:avLst/>
          </a:prstGeom>
          <a:noFill/>
          <a:ln/>
        </p:spPr>
        <p:txBody>
          <a:bodyPr wrap="square" lIns="0" tIns="0" rIns="0" bIns="0" rtlCol="0" anchor="ctr"/>
          <a:lstStyle/>
          <a:p>
            <a:pPr algn="ctr" indent="0" marL="0">
              <a:buNone/>
            </a:pPr>
            <a:r>
              <a:rPr lang="en-US" sz="1200" b="1" dirty="0">
                <a:solidFill>
                  <a:schemeClr val="accent1"/>
                </a:solidFill>
              </a:rPr>
              <a:t>excepción de cupo</a:t>
            </a:r>
            <a:endParaRPr lang="en-US" sz="1200" dirty="0"/>
          </a:p>
        </p:txBody>
      </p:sp>
      <p:sp>
        <p:nvSpPr>
          <p:cNvPr id="31" name="msg-1147"/>
          <p:cNvSpPr/>
          <p:nvPr/>
        </p:nvSpPr>
        <p:spPr>
          <a:xfrm>
            <a:off x="3822101" y="5367528"/>
            <a:ext cx="6821241" cy="0"/>
          </a:xfrm>
          <a:prstGeom prst="line">
            <a:avLst/>
          </a:prstGeom>
          <a:noFill/>
          <a:ln w="19050">
            <a:solidFill>
              <a:schemeClr val="tx2"/>
            </a:solidFill>
            <a:prstDash val="solid"/>
            <a:tailEnd type="triangle"/>
          </a:ln>
        </p:spPr>
      </p:sp>
      <p:sp>
        <p:nvSpPr>
          <p:cNvPr id="32" name="msg-t-1148"/>
          <p:cNvSpPr txBox="1"/>
          <p:nvPr/>
        </p:nvSpPr>
        <p:spPr>
          <a:xfrm>
            <a:off x="3913541" y="5074920"/>
            <a:ext cx="6638361" cy="274320"/>
          </a:xfrm>
          <a:prstGeom prst="rect">
            <a:avLst/>
          </a:prstGeom>
          <a:noFill/>
          <a:ln/>
        </p:spPr>
        <p:txBody>
          <a:bodyPr wrap="square" lIns="0" tIns="0" rIns="0" bIns="0" rtlCol="0" anchor="ctr"/>
          <a:lstStyle/>
          <a:p>
            <a:pPr algn="ctr" indent="0" marL="0">
              <a:buNone/>
            </a:pPr>
            <a:r>
              <a:rPr lang="en-US" sz="1200" dirty="0">
                <a:solidFill>
                  <a:schemeClr val="tx2"/>
                </a:solidFill>
              </a:rPr>
              <a:t>resolver excepción</a:t>
            </a:r>
            <a:endParaRPr lang="en-US" sz="1200" dirty="0"/>
          </a:p>
        </p:txBody>
      </p:sp>
      <p:sp>
        <p:nvSpPr>
          <p:cNvPr id="33" name="msg-1149"/>
          <p:cNvSpPr/>
          <p:nvPr/>
        </p:nvSpPr>
        <p:spPr>
          <a:xfrm flipH="1">
            <a:off x="1548354" y="5870448"/>
            <a:ext cx="9094988" cy="0"/>
          </a:xfrm>
          <a:prstGeom prst="line">
            <a:avLst/>
          </a:prstGeom>
          <a:noFill/>
          <a:ln w="19050">
            <a:solidFill>
              <a:schemeClr val="accent1"/>
            </a:solidFill>
            <a:prstDash val="dash"/>
            <a:tailEnd type="triangle"/>
          </a:ln>
        </p:spPr>
      </p:sp>
      <p:sp>
        <p:nvSpPr>
          <p:cNvPr id="34" name="msg-t-1150"/>
          <p:cNvSpPr txBox="1"/>
          <p:nvPr/>
        </p:nvSpPr>
        <p:spPr>
          <a:xfrm>
            <a:off x="1639794" y="5577840"/>
            <a:ext cx="8912108" cy="274320"/>
          </a:xfrm>
          <a:prstGeom prst="rect">
            <a:avLst/>
          </a:prstGeom>
          <a:noFill/>
          <a:ln/>
        </p:spPr>
        <p:txBody>
          <a:bodyPr wrap="square" lIns="0" tIns="0" rIns="0" bIns="0" rtlCol="0" anchor="ctr"/>
          <a:lstStyle/>
          <a:p>
            <a:pPr algn="ctr" indent="0" marL="0">
              <a:buNone/>
            </a:pPr>
            <a:r>
              <a:rPr lang="en-US" sz="1200" b="1" dirty="0">
                <a:solidFill>
                  <a:schemeClr val="accent1"/>
                </a:solidFill>
              </a:rPr>
              <a:t>409 + ApiError</a:t>
            </a:r>
            <a:endParaRPr lang="en-US" sz="12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BACKEND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La regla en el código</a:t>
            </a:r>
            <a:endParaRPr lang="en-US" sz="3400" dirty="0"/>
          </a:p>
        </p:txBody>
      </p:sp>
      <p:sp>
        <p:nvSpPr>
          <p:cNvPr id="5" name="codigo-fondo-1151"/>
          <p:cNvSpPr/>
          <p:nvPr/>
        </p:nvSpPr>
        <p:spPr>
          <a:xfrm>
            <a:off x="548640" y="1481328"/>
            <a:ext cx="6400800" cy="4690872"/>
          </a:xfrm>
          <a:prstGeom prst="roundRect">
            <a:avLst>
              <a:gd name="adj" fmla="val 1559"/>
            </a:avLst>
          </a:prstGeom>
          <a:solidFill>
            <a:schemeClr val="tx2"/>
          </a:solidFill>
          <a:ln/>
        </p:spPr>
      </p:sp>
      <p:sp>
        <p:nvSpPr>
          <p:cNvPr id="6" name="codigo-etq-1152"/>
          <p:cNvSpPr txBox="1"/>
          <p:nvPr/>
        </p:nvSpPr>
        <p:spPr>
          <a:xfrm>
            <a:off x="822960" y="1645920"/>
            <a:ext cx="5852160" cy="274320"/>
          </a:xfrm>
          <a:prstGeom prst="rect">
            <a:avLst/>
          </a:prstGeom>
          <a:noFill/>
          <a:ln/>
        </p:spPr>
        <p:txBody>
          <a:bodyPr wrap="square" lIns="0" tIns="0" rIns="0" bIns="0" rtlCol="0" anchor="ctr"/>
          <a:lstStyle/>
          <a:p>
            <a:pPr indent="0" marL="0">
              <a:buNone/>
            </a:pPr>
            <a:r>
              <a:rPr lang="en-US" sz="1100" b="1" dirty="0">
                <a:solidFill>
                  <a:schemeClr val="accent3"/>
                </a:solidFill>
              </a:rPr>
              <a:t>TareaServiceImpl.mover()</a:t>
            </a:r>
            <a:endParaRPr lang="en-US" sz="1100" dirty="0"/>
          </a:p>
        </p:txBody>
      </p:sp>
      <p:sp>
        <p:nvSpPr>
          <p:cNvPr id="7" name="codigo-1153"/>
          <p:cNvSpPr txBox="1"/>
          <p:nvPr/>
        </p:nvSpPr>
        <p:spPr>
          <a:xfrm>
            <a:off x="822960" y="1984248"/>
            <a:ext cx="5852160" cy="4005072"/>
          </a:xfrm>
          <a:prstGeom prst="rect">
            <a:avLst/>
          </a:prstGeom>
          <a:noFill/>
          <a:ln/>
        </p:spPr>
        <p:txBody>
          <a:bodyPr wrap="square" lIns="0" tIns="0" rIns="0" bIns="0" rtlCol="0" anchor="t"/>
          <a:lstStyle/>
          <a:p>
            <a:pPr indent="0" marL="0">
              <a:buNone/>
            </a:pPr>
            <a:r>
              <a:rPr lang="en-US" sz="1300" dirty="0">
                <a:solidFill>
                  <a:srgbClr val="E8EDF5"/>
                </a:solidFill>
                <a:latin typeface="Courier New" pitchFamily="34" charset="0"/>
                <a:ea typeface="Courier New" pitchFamily="34" charset="-122"/>
                <a:cs typeface="Courier New" pitchFamily="34" charset="-120"/>
              </a:rPr>
              <a:t>Tarea tarea = buscar(id);</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EstadoTarea origen = tarea.getEstado();</a:t>
            </a:r>
            <a:endParaRPr lang="en-US" sz="1300" dirty="0"/>
          </a:p>
          <a:p>
            <a:pPr indent="0" marL="0">
              <a:buNone/>
            </a:pP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Regla 2: un paso a la vez</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if (Math.abs(destino.ordinal()</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 origen.ordinal()) != 1) {</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throw new MovimientoInvalidoException(</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origen, destino);</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Regla 1: máximo 3 en curso</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if (destino == EstadoTarea.EN_CURSO</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&amp;&amp; repository.countByEstado(</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EstadoTarea.EN_CURSO) &gt;= LIMITE_EN_CURSO) {</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throw new LimiteEnCursoExcedidoException(</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LIMITE_EN_CURSO);</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tarea.setEstado(destino);</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return mapper.aRespuesta(repository.save(tarea));</a:t>
            </a:r>
            <a:endParaRPr lang="en-US" sz="1300" dirty="0"/>
          </a:p>
        </p:txBody>
      </p:sp>
      <p:sp>
        <p:nvSpPr>
          <p:cNvPr id="8" name="lista-1154"/>
          <p:cNvSpPr txBox="1"/>
          <p:nvPr/>
        </p:nvSpPr>
        <p:spPr>
          <a:xfrm>
            <a:off x="7223760" y="1572768"/>
            <a:ext cx="4416552" cy="4572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Primero el movimiento, luego el cupo</a:t>
            </a:r>
            <a:endParaRPr lang="en-US" sz="1600" dirty="0"/>
          </a:p>
          <a:p>
            <a:pPr marL="228600" indent="-228600">
              <a:spcAft>
                <a:spcPts val="800"/>
              </a:spcAft>
              <a:buSzPct val="100000"/>
              <a:buChar char="•"/>
            </a:pPr>
            <a:r>
              <a:rPr lang="en-US" sz="1600" dirty="0">
                <a:solidFill>
                  <a:schemeClr val="tx1"/>
                </a:solidFill>
              </a:rPr>
              <a:t>Mover a la misma columna también da 409 (diferencia 0)</a:t>
            </a:r>
            <a:endParaRPr lang="en-US" sz="1600" dirty="0"/>
          </a:p>
          <a:p>
            <a:pPr marL="228600" indent="-228600">
              <a:spcAft>
                <a:spcPts val="800"/>
              </a:spcAft>
              <a:buSzPct val="100000"/>
              <a:buChar char="•"/>
            </a:pPr>
            <a:r>
              <a:rPr lang="en-US" sz="1600" dirty="0">
                <a:solidFill>
                  <a:schemeClr val="tx1"/>
                </a:solidFill>
              </a:rPr>
              <a:t>El cupo se revisa en toda entrada a EN_CURSO, también desde HECHA</a:t>
            </a:r>
            <a:endParaRPr lang="en-US" sz="1600" dirty="0"/>
          </a:p>
          <a:p>
            <a:pPr marL="228600" indent="-228600">
              <a:spcAft>
                <a:spcPts val="800"/>
              </a:spcAft>
              <a:buSzPct val="100000"/>
              <a:buChar char="•"/>
            </a:pPr>
            <a:r>
              <a:rPr lang="en-US" sz="1600" dirty="0">
                <a:solidFill>
                  <a:schemeClr val="tx1"/>
                </a:solidFill>
              </a:rPr>
              <a:t>LIMITE_EN_CURSO = 3: sin número mágico</a:t>
            </a:r>
            <a:endParaRPr lang="en-US" sz="1600" dirty="0"/>
          </a:p>
          <a:p>
            <a:pPr marL="228600" indent="-228600">
              <a:spcAft>
                <a:spcPts val="800"/>
              </a:spcAft>
              <a:buSzPct val="100000"/>
              <a:buChar char="•"/>
            </a:pPr>
            <a:r>
              <a:rPr lang="en-US" sz="1600" dirty="0">
                <a:solidFill>
                  <a:schemeClr val="tx1"/>
                </a:solidFill>
              </a:rPr>
              <a:t>Las excepciones tienen nombre y serialVersionUID</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BACKEND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Errores uniformes y logs</a:t>
            </a:r>
            <a:endParaRPr lang="en-US" sz="3400" dirty="0"/>
          </a:p>
        </p:txBody>
      </p:sp>
      <p:sp>
        <p:nvSpPr>
          <p:cNvPr id="5" name="codigo-fondo-1155"/>
          <p:cNvSpPr/>
          <p:nvPr/>
        </p:nvSpPr>
        <p:spPr>
          <a:xfrm>
            <a:off x="548640" y="1481328"/>
            <a:ext cx="5394960" cy="2514600"/>
          </a:xfrm>
          <a:prstGeom prst="roundRect">
            <a:avLst>
              <a:gd name="adj" fmla="val 2909"/>
            </a:avLst>
          </a:prstGeom>
          <a:solidFill>
            <a:schemeClr val="tx2"/>
          </a:solidFill>
          <a:ln/>
        </p:spPr>
      </p:sp>
      <p:sp>
        <p:nvSpPr>
          <p:cNvPr id="6" name="codigo-etq-1156"/>
          <p:cNvSpPr txBox="1"/>
          <p:nvPr/>
        </p:nvSpPr>
        <p:spPr>
          <a:xfrm>
            <a:off x="822960" y="1645920"/>
            <a:ext cx="4846320" cy="274320"/>
          </a:xfrm>
          <a:prstGeom prst="rect">
            <a:avLst/>
          </a:prstGeom>
          <a:noFill/>
          <a:ln/>
        </p:spPr>
        <p:txBody>
          <a:bodyPr wrap="square" lIns="0" tIns="0" rIns="0" bIns="0" rtlCol="0" anchor="ctr"/>
          <a:lstStyle/>
          <a:p>
            <a:pPr indent="0" marL="0">
              <a:buNone/>
            </a:pPr>
            <a:r>
              <a:rPr lang="en-US" sz="1100" b="1" dirty="0">
                <a:solidFill>
                  <a:schemeClr val="accent3"/>
                </a:solidFill>
              </a:rPr>
              <a:t>RESPUESTA ApiError</a:t>
            </a:r>
            <a:endParaRPr lang="en-US" sz="1100" dirty="0"/>
          </a:p>
        </p:txBody>
      </p:sp>
      <p:sp>
        <p:nvSpPr>
          <p:cNvPr id="7" name="codigo-1157"/>
          <p:cNvSpPr txBox="1"/>
          <p:nvPr/>
        </p:nvSpPr>
        <p:spPr>
          <a:xfrm>
            <a:off x="822960" y="1984248"/>
            <a:ext cx="4846320" cy="1828800"/>
          </a:xfrm>
          <a:prstGeom prst="rect">
            <a:avLst/>
          </a:prstGeom>
          <a:noFill/>
          <a:ln/>
        </p:spPr>
        <p:txBody>
          <a:bodyPr wrap="square" lIns="0" tIns="0" rIns="0" bIns="0" rtlCol="0" anchor="t"/>
          <a:lstStyle/>
          <a:p>
            <a:pPr indent="0" marL="0">
              <a:buNone/>
            </a:pPr>
            <a:r>
              <a:rPr lang="en-US" sz="1300" dirty="0">
                <a:solidFill>
                  <a:srgbClr val="E8EDF5"/>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"fecha": "2026-10-26T10:15:30",</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"status": 409,</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"error": "Conflict",</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"mensaje": "La columna En curso ya tiene</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el máximo de 3 tareas; termina</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una antes de iniciar otra",</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"detalles": []</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a:t>
            </a:r>
            <a:endParaRPr lang="en-US" sz="1300" dirty="0"/>
          </a:p>
        </p:txBody>
      </p:sp>
      <p:sp>
        <p:nvSpPr>
          <p:cNvPr id="8" name="codigo-fondo-1158"/>
          <p:cNvSpPr/>
          <p:nvPr/>
        </p:nvSpPr>
        <p:spPr>
          <a:xfrm>
            <a:off x="548640" y="4160520"/>
            <a:ext cx="11094415" cy="2011680"/>
          </a:xfrm>
          <a:prstGeom prst="roundRect">
            <a:avLst>
              <a:gd name="adj" fmla="val 3636"/>
            </a:avLst>
          </a:prstGeom>
          <a:solidFill>
            <a:schemeClr val="tx2"/>
          </a:solidFill>
          <a:ln/>
        </p:spPr>
      </p:sp>
      <p:sp>
        <p:nvSpPr>
          <p:cNvPr id="9" name="codigo-etq-1159"/>
          <p:cNvSpPr txBox="1"/>
          <p:nvPr/>
        </p:nvSpPr>
        <p:spPr>
          <a:xfrm>
            <a:off x="822960" y="4325112"/>
            <a:ext cx="10545775" cy="274320"/>
          </a:xfrm>
          <a:prstGeom prst="rect">
            <a:avLst/>
          </a:prstGeom>
          <a:noFill/>
          <a:ln/>
        </p:spPr>
        <p:txBody>
          <a:bodyPr wrap="square" lIns="0" tIns="0" rIns="0" bIns="0" rtlCol="0" anchor="ctr"/>
          <a:lstStyle/>
          <a:p>
            <a:pPr indent="0" marL="0">
              <a:buNone/>
            </a:pPr>
            <a:r>
              <a:rPr lang="en-US" sz="1100" b="1" dirty="0">
                <a:solidFill>
                  <a:schemeClr val="accent3"/>
                </a:solidFill>
              </a:rPr>
              <a:t>LOG (sin "end process": hubo error)</a:t>
            </a:r>
            <a:endParaRPr lang="en-US" sz="1100" dirty="0"/>
          </a:p>
        </p:txBody>
      </p:sp>
      <p:sp>
        <p:nvSpPr>
          <p:cNvPr id="10" name="codigo-1160"/>
          <p:cNvSpPr txBox="1"/>
          <p:nvPr/>
        </p:nvSpPr>
        <p:spPr>
          <a:xfrm>
            <a:off x="822960" y="4663440"/>
            <a:ext cx="10545775" cy="1325880"/>
          </a:xfrm>
          <a:prstGeom prst="rect">
            <a:avLst/>
          </a:prstGeom>
          <a:noFill/>
          <a:ln/>
        </p:spPr>
        <p:txBody>
          <a:bodyPr wrap="square" lIns="0" tIns="0" rIns="0" bIns="0" rtlCol="0" anchor="t"/>
          <a:lstStyle/>
          <a:p>
            <a:pPr indent="0" marL="0">
              <a:buNone/>
            </a:pPr>
            <a:r>
              <a:rPr lang="en-US" sz="1300" dirty="0">
                <a:solidFill>
                  <a:srgbClr val="E8EDF5"/>
                </a:solidFill>
                <a:latin typeface="Courier New" pitchFamily="34" charset="0"/>
                <a:ea typeface="Courier New" pitchFamily="34" charset="-122"/>
                <a:cs typeface="Courier New" pitchFamily="34" charset="-120"/>
              </a:rPr>
              <a:t>--- start process endpoint: PATCH /api/tareas/9/estado ---</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command receive to move task: 9 to EN_CURSO ---</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in-progress limit reached: task 9 cannot move to EN_CURSO ---</a:t>
            </a:r>
            <a:endParaRPr lang="en-US" sz="1300" dirty="0"/>
          </a:p>
        </p:txBody>
      </p:sp>
      <p:sp>
        <p:nvSpPr>
          <p:cNvPr id="11" name="lista-1161"/>
          <p:cNvSpPr txBox="1"/>
          <p:nvPr/>
        </p:nvSpPr>
        <p:spPr>
          <a:xfrm>
            <a:off x="6217920" y="1572768"/>
            <a:ext cx="5422392" cy="24688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Un formato para todos los errores</a:t>
            </a:r>
            <a:endParaRPr lang="en-US" sz="1500" dirty="0"/>
          </a:p>
          <a:p>
            <a:pPr marL="228600" indent="-228600">
              <a:spcAft>
                <a:spcPts val="800"/>
              </a:spcAft>
              <a:buSzPct val="100000"/>
              <a:buChar char="•"/>
            </a:pPr>
            <a:r>
              <a:rPr lang="en-US" sz="1500" dirty="0">
                <a:solidFill>
                  <a:schemeClr val="tx1"/>
                </a:solidFill>
              </a:rPr>
              <a:t>detalles lista los campos inválidos en un 400</a:t>
            </a:r>
            <a:endParaRPr lang="en-US" sz="1500" dirty="0"/>
          </a:p>
          <a:p>
            <a:pPr marL="228600" indent="-228600">
              <a:spcAft>
                <a:spcPts val="800"/>
              </a:spcAft>
              <a:buSzPct val="100000"/>
              <a:buChar char="•"/>
            </a:pPr>
            <a:r>
              <a:rPr lang="en-US" sz="1500" dirty="0">
                <a:solidFill>
                  <a:schemeClr val="tx1"/>
                </a:solidFill>
              </a:rPr>
              <a:t>404 y 409 en debug en el handler, porque el service ya registró el warn</a:t>
            </a:r>
            <a:endParaRPr lang="en-US" sz="1500" dirty="0"/>
          </a:p>
          <a:p>
            <a:pPr marL="228600" indent="-228600">
              <a:spcAft>
                <a:spcPts val="800"/>
              </a:spcAft>
              <a:buSzPct val="100000"/>
              <a:buChar char="•"/>
            </a:pPr>
            <a:r>
              <a:rPr lang="en-US" sz="1500" dirty="0">
                <a:solidFill>
                  <a:schemeClr val="tx1"/>
                </a:solidFill>
              </a:rPr>
              <a:t>500: log de error con la excepción completa</a:t>
            </a:r>
            <a:endParaRPr lang="en-US" sz="15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17</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Base de datos y concurrencia</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La tabla tarea, la evolución del esquema con Flyway y el riesgo del cupo bajo solicitudes simultáneas.</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BASE DE DATOS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La tabla tarea</a:t>
            </a:r>
            <a:endParaRPr lang="en-US" sz="3400" dirty="0"/>
          </a:p>
        </p:txBody>
      </p:sp>
      <p:graphicFrame>
        <p:nvGraphicFramePr>
          <p:cNvPr id="91" name="tabla-1162"/>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926080"/>
                <a:gridCol w="3749040"/>
                <a:gridCol w="4416552"/>
              </a:tblGrid>
              <a:tr h="512064">
                <a:tc>
                  <a:txBody>
                    <a:bodyPr/>
                    <a:lstStyle/>
                    <a:p>
                      <a:pPr indent="0" marL="0">
                        <a:buNone/>
                      </a:pPr>
                      <a:r>
                        <a:rPr lang="en-US" sz="1400" b="1" dirty="0">
                          <a:solidFill>
                            <a:schemeClr val="bg1"/>
                          </a:solidFill>
                        </a:rPr>
                        <a:t>Columna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Tipo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Restricción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tx1"/>
                          </a:solidFill>
                        </a:rPr>
                        <a:t>id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BIGINT GENERATED ALWAYS AS IDENTITY</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PRIMARY KEY</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titulo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VARCHAR(100)</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 NULL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descripcion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VARCHAR(500)</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opcional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estado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VARCHAR(15)</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 NULL · CHECK IN ('POR_HACER','EN_CURSO','HECHA')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prioridad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VARCHAR(10)</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NOT NULL · CHECK IN ('BAJA','MEDIA','ALTA')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fecha_limite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opcional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creada_en · actualizada_en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TIMESTAMP</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NOT NULL · @PrePersist / @PreUpdate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6" name="destacado-1163"/>
          <p:cNvSpPr/>
          <p:nvPr/>
        </p:nvSpPr>
        <p:spPr>
          <a:xfrm>
            <a:off x="548640" y="5669280"/>
            <a:ext cx="11094415" cy="502920"/>
          </a:xfrm>
          <a:prstGeom prst="roundRect">
            <a:avLst>
              <a:gd name="adj" fmla="val 14545"/>
            </a:avLst>
          </a:prstGeom>
          <a:solidFill>
            <a:schemeClr val="tx2"/>
          </a:solidFill>
          <a:ln/>
        </p:spPr>
      </p:sp>
      <p:sp>
        <p:nvSpPr>
          <p:cNvPr id="7" name="destacado-t-1164"/>
          <p:cNvSpPr txBox="1"/>
          <p:nvPr/>
        </p:nvSpPr>
        <p:spPr>
          <a:xfrm>
            <a:off x="822960" y="5669280"/>
            <a:ext cx="10545775" cy="502920"/>
          </a:xfrm>
          <a:prstGeom prst="rect">
            <a:avLst/>
          </a:prstGeom>
          <a:noFill/>
          <a:ln/>
        </p:spPr>
        <p:txBody>
          <a:bodyPr wrap="square" lIns="0" tIns="0" rIns="0" bIns="0" rtlCol="0" anchor="ctr"/>
          <a:lstStyle/>
          <a:p>
            <a:pPr indent="0" marL="0">
              <a:buNone/>
            </a:pPr>
            <a:r>
              <a:rPr lang="en-US" sz="1600" dirty="0">
                <a:solidFill>
                  <a:schemeClr val="bg1"/>
                </a:solidFill>
              </a:rPr>
              <a:t>Índice idx_tarea_estado: acelera countByEstado, que se consulta en cada movimiento.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BASE DE DATOS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Flyway: el esquema evoluciona con el código</a:t>
            </a:r>
            <a:endParaRPr lang="en-US" sz="3400" dirty="0"/>
          </a:p>
        </p:txBody>
      </p:sp>
      <p:sp>
        <p:nvSpPr>
          <p:cNvPr id="5" name="paso-1165"/>
          <p:cNvSpPr/>
          <p:nvPr/>
        </p:nvSpPr>
        <p:spPr>
          <a:xfrm>
            <a:off x="548640" y="1755648"/>
            <a:ext cx="2485568" cy="822960"/>
          </a:xfrm>
          <a:prstGeom prst="roundRect">
            <a:avLst>
              <a:gd name="adj" fmla="val 11111"/>
            </a:avLst>
          </a:prstGeom>
          <a:solidFill>
            <a:schemeClr val="tx2"/>
          </a:solidFill>
          <a:ln/>
        </p:spPr>
      </p:sp>
      <p:sp>
        <p:nvSpPr>
          <p:cNvPr id="6" name="paso-t-1166"/>
          <p:cNvSpPr txBox="1"/>
          <p:nvPr/>
        </p:nvSpPr>
        <p:spPr>
          <a:xfrm>
            <a:off x="621792" y="175564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V1</a:t>
            </a:r>
            <a:endParaRPr lang="en-US" sz="1600" dirty="0"/>
          </a:p>
        </p:txBody>
      </p:sp>
      <p:sp>
        <p:nvSpPr>
          <p:cNvPr id="7" name="flecha-1167"/>
          <p:cNvSpPr/>
          <p:nvPr/>
        </p:nvSpPr>
        <p:spPr>
          <a:xfrm>
            <a:off x="3098216" y="2048256"/>
            <a:ext cx="256032" cy="237744"/>
          </a:xfrm>
          <a:prstGeom prst="rightArrow">
            <a:avLst/>
          </a:prstGeom>
          <a:solidFill>
            <a:schemeClr val="accent5"/>
          </a:solidFill>
          <a:ln/>
        </p:spPr>
      </p:sp>
      <p:sp>
        <p:nvSpPr>
          <p:cNvPr id="8" name="paso-d-1168"/>
          <p:cNvSpPr txBox="1"/>
          <p:nvPr/>
        </p:nvSpPr>
        <p:spPr>
          <a:xfrm>
            <a:off x="548640" y="2761488"/>
            <a:ext cx="2485568" cy="1097280"/>
          </a:xfrm>
          <a:prstGeom prst="rect">
            <a:avLst/>
          </a:prstGeom>
          <a:noFill/>
          <a:ln/>
        </p:spPr>
        <p:txBody>
          <a:bodyPr wrap="square" lIns="0" tIns="0" rIns="0" bIns="0" rtlCol="0" anchor="t"/>
          <a:lstStyle/>
          <a:p>
            <a:pPr indent="0" marL="0">
              <a:buNone/>
            </a:pPr>
            <a:r>
              <a:rPr lang="en-US" sz="1500" dirty="0">
                <a:solidFill>
                  <a:schemeClr val="tx1"/>
                </a:solidFill>
              </a:rPr>
              <a:t>Crea la tabla tarea, sus CHECK y el índice</a:t>
            </a:r>
            <a:endParaRPr lang="en-US" sz="1500" dirty="0"/>
          </a:p>
        </p:txBody>
      </p:sp>
      <p:sp>
        <p:nvSpPr>
          <p:cNvPr id="9" name="paso-1169"/>
          <p:cNvSpPr/>
          <p:nvPr/>
        </p:nvSpPr>
        <p:spPr>
          <a:xfrm>
            <a:off x="3418256" y="1755648"/>
            <a:ext cx="2485568" cy="822960"/>
          </a:xfrm>
          <a:prstGeom prst="roundRect">
            <a:avLst>
              <a:gd name="adj" fmla="val 11111"/>
            </a:avLst>
          </a:prstGeom>
          <a:solidFill>
            <a:schemeClr val="tx2"/>
          </a:solidFill>
          <a:ln/>
        </p:spPr>
      </p:sp>
      <p:sp>
        <p:nvSpPr>
          <p:cNvPr id="10" name="paso-t-1170"/>
          <p:cNvSpPr txBox="1"/>
          <p:nvPr/>
        </p:nvSpPr>
        <p:spPr>
          <a:xfrm>
            <a:off x="3491408" y="175564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V2</a:t>
            </a:r>
            <a:endParaRPr lang="en-US" sz="1600" dirty="0"/>
          </a:p>
        </p:txBody>
      </p:sp>
      <p:sp>
        <p:nvSpPr>
          <p:cNvPr id="11" name="flecha-1171"/>
          <p:cNvSpPr/>
          <p:nvPr/>
        </p:nvSpPr>
        <p:spPr>
          <a:xfrm>
            <a:off x="5967832" y="2048256"/>
            <a:ext cx="256032" cy="237744"/>
          </a:xfrm>
          <a:prstGeom prst="rightArrow">
            <a:avLst/>
          </a:prstGeom>
          <a:solidFill>
            <a:schemeClr val="accent5"/>
          </a:solidFill>
          <a:ln/>
        </p:spPr>
      </p:sp>
      <p:sp>
        <p:nvSpPr>
          <p:cNvPr id="12" name="paso-d-1172"/>
          <p:cNvSpPr txBox="1"/>
          <p:nvPr/>
        </p:nvSpPr>
        <p:spPr>
          <a:xfrm>
            <a:off x="3418256" y="2761488"/>
            <a:ext cx="2485568" cy="1097280"/>
          </a:xfrm>
          <a:prstGeom prst="rect">
            <a:avLst/>
          </a:prstGeom>
          <a:noFill/>
          <a:ln/>
        </p:spPr>
        <p:txBody>
          <a:bodyPr wrap="square" lIns="0" tIns="0" rIns="0" bIns="0" rtlCol="0" anchor="t"/>
          <a:lstStyle/>
          <a:p>
            <a:pPr indent="0" marL="0">
              <a:buNone/>
            </a:pPr>
            <a:r>
              <a:rPr lang="en-US" sz="1500" dirty="0">
                <a:solidFill>
                  <a:schemeClr val="tx1"/>
                </a:solidFill>
              </a:rPr>
              <a:t>3 tareas de ejemplo, una por columna</a:t>
            </a:r>
            <a:endParaRPr lang="en-US" sz="1500" dirty="0"/>
          </a:p>
        </p:txBody>
      </p:sp>
      <p:sp>
        <p:nvSpPr>
          <p:cNvPr id="13" name="paso-1173"/>
          <p:cNvSpPr/>
          <p:nvPr/>
        </p:nvSpPr>
        <p:spPr>
          <a:xfrm>
            <a:off x="6287872" y="1755648"/>
            <a:ext cx="2485568" cy="822960"/>
          </a:xfrm>
          <a:prstGeom prst="roundRect">
            <a:avLst>
              <a:gd name="adj" fmla="val 11111"/>
            </a:avLst>
          </a:prstGeom>
          <a:solidFill>
            <a:schemeClr val="accent2"/>
          </a:solidFill>
          <a:ln/>
        </p:spPr>
      </p:sp>
      <p:sp>
        <p:nvSpPr>
          <p:cNvPr id="14" name="paso-t-1174"/>
          <p:cNvSpPr txBox="1"/>
          <p:nvPr/>
        </p:nvSpPr>
        <p:spPr>
          <a:xfrm>
            <a:off x="6361024" y="175564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V3, V4…</a:t>
            </a:r>
            <a:endParaRPr lang="en-US" sz="1600" dirty="0"/>
          </a:p>
        </p:txBody>
      </p:sp>
      <p:sp>
        <p:nvSpPr>
          <p:cNvPr id="15" name="flecha-1175"/>
          <p:cNvSpPr/>
          <p:nvPr/>
        </p:nvSpPr>
        <p:spPr>
          <a:xfrm>
            <a:off x="8837447" y="2048256"/>
            <a:ext cx="256032" cy="237744"/>
          </a:xfrm>
          <a:prstGeom prst="rightArrow">
            <a:avLst/>
          </a:prstGeom>
          <a:solidFill>
            <a:schemeClr val="accent5"/>
          </a:solidFill>
          <a:ln/>
        </p:spPr>
      </p:sp>
      <p:sp>
        <p:nvSpPr>
          <p:cNvPr id="16" name="paso-d-1176"/>
          <p:cNvSpPr txBox="1"/>
          <p:nvPr/>
        </p:nvSpPr>
        <p:spPr>
          <a:xfrm>
            <a:off x="6287872" y="2761488"/>
            <a:ext cx="2485568" cy="1097280"/>
          </a:xfrm>
          <a:prstGeom prst="rect">
            <a:avLst/>
          </a:prstGeom>
          <a:noFill/>
          <a:ln/>
        </p:spPr>
        <p:txBody>
          <a:bodyPr wrap="square" lIns="0" tIns="0" rIns="0" bIns="0" rtlCol="0" anchor="t"/>
          <a:lstStyle/>
          <a:p>
            <a:pPr indent="0" marL="0">
              <a:buNone/>
            </a:pPr>
            <a:r>
              <a:rPr lang="en-US" sz="1500" dirty="0">
                <a:solidFill>
                  <a:schemeClr val="tx1"/>
                </a:solidFill>
              </a:rPr>
              <a:t>Cada cambio futuro, en un archivo nuevo</a:t>
            </a:r>
            <a:endParaRPr lang="en-US" sz="1500" dirty="0"/>
          </a:p>
        </p:txBody>
      </p:sp>
      <p:sp>
        <p:nvSpPr>
          <p:cNvPr id="17" name="paso-1177"/>
          <p:cNvSpPr/>
          <p:nvPr/>
        </p:nvSpPr>
        <p:spPr>
          <a:xfrm>
            <a:off x="9157487" y="1755648"/>
            <a:ext cx="2485568" cy="822960"/>
          </a:xfrm>
          <a:prstGeom prst="roundRect">
            <a:avLst>
              <a:gd name="adj" fmla="val 11111"/>
            </a:avLst>
          </a:prstGeom>
          <a:solidFill>
            <a:schemeClr val="accent1"/>
          </a:solidFill>
          <a:ln/>
        </p:spPr>
      </p:sp>
      <p:sp>
        <p:nvSpPr>
          <p:cNvPr id="18" name="paso-t-1178"/>
          <p:cNvSpPr txBox="1"/>
          <p:nvPr/>
        </p:nvSpPr>
        <p:spPr>
          <a:xfrm>
            <a:off x="9230639" y="175564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Hibernate valida</a:t>
            </a:r>
            <a:endParaRPr lang="en-US" sz="1600" dirty="0"/>
          </a:p>
        </p:txBody>
      </p:sp>
      <p:sp>
        <p:nvSpPr>
          <p:cNvPr id="19" name="paso-d-1179"/>
          <p:cNvSpPr txBox="1"/>
          <p:nvPr/>
        </p:nvSpPr>
        <p:spPr>
          <a:xfrm>
            <a:off x="9157487" y="2761488"/>
            <a:ext cx="2485568" cy="1097280"/>
          </a:xfrm>
          <a:prstGeom prst="rect">
            <a:avLst/>
          </a:prstGeom>
          <a:noFill/>
          <a:ln/>
        </p:spPr>
        <p:txBody>
          <a:bodyPr wrap="square" lIns="0" tIns="0" rIns="0" bIns="0" rtlCol="0" anchor="t"/>
          <a:lstStyle/>
          <a:p>
            <a:pPr indent="0" marL="0">
              <a:buNone/>
            </a:pPr>
            <a:r>
              <a:rPr lang="en-US" sz="1500" dirty="0">
                <a:solidFill>
                  <a:schemeClr val="tx1"/>
                </a:solidFill>
              </a:rPr>
              <a:t>ddl-auto: validate comprueba que la Entity coincide</a:t>
            </a:r>
            <a:endParaRPr lang="en-US" sz="1500" dirty="0"/>
          </a:p>
        </p:txBody>
      </p:sp>
      <p:sp>
        <p:nvSpPr>
          <p:cNvPr id="20" name="codigo-fondo-1180"/>
          <p:cNvSpPr/>
          <p:nvPr/>
        </p:nvSpPr>
        <p:spPr>
          <a:xfrm>
            <a:off x="548640" y="4206240"/>
            <a:ext cx="11094415" cy="1188720"/>
          </a:xfrm>
          <a:prstGeom prst="roundRect">
            <a:avLst>
              <a:gd name="adj" fmla="val 6154"/>
            </a:avLst>
          </a:prstGeom>
          <a:solidFill>
            <a:schemeClr val="tx2"/>
          </a:solidFill>
          <a:ln/>
        </p:spPr>
      </p:sp>
      <p:sp>
        <p:nvSpPr>
          <p:cNvPr id="21" name="codigo-1181"/>
          <p:cNvSpPr txBox="1"/>
          <p:nvPr/>
        </p:nvSpPr>
        <p:spPr>
          <a:xfrm>
            <a:off x="822960" y="4434840"/>
            <a:ext cx="10545775" cy="777240"/>
          </a:xfrm>
          <a:prstGeom prst="rect">
            <a:avLst/>
          </a:prstGeom>
          <a:noFill/>
          <a:ln/>
        </p:spPr>
        <p:txBody>
          <a:bodyPr wrap="square" lIns="0" tIns="0" rIns="0" bIns="0" rtlCol="0" anchor="t"/>
          <a:lstStyle/>
          <a:p>
            <a:pPr indent="0" marL="0">
              <a:buNone/>
            </a:pPr>
            <a:r>
              <a:rPr lang="en-US" sz="1500" dirty="0">
                <a:solidFill>
                  <a:srgbClr val="E8EDF5"/>
                </a:solidFill>
                <a:latin typeface="Courier New" pitchFamily="34" charset="0"/>
                <a:ea typeface="Courier New" pitchFamily="34" charset="-122"/>
                <a:cs typeface="Courier New" pitchFamily="34" charset="-120"/>
              </a:rPr>
              <a:t>-- V3__agregar_etiqueta.sql  (ejemplo de cambio futuro)</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ALTER TABLE tarea ADD COLUMN etiqueta VARCHAR(30);</a:t>
            </a:r>
            <a:endParaRPr lang="en-US" sz="1500" dirty="0"/>
          </a:p>
        </p:txBody>
      </p:sp>
      <p:sp>
        <p:nvSpPr>
          <p:cNvPr id="22" name="destacado-1182"/>
          <p:cNvSpPr/>
          <p:nvPr/>
        </p:nvSpPr>
        <p:spPr>
          <a:xfrm>
            <a:off x="548640" y="5577840"/>
            <a:ext cx="11094415" cy="566928"/>
          </a:xfrm>
          <a:prstGeom prst="roundRect">
            <a:avLst>
              <a:gd name="adj" fmla="val 12903"/>
            </a:avLst>
          </a:prstGeom>
          <a:solidFill>
            <a:schemeClr val="accent1"/>
          </a:solidFill>
          <a:ln/>
        </p:spPr>
      </p:sp>
      <p:sp>
        <p:nvSpPr>
          <p:cNvPr id="23" name="destacado-t-1183"/>
          <p:cNvSpPr txBox="1"/>
          <p:nvPr/>
        </p:nvSpPr>
        <p:spPr>
          <a:xfrm>
            <a:off x="822960" y="5577840"/>
            <a:ext cx="10545775" cy="566928"/>
          </a:xfrm>
          <a:prstGeom prst="rect">
            <a:avLst/>
          </a:prstGeom>
          <a:noFill/>
          <a:ln/>
        </p:spPr>
        <p:txBody>
          <a:bodyPr wrap="square" lIns="0" tIns="0" rIns="0" bIns="0" rtlCol="0" anchor="ctr"/>
          <a:lstStyle/>
          <a:p>
            <a:pPr indent="0" marL="0">
              <a:buNone/>
            </a:pPr>
            <a:r>
              <a:rPr lang="en-US" sz="1600" dirty="0">
                <a:solidFill>
                  <a:schemeClr val="bg1"/>
                </a:solidFill>
              </a:rPr>
              <a:t>Una migración ya aplicada nunca se edita.</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BASE DE DATOS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El cupo bajo solicitudes simultáneas</a:t>
            </a:r>
            <a:endParaRPr lang="en-US" sz="3400" dirty="0"/>
          </a:p>
        </p:txBody>
      </p:sp>
      <p:sp>
        <p:nvSpPr>
          <p:cNvPr id="5" name="caja-1184"/>
          <p:cNvSpPr/>
          <p:nvPr/>
        </p:nvSpPr>
        <p:spPr>
          <a:xfrm>
            <a:off x="548640" y="1481328"/>
            <a:ext cx="2743200" cy="548640"/>
          </a:xfrm>
          <a:prstGeom prst="roundRect">
            <a:avLst>
              <a:gd name="adj" fmla="val 13333"/>
            </a:avLst>
          </a:prstGeom>
          <a:solidFill>
            <a:schemeClr val="tx2"/>
          </a:solidFill>
          <a:ln/>
        </p:spPr>
      </p:sp>
      <p:sp>
        <p:nvSpPr>
          <p:cNvPr id="6" name="caja-t-1185"/>
          <p:cNvSpPr txBox="1"/>
          <p:nvPr/>
        </p:nvSpPr>
        <p:spPr>
          <a:xfrm>
            <a:off x="640080" y="1481328"/>
            <a:ext cx="2560320" cy="548640"/>
          </a:xfrm>
          <a:prstGeom prst="rect">
            <a:avLst/>
          </a:prstGeom>
          <a:noFill/>
          <a:ln/>
        </p:spPr>
        <p:txBody>
          <a:bodyPr wrap="square" lIns="0" tIns="0" rIns="0" bIns="0" rtlCol="0" anchor="ctr"/>
          <a:lstStyle/>
          <a:p>
            <a:pPr algn="ctr" indent="0" marL="0">
              <a:buNone/>
            </a:pPr>
            <a:r>
              <a:rPr lang="en-US" sz="1600" b="1" dirty="0">
                <a:solidFill>
                  <a:schemeClr val="bg1"/>
                </a:solidFill>
              </a:rPr>
              <a:t>Solicitud A</a:t>
            </a:r>
            <a:endParaRPr lang="en-US" sz="1600" dirty="0"/>
          </a:p>
        </p:txBody>
      </p:sp>
      <p:sp>
        <p:nvSpPr>
          <p:cNvPr id="7" name="caja-1186"/>
          <p:cNvSpPr/>
          <p:nvPr/>
        </p:nvSpPr>
        <p:spPr>
          <a:xfrm>
            <a:off x="548640" y="2258568"/>
            <a:ext cx="2743200" cy="640080"/>
          </a:xfrm>
          <a:prstGeom prst="roundRect">
            <a:avLst>
              <a:gd name="adj" fmla="val 11429"/>
            </a:avLst>
          </a:prstGeom>
          <a:solidFill>
            <a:schemeClr val="bg2"/>
          </a:solidFill>
          <a:ln/>
        </p:spPr>
      </p:sp>
      <p:sp>
        <p:nvSpPr>
          <p:cNvPr id="8" name="caja-t-1187"/>
          <p:cNvSpPr txBox="1"/>
          <p:nvPr/>
        </p:nvSpPr>
        <p:spPr>
          <a:xfrm>
            <a:off x="640080" y="2258568"/>
            <a:ext cx="2560320" cy="640080"/>
          </a:xfrm>
          <a:prstGeom prst="rect">
            <a:avLst/>
          </a:prstGeom>
          <a:noFill/>
          <a:ln/>
        </p:spPr>
        <p:txBody>
          <a:bodyPr wrap="square" lIns="0" tIns="0" rIns="0" bIns="0" rtlCol="0" anchor="ctr"/>
          <a:lstStyle/>
          <a:p>
            <a:pPr algn="ctr" indent="0" marL="0">
              <a:buNone/>
            </a:pPr>
            <a:r>
              <a:rPr lang="en-US" sz="1500" dirty="0">
                <a:solidFill>
                  <a:schemeClr val="tx2"/>
                </a:solidFill>
              </a:rPr>
              <a:t>cuenta: 2 en curso</a:t>
            </a:r>
            <a:endParaRPr lang="en-US" sz="1500" dirty="0"/>
          </a:p>
        </p:txBody>
      </p:sp>
      <p:sp>
        <p:nvSpPr>
          <p:cNvPr id="9" name="caja-1188"/>
          <p:cNvSpPr/>
          <p:nvPr/>
        </p:nvSpPr>
        <p:spPr>
          <a:xfrm>
            <a:off x="548640" y="3127248"/>
            <a:ext cx="2743200" cy="640080"/>
          </a:xfrm>
          <a:prstGeom prst="roundRect">
            <a:avLst>
              <a:gd name="adj" fmla="val 11429"/>
            </a:avLst>
          </a:prstGeom>
          <a:solidFill>
            <a:schemeClr val="bg2"/>
          </a:solidFill>
          <a:ln/>
        </p:spPr>
      </p:sp>
      <p:sp>
        <p:nvSpPr>
          <p:cNvPr id="10" name="caja-t-1189"/>
          <p:cNvSpPr txBox="1"/>
          <p:nvPr/>
        </p:nvSpPr>
        <p:spPr>
          <a:xfrm>
            <a:off x="640080" y="3127248"/>
            <a:ext cx="2560320" cy="640080"/>
          </a:xfrm>
          <a:prstGeom prst="rect">
            <a:avLst/>
          </a:prstGeom>
          <a:noFill/>
          <a:ln/>
        </p:spPr>
        <p:txBody>
          <a:bodyPr wrap="square" lIns="0" tIns="0" rIns="0" bIns="0" rtlCol="0" anchor="ctr"/>
          <a:lstStyle/>
          <a:p>
            <a:pPr algn="ctr" indent="0" marL="0">
              <a:buNone/>
            </a:pPr>
            <a:r>
              <a:rPr lang="en-US" sz="1500" dirty="0">
                <a:solidFill>
                  <a:schemeClr val="tx2"/>
                </a:solidFill>
              </a:rPr>
              <a:t>admite: 2 &lt; 3</a:t>
            </a:r>
            <a:endParaRPr lang="en-US" sz="1500" dirty="0"/>
          </a:p>
        </p:txBody>
      </p:sp>
      <p:sp>
        <p:nvSpPr>
          <p:cNvPr id="11" name="caja-1190"/>
          <p:cNvSpPr/>
          <p:nvPr/>
        </p:nvSpPr>
        <p:spPr>
          <a:xfrm>
            <a:off x="548640" y="3995928"/>
            <a:ext cx="2743200" cy="640080"/>
          </a:xfrm>
          <a:prstGeom prst="roundRect">
            <a:avLst>
              <a:gd name="adj" fmla="val 11429"/>
            </a:avLst>
          </a:prstGeom>
          <a:solidFill>
            <a:schemeClr val="bg2"/>
          </a:solidFill>
          <a:ln/>
        </p:spPr>
      </p:sp>
      <p:sp>
        <p:nvSpPr>
          <p:cNvPr id="12" name="caja-t-1191"/>
          <p:cNvSpPr txBox="1"/>
          <p:nvPr/>
        </p:nvSpPr>
        <p:spPr>
          <a:xfrm>
            <a:off x="640080" y="3995928"/>
            <a:ext cx="2560320" cy="640080"/>
          </a:xfrm>
          <a:prstGeom prst="rect">
            <a:avLst/>
          </a:prstGeom>
          <a:noFill/>
          <a:ln/>
        </p:spPr>
        <p:txBody>
          <a:bodyPr wrap="square" lIns="0" tIns="0" rIns="0" bIns="0" rtlCol="0" anchor="ctr"/>
          <a:lstStyle/>
          <a:p>
            <a:pPr algn="ctr" indent="0" marL="0">
              <a:buNone/>
            </a:pPr>
            <a:r>
              <a:rPr lang="en-US" sz="1500" dirty="0">
                <a:solidFill>
                  <a:schemeClr val="tx2"/>
                </a:solidFill>
              </a:rPr>
              <a:t>guarda EN_CURSO</a:t>
            </a:r>
            <a:endParaRPr lang="en-US" sz="1500" dirty="0"/>
          </a:p>
        </p:txBody>
      </p:sp>
      <p:sp>
        <p:nvSpPr>
          <p:cNvPr id="13" name="caja-1192"/>
          <p:cNvSpPr/>
          <p:nvPr/>
        </p:nvSpPr>
        <p:spPr>
          <a:xfrm>
            <a:off x="3657600" y="1481328"/>
            <a:ext cx="2743200" cy="548640"/>
          </a:xfrm>
          <a:prstGeom prst="roundRect">
            <a:avLst>
              <a:gd name="adj" fmla="val 13333"/>
            </a:avLst>
          </a:prstGeom>
          <a:solidFill>
            <a:schemeClr val="accent4"/>
          </a:solidFill>
          <a:ln/>
        </p:spPr>
      </p:sp>
      <p:sp>
        <p:nvSpPr>
          <p:cNvPr id="14" name="caja-t-1193"/>
          <p:cNvSpPr txBox="1"/>
          <p:nvPr/>
        </p:nvSpPr>
        <p:spPr>
          <a:xfrm>
            <a:off x="3749040" y="1481328"/>
            <a:ext cx="2560320" cy="548640"/>
          </a:xfrm>
          <a:prstGeom prst="rect">
            <a:avLst/>
          </a:prstGeom>
          <a:noFill/>
          <a:ln/>
        </p:spPr>
        <p:txBody>
          <a:bodyPr wrap="square" lIns="0" tIns="0" rIns="0" bIns="0" rtlCol="0" anchor="ctr"/>
          <a:lstStyle/>
          <a:p>
            <a:pPr algn="ctr" indent="0" marL="0">
              <a:buNone/>
            </a:pPr>
            <a:r>
              <a:rPr lang="en-US" sz="1600" b="1" dirty="0">
                <a:solidFill>
                  <a:schemeClr val="bg1"/>
                </a:solidFill>
              </a:rPr>
              <a:t>Solicitud B</a:t>
            </a:r>
            <a:endParaRPr lang="en-US" sz="1600" dirty="0"/>
          </a:p>
        </p:txBody>
      </p:sp>
      <p:sp>
        <p:nvSpPr>
          <p:cNvPr id="15" name="caja-1194"/>
          <p:cNvSpPr/>
          <p:nvPr/>
        </p:nvSpPr>
        <p:spPr>
          <a:xfrm>
            <a:off x="3657600" y="2258568"/>
            <a:ext cx="2743200" cy="640080"/>
          </a:xfrm>
          <a:prstGeom prst="roundRect">
            <a:avLst>
              <a:gd name="adj" fmla="val 11429"/>
            </a:avLst>
          </a:prstGeom>
          <a:solidFill>
            <a:schemeClr val="bg2"/>
          </a:solidFill>
          <a:ln/>
        </p:spPr>
      </p:sp>
      <p:sp>
        <p:nvSpPr>
          <p:cNvPr id="16" name="caja-t-1195"/>
          <p:cNvSpPr txBox="1"/>
          <p:nvPr/>
        </p:nvSpPr>
        <p:spPr>
          <a:xfrm>
            <a:off x="3749040" y="2258568"/>
            <a:ext cx="2560320" cy="640080"/>
          </a:xfrm>
          <a:prstGeom prst="rect">
            <a:avLst/>
          </a:prstGeom>
          <a:noFill/>
          <a:ln/>
        </p:spPr>
        <p:txBody>
          <a:bodyPr wrap="square" lIns="0" tIns="0" rIns="0" bIns="0" rtlCol="0" anchor="ctr"/>
          <a:lstStyle/>
          <a:p>
            <a:pPr algn="ctr" indent="0" marL="0">
              <a:buNone/>
            </a:pPr>
            <a:r>
              <a:rPr lang="en-US" sz="1500" dirty="0">
                <a:solidFill>
                  <a:schemeClr val="tx2"/>
                </a:solidFill>
              </a:rPr>
              <a:t>cuenta: 2 en curso</a:t>
            </a:r>
            <a:endParaRPr lang="en-US" sz="1500" dirty="0"/>
          </a:p>
        </p:txBody>
      </p:sp>
      <p:sp>
        <p:nvSpPr>
          <p:cNvPr id="17" name="caja-1196"/>
          <p:cNvSpPr/>
          <p:nvPr/>
        </p:nvSpPr>
        <p:spPr>
          <a:xfrm>
            <a:off x="3657600" y="3127248"/>
            <a:ext cx="2743200" cy="640080"/>
          </a:xfrm>
          <a:prstGeom prst="roundRect">
            <a:avLst>
              <a:gd name="adj" fmla="val 11429"/>
            </a:avLst>
          </a:prstGeom>
          <a:solidFill>
            <a:schemeClr val="bg2"/>
          </a:solidFill>
          <a:ln/>
        </p:spPr>
      </p:sp>
      <p:sp>
        <p:nvSpPr>
          <p:cNvPr id="18" name="caja-t-1197"/>
          <p:cNvSpPr txBox="1"/>
          <p:nvPr/>
        </p:nvSpPr>
        <p:spPr>
          <a:xfrm>
            <a:off x="3749040" y="3127248"/>
            <a:ext cx="2560320" cy="640080"/>
          </a:xfrm>
          <a:prstGeom prst="rect">
            <a:avLst/>
          </a:prstGeom>
          <a:noFill/>
          <a:ln/>
        </p:spPr>
        <p:txBody>
          <a:bodyPr wrap="square" lIns="0" tIns="0" rIns="0" bIns="0" rtlCol="0" anchor="ctr"/>
          <a:lstStyle/>
          <a:p>
            <a:pPr algn="ctr" indent="0" marL="0">
              <a:buNone/>
            </a:pPr>
            <a:r>
              <a:rPr lang="en-US" sz="1500" dirty="0">
                <a:solidFill>
                  <a:schemeClr val="tx2"/>
                </a:solidFill>
              </a:rPr>
              <a:t>admite: 2 &lt; 3</a:t>
            </a:r>
            <a:endParaRPr lang="en-US" sz="1500" dirty="0"/>
          </a:p>
        </p:txBody>
      </p:sp>
      <p:sp>
        <p:nvSpPr>
          <p:cNvPr id="19" name="caja-1198"/>
          <p:cNvSpPr/>
          <p:nvPr/>
        </p:nvSpPr>
        <p:spPr>
          <a:xfrm>
            <a:off x="3657600" y="3995928"/>
            <a:ext cx="2743200" cy="640080"/>
          </a:xfrm>
          <a:prstGeom prst="roundRect">
            <a:avLst>
              <a:gd name="adj" fmla="val 11429"/>
            </a:avLst>
          </a:prstGeom>
          <a:solidFill>
            <a:schemeClr val="bg2"/>
          </a:solidFill>
          <a:ln/>
        </p:spPr>
      </p:sp>
      <p:sp>
        <p:nvSpPr>
          <p:cNvPr id="20" name="caja-t-1199"/>
          <p:cNvSpPr txBox="1"/>
          <p:nvPr/>
        </p:nvSpPr>
        <p:spPr>
          <a:xfrm>
            <a:off x="3749040" y="3995928"/>
            <a:ext cx="2560320" cy="640080"/>
          </a:xfrm>
          <a:prstGeom prst="rect">
            <a:avLst/>
          </a:prstGeom>
          <a:noFill/>
          <a:ln/>
        </p:spPr>
        <p:txBody>
          <a:bodyPr wrap="square" lIns="0" tIns="0" rIns="0" bIns="0" rtlCol="0" anchor="ctr"/>
          <a:lstStyle/>
          <a:p>
            <a:pPr algn="ctr" indent="0" marL="0">
              <a:buNone/>
            </a:pPr>
            <a:r>
              <a:rPr lang="en-US" sz="1500" dirty="0">
                <a:solidFill>
                  <a:schemeClr val="tx2"/>
                </a:solidFill>
              </a:rPr>
              <a:t>guarda EN_CURSO</a:t>
            </a:r>
            <a:endParaRPr lang="en-US" sz="1500" dirty="0"/>
          </a:p>
        </p:txBody>
      </p:sp>
      <p:sp>
        <p:nvSpPr>
          <p:cNvPr id="21" name="caja-1200"/>
          <p:cNvSpPr/>
          <p:nvPr/>
        </p:nvSpPr>
        <p:spPr>
          <a:xfrm>
            <a:off x="548640" y="4983480"/>
            <a:ext cx="5852160" cy="685800"/>
          </a:xfrm>
          <a:prstGeom prst="roundRect">
            <a:avLst>
              <a:gd name="adj" fmla="val 10667"/>
            </a:avLst>
          </a:prstGeom>
          <a:solidFill>
            <a:schemeClr val="accent1"/>
          </a:solidFill>
          <a:ln/>
        </p:spPr>
      </p:sp>
      <p:sp>
        <p:nvSpPr>
          <p:cNvPr id="22" name="caja-t-1201"/>
          <p:cNvSpPr txBox="1"/>
          <p:nvPr/>
        </p:nvSpPr>
        <p:spPr>
          <a:xfrm>
            <a:off x="640080" y="4983480"/>
            <a:ext cx="5669280" cy="685800"/>
          </a:xfrm>
          <a:prstGeom prst="rect">
            <a:avLst/>
          </a:prstGeom>
          <a:noFill/>
          <a:ln/>
        </p:spPr>
        <p:txBody>
          <a:bodyPr wrap="square" lIns="0" tIns="0" rIns="0" bIns="0" rtlCol="0" anchor="ctr"/>
          <a:lstStyle/>
          <a:p>
            <a:pPr algn="ctr" indent="0" marL="0">
              <a:buNone/>
            </a:pPr>
            <a:r>
              <a:rPr lang="en-US" sz="1800" b="1" dirty="0">
                <a:solidFill>
                  <a:schemeClr val="bg1"/>
                </a:solidFill>
              </a:rPr>
              <a:t>Resultado: 4 tareas en curso</a:t>
            </a:r>
            <a:endParaRPr lang="en-US" sz="1800" dirty="0"/>
          </a:p>
        </p:txBody>
      </p:sp>
      <p:sp>
        <p:nvSpPr>
          <p:cNvPr id="23" name="panel-1202"/>
          <p:cNvSpPr/>
          <p:nvPr/>
        </p:nvSpPr>
        <p:spPr>
          <a:xfrm>
            <a:off x="6766560" y="1481328"/>
            <a:ext cx="4873752" cy="4690872"/>
          </a:xfrm>
          <a:prstGeom prst="roundRect">
            <a:avLst>
              <a:gd name="adj" fmla="val 1949"/>
            </a:avLst>
          </a:prstGeom>
          <a:solidFill>
            <a:schemeClr val="bg2"/>
          </a:solidFill>
          <a:ln/>
        </p:spPr>
      </p:sp>
      <p:sp>
        <p:nvSpPr>
          <p:cNvPr id="24" name="panel-cab-1203"/>
          <p:cNvSpPr/>
          <p:nvPr/>
        </p:nvSpPr>
        <p:spPr>
          <a:xfrm>
            <a:off x="6995160" y="1709928"/>
            <a:ext cx="4416552" cy="548640"/>
          </a:xfrm>
          <a:prstGeom prst="roundRect">
            <a:avLst>
              <a:gd name="adj" fmla="val 13333"/>
            </a:avLst>
          </a:prstGeom>
          <a:solidFill>
            <a:schemeClr val="accent2"/>
          </a:solidFill>
          <a:ln/>
        </p:spPr>
      </p:sp>
      <p:sp>
        <p:nvSpPr>
          <p:cNvPr id="25" name="panel-t-1204"/>
          <p:cNvSpPr txBox="1"/>
          <p:nvPr/>
        </p:nvSpPr>
        <p:spPr>
          <a:xfrm>
            <a:off x="7086600" y="1709928"/>
            <a:ext cx="4233672" cy="548640"/>
          </a:xfrm>
          <a:prstGeom prst="rect">
            <a:avLst/>
          </a:prstGeom>
          <a:noFill/>
          <a:ln/>
        </p:spPr>
        <p:txBody>
          <a:bodyPr wrap="square" lIns="0" tIns="0" rIns="0" bIns="0" rtlCol="0" anchor="ctr"/>
          <a:lstStyle/>
          <a:p>
            <a:pPr indent="0" marL="0">
              <a:buNone/>
            </a:pPr>
            <a:r>
              <a:rPr lang="en-US" sz="1800" b="1" dirty="0">
                <a:solidFill>
                  <a:schemeClr val="bg1"/>
                </a:solidFill>
              </a:rPr>
              <a:t>Soluciones posibles</a:t>
            </a:r>
            <a:endParaRPr lang="en-US" sz="1800" dirty="0"/>
          </a:p>
        </p:txBody>
      </p:sp>
      <p:sp>
        <p:nvSpPr>
          <p:cNvPr id="26" name="lista-1205"/>
          <p:cNvSpPr txBox="1"/>
          <p:nvPr/>
        </p:nvSpPr>
        <p:spPr>
          <a:xfrm>
            <a:off x="7086600" y="2441448"/>
            <a:ext cx="4233672" cy="354787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Bloquear una fila común del tablero (SELECT … FOR UPDATE) antes de contar y mover</a:t>
            </a:r>
            <a:endParaRPr lang="en-US" sz="1500" dirty="0"/>
          </a:p>
          <a:p>
            <a:pPr marL="228600" indent="-228600">
              <a:spcAft>
                <a:spcPts val="800"/>
              </a:spcAft>
              <a:buSzPct val="100000"/>
              <a:buChar char="•"/>
            </a:pPr>
            <a:r>
              <a:rPr lang="en-US" sz="1500" dirty="0">
                <a:solidFill>
                  <a:schemeClr val="tx1"/>
                </a:solidFill>
              </a:rPr>
              <a:t>Aislamiento SERIALIZABLE con reintento ante fallos de serialización</a:t>
            </a:r>
            <a:endParaRPr lang="en-US" sz="1500" dirty="0"/>
          </a:p>
          <a:p>
            <a:pPr marL="228600" indent="-228600">
              <a:spcAft>
                <a:spcPts val="800"/>
              </a:spcAft>
              <a:buSzPct val="100000"/>
              <a:buChar char="•"/>
            </a:pPr>
            <a:r>
              <a:rPr lang="en-US" sz="1500" dirty="0">
                <a:solidFill>
                  <a:schemeClr val="tx1"/>
                </a:solidFill>
              </a:rPr>
              <a:t>Usar el mismo protocolo en todas las entradas a EN_CURSO</a:t>
            </a:r>
            <a:endParaRPr lang="en-US" sz="1500" dirty="0"/>
          </a:p>
          <a:p>
            <a:pPr marL="228600" indent="-228600">
              <a:spcAft>
                <a:spcPts val="800"/>
              </a:spcAft>
              <a:buSzPct val="100000"/>
              <a:buChar char="•"/>
            </a:pPr>
            <a:r>
              <a:rPr lang="en-US" sz="1500" dirty="0">
                <a:solidFill>
                  <a:schemeClr val="tx1"/>
                </a:solidFill>
              </a:rPr>
              <a:t>Demostrarlo con una prueba concurrente contra PostgreSQL real</a:t>
            </a:r>
            <a:endParaRPr lang="en-US" sz="15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18</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Frontend Angular</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Angular 21 standalone y zoneless, estado con signals y arrastrar y soltar con la API nativa de HTML5, sin librerías extra.</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FRONTEND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Estructura del frontend</a:t>
            </a:r>
            <a:endParaRPr lang="en-US" sz="3400" dirty="0"/>
          </a:p>
        </p:txBody>
      </p:sp>
      <p:graphicFrame>
        <p:nvGraphicFramePr>
          <p:cNvPr id="95" name="tabla-1206"/>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560320"/>
                <a:gridCol w="4846320"/>
                <a:gridCol w="3685032"/>
              </a:tblGrid>
              <a:tr h="685800">
                <a:tc>
                  <a:txBody>
                    <a:bodyPr/>
                    <a:lstStyle/>
                    <a:p>
                      <a:pPr indent="0" marL="0">
                        <a:buNone/>
                      </a:pPr>
                      <a:r>
                        <a:rPr lang="en-US" sz="1400" b="1" dirty="0">
                          <a:solidFill>
                            <a:schemeClr val="bg1"/>
                          </a:solidFill>
                        </a:rPr>
                        <a:t>Carpeta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Contenido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685800">
                <a:tc>
                  <a:txBody>
                    <a:bodyPr/>
                    <a:lstStyle/>
                    <a:p>
                      <a:pPr indent="0" marL="0">
                        <a:buNone/>
                      </a:pPr>
                      <a:r>
                        <a:rPr lang="en-US" sz="1400" b="1" dirty="0">
                          <a:solidFill>
                            <a:schemeClr val="tx1"/>
                          </a:solidFill>
                        </a:rPr>
                        <a:t>core/models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tarea.model.ts, api-error.ts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Tipos que reflejan los DTO del backend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core/api</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tarea.api.ts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Único lugar que conoce las rutas HTTP</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85800">
                <a:tc>
                  <a:txBody>
                    <a:bodyPr/>
                    <a:lstStyle/>
                    <a:p>
                      <a:pPr indent="0" marL="0">
                        <a:buNone/>
                      </a:pPr>
                      <a:r>
                        <a:rPr lang="en-US" sz="1400" b="1" dirty="0">
                          <a:solidFill>
                            <a:schemeClr val="tx1"/>
                          </a:solidFill>
                        </a:rPr>
                        <a:t>core/interceptors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error.interceptor.ts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Convierte ApiError en un mensaje legible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shared/ui</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toast, confirm-dialog</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Avisos y confirmación reutilizables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685800">
                <a:tc>
                  <a:txBody>
                    <a:bodyPr/>
                    <a:lstStyle/>
                    <a:p>
                      <a:pPr indent="0" marL="0">
                        <a:buNone/>
                      </a:pPr>
                      <a:r>
                        <a:rPr lang="en-US" sz="1400" b="1" dirty="0">
                          <a:solidFill>
                            <a:schemeClr val="tx1"/>
                          </a:solidFill>
                        </a:rPr>
                        <a:t>features/tareas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tareas.store.ts, pages/tablero, components/tarea-card y tarea-form</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Estado, pantalla y componentes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FRONTEND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Store con signals (patrón Store/Facade)</a:t>
            </a:r>
            <a:endParaRPr lang="en-US" sz="3400" dirty="0"/>
          </a:p>
        </p:txBody>
      </p:sp>
      <p:sp>
        <p:nvSpPr>
          <p:cNvPr id="5" name="codigo-fondo-1207"/>
          <p:cNvSpPr/>
          <p:nvPr/>
        </p:nvSpPr>
        <p:spPr>
          <a:xfrm>
            <a:off x="548640" y="1481328"/>
            <a:ext cx="6400800" cy="4690872"/>
          </a:xfrm>
          <a:prstGeom prst="roundRect">
            <a:avLst>
              <a:gd name="adj" fmla="val 1559"/>
            </a:avLst>
          </a:prstGeom>
          <a:solidFill>
            <a:schemeClr val="tx2"/>
          </a:solidFill>
          <a:ln/>
        </p:spPr>
      </p:sp>
      <p:sp>
        <p:nvSpPr>
          <p:cNvPr id="6" name="codigo-etq-1208"/>
          <p:cNvSpPr txBox="1"/>
          <p:nvPr/>
        </p:nvSpPr>
        <p:spPr>
          <a:xfrm>
            <a:off x="822960" y="1645920"/>
            <a:ext cx="5852160" cy="274320"/>
          </a:xfrm>
          <a:prstGeom prst="rect">
            <a:avLst/>
          </a:prstGeom>
          <a:noFill/>
          <a:ln/>
        </p:spPr>
        <p:txBody>
          <a:bodyPr wrap="square" lIns="0" tIns="0" rIns="0" bIns="0" rtlCol="0" anchor="ctr"/>
          <a:lstStyle/>
          <a:p>
            <a:pPr indent="0" marL="0">
              <a:buNone/>
            </a:pPr>
            <a:r>
              <a:rPr lang="en-US" sz="1100" b="1" dirty="0">
                <a:solidFill>
                  <a:schemeClr val="accent3"/>
                </a:solidFill>
              </a:rPr>
              <a:t>tareas.store.ts (simplificado)</a:t>
            </a:r>
            <a:endParaRPr lang="en-US" sz="1100" dirty="0"/>
          </a:p>
        </p:txBody>
      </p:sp>
      <p:sp>
        <p:nvSpPr>
          <p:cNvPr id="7" name="codigo-1209"/>
          <p:cNvSpPr txBox="1"/>
          <p:nvPr/>
        </p:nvSpPr>
        <p:spPr>
          <a:xfrm>
            <a:off x="822960" y="1984248"/>
            <a:ext cx="5852160" cy="4005072"/>
          </a:xfrm>
          <a:prstGeom prst="rect">
            <a:avLst/>
          </a:prstGeom>
          <a:noFill/>
          <a:ln/>
        </p:spPr>
        <p:txBody>
          <a:bodyPr wrap="square" lIns="0" tIns="0" rIns="0" bIns="0" rtlCol="0" anchor="t"/>
          <a:lstStyle/>
          <a:p>
            <a:pPr indent="0" marL="0">
              <a:buNone/>
            </a:pPr>
            <a:r>
              <a:rPr lang="en-US" sz="1300" dirty="0">
                <a:solidFill>
                  <a:srgbClr val="E8EDF5"/>
                </a:solidFill>
                <a:latin typeface="Courier New" pitchFamily="34" charset="0"/>
                <a:ea typeface="Courier New" pitchFamily="34" charset="-122"/>
                <a:cs typeface="Courier New" pitchFamily="34" charset="-120"/>
              </a:rPr>
              <a:t>readonly tareas = signal&lt;Tarea[]&gt;([]);</a:t>
            </a:r>
            <a:endParaRPr lang="en-US" sz="1300" dirty="0"/>
          </a:p>
          <a:p>
            <a:pPr indent="0" marL="0">
              <a:buNone/>
            </a:pP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readonly tareasPorEstado = computed(() =&gt; {</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const col = { POR_HACER: [], EN_CURSO: [], HECHA: [] };</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for (const t of this.tareas()) col[t.estado].push(t);</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return col;</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mover(id: number, estado: EstadoTarea) {</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return this.api.mover(id, estado).pipe(</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switchMap(() =&gt; this.refrescar()),</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catchError(this.fallar),  // toast + EMPTY</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a:t>
            </a:r>
            <a:endParaRPr lang="en-US" sz="1300" dirty="0"/>
          </a:p>
        </p:txBody>
      </p:sp>
      <p:sp>
        <p:nvSpPr>
          <p:cNvPr id="8" name="lista-1210"/>
          <p:cNvSpPr txBox="1"/>
          <p:nvPr/>
        </p:nvSpPr>
        <p:spPr>
          <a:xfrm>
            <a:off x="7223760" y="1572768"/>
            <a:ext cx="4416552" cy="4572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signal: valor reactivo</a:t>
            </a:r>
            <a:endParaRPr lang="en-US" sz="1600" dirty="0"/>
          </a:p>
          <a:p>
            <a:pPr marL="228600" indent="-228600">
              <a:spcAft>
                <a:spcPts val="800"/>
              </a:spcAft>
              <a:buSzPct val="100000"/>
              <a:buChar char="•"/>
            </a:pPr>
            <a:r>
              <a:rPr lang="en-US" sz="1600" dirty="0">
                <a:solidFill>
                  <a:schemeClr val="tx1"/>
                </a:solidFill>
              </a:rPr>
              <a:t>computed: tareas por columna y resumen (enCursoLleno)</a:t>
            </a:r>
            <a:endParaRPr lang="en-US" sz="1600" dirty="0"/>
          </a:p>
          <a:p>
            <a:pPr marL="228600" indent="-228600">
              <a:spcAft>
                <a:spcPts val="800"/>
              </a:spcAft>
              <a:buSzPct val="100000"/>
              <a:buChar char="•"/>
            </a:pPr>
            <a:r>
              <a:rPr lang="en-US" sz="1600" dirty="0">
                <a:solidFill>
                  <a:schemeClr val="tx1"/>
                </a:solidFill>
              </a:rPr>
              <a:t>Escrituras: llaman a la API y refrescan la lista</a:t>
            </a:r>
            <a:endParaRPr lang="en-US" sz="1600" dirty="0"/>
          </a:p>
          <a:p>
            <a:pPr marL="228600" indent="-228600">
              <a:spcAft>
                <a:spcPts val="800"/>
              </a:spcAft>
              <a:buSzPct val="100000"/>
              <a:buChar char="•"/>
            </a:pPr>
            <a:r>
              <a:rPr lang="en-US" sz="1600" dirty="0">
                <a:solidFill>
                  <a:schemeClr val="tx1"/>
                </a:solidFill>
              </a:rPr>
              <a:t>Errores: toast legible y el flujo se corta</a:t>
            </a:r>
            <a:endParaRPr lang="en-US" sz="1600" dirty="0"/>
          </a:p>
          <a:p>
            <a:pPr marL="228600" indent="-228600">
              <a:spcAft>
                <a:spcPts val="800"/>
              </a:spcAft>
              <a:buSzPct val="100000"/>
              <a:buChar char="•"/>
            </a:pPr>
            <a:r>
              <a:rPr lang="en-US" sz="1600" dirty="0">
                <a:solidFill>
                  <a:schemeClr val="tx1"/>
                </a:solidFill>
              </a:rPr>
              <a:t>8 pruebas con HttpTestingController</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FRONTEND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Arrastrar y soltar con HTML5</a:t>
            </a:r>
            <a:endParaRPr lang="en-US" sz="3400" dirty="0"/>
          </a:p>
        </p:txBody>
      </p:sp>
      <p:sp>
        <p:nvSpPr>
          <p:cNvPr id="5" name="paso-1211"/>
          <p:cNvSpPr/>
          <p:nvPr/>
        </p:nvSpPr>
        <p:spPr>
          <a:xfrm>
            <a:off x="548640" y="1847088"/>
            <a:ext cx="1911645" cy="822960"/>
          </a:xfrm>
          <a:prstGeom prst="roundRect">
            <a:avLst>
              <a:gd name="adj" fmla="val 11111"/>
            </a:avLst>
          </a:prstGeom>
          <a:solidFill>
            <a:schemeClr val="tx2"/>
          </a:solidFill>
          <a:ln/>
        </p:spPr>
      </p:sp>
      <p:sp>
        <p:nvSpPr>
          <p:cNvPr id="6" name="paso-t-1212"/>
          <p:cNvSpPr txBox="1"/>
          <p:nvPr/>
        </p:nvSpPr>
        <p:spPr>
          <a:xfrm>
            <a:off x="621792" y="184708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dragstart</a:t>
            </a:r>
            <a:endParaRPr lang="en-US" sz="1600" dirty="0"/>
          </a:p>
        </p:txBody>
      </p:sp>
      <p:sp>
        <p:nvSpPr>
          <p:cNvPr id="7" name="flecha-1213"/>
          <p:cNvSpPr/>
          <p:nvPr/>
        </p:nvSpPr>
        <p:spPr>
          <a:xfrm>
            <a:off x="2524293" y="2139696"/>
            <a:ext cx="256032" cy="237744"/>
          </a:xfrm>
          <a:prstGeom prst="rightArrow">
            <a:avLst/>
          </a:prstGeom>
          <a:solidFill>
            <a:schemeClr val="accent5"/>
          </a:solidFill>
          <a:ln/>
        </p:spPr>
      </p:sp>
      <p:sp>
        <p:nvSpPr>
          <p:cNvPr id="8" name="paso-d-1214"/>
          <p:cNvSpPr txBox="1"/>
          <p:nvPr/>
        </p:nvSpPr>
        <p:spPr>
          <a:xfrm>
            <a:off x="548640" y="2852928"/>
            <a:ext cx="1911645" cy="1280160"/>
          </a:xfrm>
          <a:prstGeom prst="rect">
            <a:avLst/>
          </a:prstGeom>
          <a:noFill/>
          <a:ln/>
        </p:spPr>
        <p:txBody>
          <a:bodyPr wrap="square" lIns="0" tIns="0" rIns="0" bIns="0" rtlCol="0" anchor="t"/>
          <a:lstStyle/>
          <a:p>
            <a:pPr indent="0" marL="0">
              <a:buNone/>
            </a:pPr>
            <a:r>
              <a:rPr lang="en-US" sz="1500" dirty="0">
                <a:solidFill>
                  <a:schemeClr val="tx1"/>
                </a:solidFill>
              </a:rPr>
              <a:t>La tarjeta guarda su id en dataTransfer</a:t>
            </a:r>
            <a:endParaRPr lang="en-US" sz="1500" dirty="0"/>
          </a:p>
        </p:txBody>
      </p:sp>
      <p:sp>
        <p:nvSpPr>
          <p:cNvPr id="9" name="paso-1215"/>
          <p:cNvSpPr/>
          <p:nvPr/>
        </p:nvSpPr>
        <p:spPr>
          <a:xfrm>
            <a:off x="2844333" y="1847088"/>
            <a:ext cx="1911645" cy="822960"/>
          </a:xfrm>
          <a:prstGeom prst="roundRect">
            <a:avLst>
              <a:gd name="adj" fmla="val 11111"/>
            </a:avLst>
          </a:prstGeom>
          <a:solidFill>
            <a:schemeClr val="tx2"/>
          </a:solidFill>
          <a:ln/>
        </p:spPr>
      </p:sp>
      <p:sp>
        <p:nvSpPr>
          <p:cNvPr id="10" name="paso-t-1216"/>
          <p:cNvSpPr txBox="1"/>
          <p:nvPr/>
        </p:nvSpPr>
        <p:spPr>
          <a:xfrm>
            <a:off x="2917485" y="184708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dragover</a:t>
            </a:r>
            <a:endParaRPr lang="en-US" sz="1600" dirty="0"/>
          </a:p>
        </p:txBody>
      </p:sp>
      <p:sp>
        <p:nvSpPr>
          <p:cNvPr id="11" name="flecha-1217"/>
          <p:cNvSpPr/>
          <p:nvPr/>
        </p:nvSpPr>
        <p:spPr>
          <a:xfrm>
            <a:off x="4819985" y="2139696"/>
            <a:ext cx="256032" cy="237744"/>
          </a:xfrm>
          <a:prstGeom prst="rightArrow">
            <a:avLst/>
          </a:prstGeom>
          <a:solidFill>
            <a:schemeClr val="accent5"/>
          </a:solidFill>
          <a:ln/>
        </p:spPr>
      </p:sp>
      <p:sp>
        <p:nvSpPr>
          <p:cNvPr id="12" name="paso-d-1218"/>
          <p:cNvSpPr txBox="1"/>
          <p:nvPr/>
        </p:nvSpPr>
        <p:spPr>
          <a:xfrm>
            <a:off x="2844333" y="2852928"/>
            <a:ext cx="1911645" cy="1280160"/>
          </a:xfrm>
          <a:prstGeom prst="rect">
            <a:avLst/>
          </a:prstGeom>
          <a:noFill/>
          <a:ln/>
        </p:spPr>
        <p:txBody>
          <a:bodyPr wrap="square" lIns="0" tIns="0" rIns="0" bIns="0" rtlCol="0" anchor="t"/>
          <a:lstStyle/>
          <a:p>
            <a:pPr indent="0" marL="0">
              <a:buNone/>
            </a:pPr>
            <a:r>
              <a:rPr lang="en-US" sz="1500" dirty="0">
                <a:solidFill>
                  <a:schemeClr val="tx1"/>
                </a:solidFill>
              </a:rPr>
              <a:t>La columna llama preventDefault() y se resalta</a:t>
            </a:r>
            <a:endParaRPr lang="en-US" sz="1500" dirty="0"/>
          </a:p>
        </p:txBody>
      </p:sp>
      <p:sp>
        <p:nvSpPr>
          <p:cNvPr id="13" name="paso-1219"/>
          <p:cNvSpPr/>
          <p:nvPr/>
        </p:nvSpPr>
        <p:spPr>
          <a:xfrm>
            <a:off x="5140025" y="1847088"/>
            <a:ext cx="1911645" cy="822960"/>
          </a:xfrm>
          <a:prstGeom prst="roundRect">
            <a:avLst>
              <a:gd name="adj" fmla="val 11111"/>
            </a:avLst>
          </a:prstGeom>
          <a:solidFill>
            <a:schemeClr val="tx2"/>
          </a:solidFill>
          <a:ln/>
        </p:spPr>
      </p:sp>
      <p:sp>
        <p:nvSpPr>
          <p:cNvPr id="14" name="paso-t-1220"/>
          <p:cNvSpPr txBox="1"/>
          <p:nvPr/>
        </p:nvSpPr>
        <p:spPr>
          <a:xfrm>
            <a:off x="5213177" y="184708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drop</a:t>
            </a:r>
            <a:endParaRPr lang="en-US" sz="1600" dirty="0"/>
          </a:p>
        </p:txBody>
      </p:sp>
      <p:sp>
        <p:nvSpPr>
          <p:cNvPr id="15" name="flecha-1221"/>
          <p:cNvSpPr/>
          <p:nvPr/>
        </p:nvSpPr>
        <p:spPr>
          <a:xfrm>
            <a:off x="7115678" y="2139696"/>
            <a:ext cx="256032" cy="237744"/>
          </a:xfrm>
          <a:prstGeom prst="rightArrow">
            <a:avLst/>
          </a:prstGeom>
          <a:solidFill>
            <a:schemeClr val="accent5"/>
          </a:solidFill>
          <a:ln/>
        </p:spPr>
      </p:sp>
      <p:sp>
        <p:nvSpPr>
          <p:cNvPr id="16" name="paso-d-1222"/>
          <p:cNvSpPr txBox="1"/>
          <p:nvPr/>
        </p:nvSpPr>
        <p:spPr>
          <a:xfrm>
            <a:off x="5140025" y="2852928"/>
            <a:ext cx="1911645" cy="1280160"/>
          </a:xfrm>
          <a:prstGeom prst="rect">
            <a:avLst/>
          </a:prstGeom>
          <a:noFill/>
          <a:ln/>
        </p:spPr>
        <p:txBody>
          <a:bodyPr wrap="square" lIns="0" tIns="0" rIns="0" bIns="0" rtlCol="0" anchor="t"/>
          <a:lstStyle/>
          <a:p>
            <a:pPr indent="0" marL="0">
              <a:buNone/>
            </a:pPr>
            <a:r>
              <a:rPr lang="en-US" sz="1500" dirty="0">
                <a:solidFill>
                  <a:schemeClr val="tx1"/>
                </a:solidFill>
              </a:rPr>
              <a:t>Se lee el id y se busca la tarea</a:t>
            </a:r>
            <a:endParaRPr lang="en-US" sz="1500" dirty="0"/>
          </a:p>
        </p:txBody>
      </p:sp>
      <p:sp>
        <p:nvSpPr>
          <p:cNvPr id="17" name="paso-1223"/>
          <p:cNvSpPr/>
          <p:nvPr/>
        </p:nvSpPr>
        <p:spPr>
          <a:xfrm>
            <a:off x="7435718" y="1847088"/>
            <a:ext cx="1911645" cy="822960"/>
          </a:xfrm>
          <a:prstGeom prst="roundRect">
            <a:avLst>
              <a:gd name="adj" fmla="val 11111"/>
            </a:avLst>
          </a:prstGeom>
          <a:solidFill>
            <a:schemeClr val="tx2"/>
          </a:solidFill>
          <a:ln/>
        </p:spPr>
      </p:sp>
      <p:sp>
        <p:nvSpPr>
          <p:cNvPr id="18" name="paso-t-1224"/>
          <p:cNvSpPr txBox="1"/>
          <p:nvPr/>
        </p:nvSpPr>
        <p:spPr>
          <a:xfrm>
            <a:off x="7508870" y="184708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store.mover()</a:t>
            </a:r>
            <a:endParaRPr lang="en-US" sz="1600" dirty="0"/>
          </a:p>
        </p:txBody>
      </p:sp>
      <p:sp>
        <p:nvSpPr>
          <p:cNvPr id="19" name="flecha-1225"/>
          <p:cNvSpPr/>
          <p:nvPr/>
        </p:nvSpPr>
        <p:spPr>
          <a:xfrm>
            <a:off x="9411371" y="2139696"/>
            <a:ext cx="256032" cy="237744"/>
          </a:xfrm>
          <a:prstGeom prst="rightArrow">
            <a:avLst/>
          </a:prstGeom>
          <a:solidFill>
            <a:schemeClr val="accent5"/>
          </a:solidFill>
          <a:ln/>
        </p:spPr>
      </p:sp>
      <p:sp>
        <p:nvSpPr>
          <p:cNvPr id="20" name="paso-d-1226"/>
          <p:cNvSpPr txBox="1"/>
          <p:nvPr/>
        </p:nvSpPr>
        <p:spPr>
          <a:xfrm>
            <a:off x="7435718" y="2852928"/>
            <a:ext cx="1911645" cy="1280160"/>
          </a:xfrm>
          <a:prstGeom prst="rect">
            <a:avLst/>
          </a:prstGeom>
          <a:noFill/>
          <a:ln/>
        </p:spPr>
        <p:txBody>
          <a:bodyPr wrap="square" lIns="0" tIns="0" rIns="0" bIns="0" rtlCol="0" anchor="t"/>
          <a:lstStyle/>
          <a:p>
            <a:pPr indent="0" marL="0">
              <a:buNone/>
            </a:pPr>
            <a:r>
              <a:rPr lang="en-US" sz="1500" dirty="0">
                <a:solidFill>
                  <a:schemeClr val="tx1"/>
                </a:solidFill>
              </a:rPr>
              <a:t>PATCH al backend y refresco de la lista</a:t>
            </a:r>
            <a:endParaRPr lang="en-US" sz="1500" dirty="0"/>
          </a:p>
        </p:txBody>
      </p:sp>
      <p:sp>
        <p:nvSpPr>
          <p:cNvPr id="21" name="paso-1227"/>
          <p:cNvSpPr/>
          <p:nvPr/>
        </p:nvSpPr>
        <p:spPr>
          <a:xfrm>
            <a:off x="9731411" y="1847088"/>
            <a:ext cx="1911645" cy="822960"/>
          </a:xfrm>
          <a:prstGeom prst="roundRect">
            <a:avLst>
              <a:gd name="adj" fmla="val 11111"/>
            </a:avLst>
          </a:prstGeom>
          <a:solidFill>
            <a:schemeClr val="accent1"/>
          </a:solidFill>
          <a:ln/>
        </p:spPr>
      </p:sp>
      <p:sp>
        <p:nvSpPr>
          <p:cNvPr id="22" name="paso-t-1228"/>
          <p:cNvSpPr txBox="1"/>
          <p:nvPr/>
        </p:nvSpPr>
        <p:spPr>
          <a:xfrm>
            <a:off x="9804563" y="1847088"/>
            <a:ext cx="1765341"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¿409?</a:t>
            </a:r>
            <a:endParaRPr lang="en-US" sz="1600" dirty="0"/>
          </a:p>
        </p:txBody>
      </p:sp>
      <p:sp>
        <p:nvSpPr>
          <p:cNvPr id="23" name="paso-d-1229"/>
          <p:cNvSpPr txBox="1"/>
          <p:nvPr/>
        </p:nvSpPr>
        <p:spPr>
          <a:xfrm>
            <a:off x="9731411" y="2852928"/>
            <a:ext cx="1911645" cy="1280160"/>
          </a:xfrm>
          <a:prstGeom prst="rect">
            <a:avLst/>
          </a:prstGeom>
          <a:noFill/>
          <a:ln/>
        </p:spPr>
        <p:txBody>
          <a:bodyPr wrap="square" lIns="0" tIns="0" rIns="0" bIns="0" rtlCol="0" anchor="t"/>
          <a:lstStyle/>
          <a:p>
            <a:pPr indent="0" marL="0">
              <a:buNone/>
            </a:pPr>
            <a:r>
              <a:rPr lang="en-US" sz="1500" dirty="0">
                <a:solidFill>
                  <a:schemeClr val="tx1"/>
                </a:solidFill>
              </a:rPr>
              <a:t>Toast con el motivo; la tarjeta no se mueve</a:t>
            </a:r>
            <a:endParaRPr lang="en-US" sz="1500" dirty="0"/>
          </a:p>
        </p:txBody>
      </p:sp>
      <p:sp>
        <p:nvSpPr>
          <p:cNvPr id="24" name="destacado-1230"/>
          <p:cNvSpPr/>
          <p:nvPr/>
        </p:nvSpPr>
        <p:spPr>
          <a:xfrm>
            <a:off x="548640" y="4937760"/>
            <a:ext cx="11094415" cy="566928"/>
          </a:xfrm>
          <a:prstGeom prst="roundRect">
            <a:avLst>
              <a:gd name="adj" fmla="val 12903"/>
            </a:avLst>
          </a:prstGeom>
          <a:solidFill>
            <a:schemeClr val="tx2"/>
          </a:solidFill>
          <a:ln/>
        </p:spPr>
      </p:sp>
      <p:sp>
        <p:nvSpPr>
          <p:cNvPr id="25" name="destacado-t-1231"/>
          <p:cNvSpPr txBox="1"/>
          <p:nvPr/>
        </p:nvSpPr>
        <p:spPr>
          <a:xfrm>
            <a:off x="822960" y="4937760"/>
            <a:ext cx="10545775" cy="566928"/>
          </a:xfrm>
          <a:prstGeom prst="rect">
            <a:avLst/>
          </a:prstGeom>
          <a:noFill/>
          <a:ln/>
        </p:spPr>
        <p:txBody>
          <a:bodyPr wrap="square" lIns="0" tIns="0" rIns="0" bIns="0" rtlCol="0" anchor="ctr"/>
          <a:lstStyle/>
          <a:p>
            <a:pPr indent="0" marL="0">
              <a:buNone/>
            </a:pPr>
            <a:r>
              <a:rPr lang="en-US" sz="1600" dirty="0">
                <a:solidFill>
                  <a:schemeClr val="bg1"/>
                </a:solidFill>
              </a:rPr>
              <a:t>Accesibilidad: cada tarjeta tiene botones ← → que hacen lo mismo que arrastrar.</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FRONTEND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Interfaz responsiva y coherente con el backend</a:t>
            </a:r>
            <a:endParaRPr lang="en-US" sz="3400" dirty="0"/>
          </a:p>
        </p:txBody>
      </p:sp>
      <p:sp>
        <p:nvSpPr>
          <p:cNvPr id="5" name="tarjeta-1232"/>
          <p:cNvSpPr/>
          <p:nvPr/>
        </p:nvSpPr>
        <p:spPr>
          <a:xfrm>
            <a:off x="548640" y="1481328"/>
            <a:ext cx="3515258" cy="2208276"/>
          </a:xfrm>
          <a:prstGeom prst="roundRect">
            <a:avLst>
              <a:gd name="adj" fmla="val 4141"/>
            </a:avLst>
          </a:prstGeom>
          <a:solidFill>
            <a:schemeClr val="bg2"/>
          </a:solidFill>
          <a:ln/>
        </p:spPr>
      </p:sp>
      <p:sp>
        <p:nvSpPr>
          <p:cNvPr id="6" name="circulo-1233"/>
          <p:cNvSpPr/>
          <p:nvPr/>
        </p:nvSpPr>
        <p:spPr>
          <a:xfrm>
            <a:off x="749808" y="1682496"/>
            <a:ext cx="438912" cy="438912"/>
          </a:xfrm>
          <a:prstGeom prst="ellipse">
            <a:avLst/>
          </a:prstGeom>
          <a:solidFill>
            <a:schemeClr val="accent1"/>
          </a:solidFill>
          <a:ln/>
        </p:spPr>
      </p:sp>
      <p:sp>
        <p:nvSpPr>
          <p:cNvPr id="7" name="num-1234"/>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1235"/>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Sin scroll lateral</a:t>
            </a:r>
            <a:endParaRPr lang="en-US" sz="1700" dirty="0"/>
          </a:p>
        </p:txBody>
      </p:sp>
      <p:sp>
        <p:nvSpPr>
          <p:cNvPr id="9" name="desc-1236"/>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repeat(3, minmax(0, 1fr)); en ≤ 800 px, una columna.</a:t>
            </a:r>
            <a:endParaRPr lang="en-US" sz="1600" dirty="0"/>
          </a:p>
        </p:txBody>
      </p:sp>
      <p:sp>
        <p:nvSpPr>
          <p:cNvPr id="10" name="tarjeta-1237"/>
          <p:cNvSpPr/>
          <p:nvPr/>
        </p:nvSpPr>
        <p:spPr>
          <a:xfrm>
            <a:off x="4338218" y="1481328"/>
            <a:ext cx="3515258" cy="2208276"/>
          </a:xfrm>
          <a:prstGeom prst="roundRect">
            <a:avLst>
              <a:gd name="adj" fmla="val 4141"/>
            </a:avLst>
          </a:prstGeom>
          <a:solidFill>
            <a:schemeClr val="bg2"/>
          </a:solidFill>
          <a:ln/>
        </p:spPr>
      </p:sp>
      <p:sp>
        <p:nvSpPr>
          <p:cNvPr id="11" name="circulo-1238"/>
          <p:cNvSpPr/>
          <p:nvPr/>
        </p:nvSpPr>
        <p:spPr>
          <a:xfrm>
            <a:off x="4539386" y="1682496"/>
            <a:ext cx="438912" cy="438912"/>
          </a:xfrm>
          <a:prstGeom prst="ellipse">
            <a:avLst/>
          </a:prstGeom>
          <a:solidFill>
            <a:schemeClr val="accent3"/>
          </a:solidFill>
          <a:ln/>
        </p:spPr>
      </p:sp>
      <p:sp>
        <p:nvSpPr>
          <p:cNvPr id="12" name="num-1239"/>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1240"/>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Aviso de límite</a:t>
            </a:r>
            <a:endParaRPr lang="en-US" sz="1700" dirty="0"/>
          </a:p>
        </p:txBody>
      </p:sp>
      <p:sp>
        <p:nvSpPr>
          <p:cNvPr id="14" name="desc-1241"/>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En curso muestra "n / 3" y cambia de color al llegar a 3.</a:t>
            </a:r>
            <a:endParaRPr lang="en-US" sz="1600" dirty="0"/>
          </a:p>
        </p:txBody>
      </p:sp>
      <p:sp>
        <p:nvSpPr>
          <p:cNvPr id="15" name="tarjeta-1242"/>
          <p:cNvSpPr/>
          <p:nvPr/>
        </p:nvSpPr>
        <p:spPr>
          <a:xfrm>
            <a:off x="8127797" y="1481328"/>
            <a:ext cx="3515258" cy="2208276"/>
          </a:xfrm>
          <a:prstGeom prst="roundRect">
            <a:avLst>
              <a:gd name="adj" fmla="val 4141"/>
            </a:avLst>
          </a:prstGeom>
          <a:solidFill>
            <a:schemeClr val="bg2"/>
          </a:solidFill>
          <a:ln/>
        </p:spPr>
      </p:sp>
      <p:sp>
        <p:nvSpPr>
          <p:cNvPr id="16" name="circulo-1243"/>
          <p:cNvSpPr/>
          <p:nvPr/>
        </p:nvSpPr>
        <p:spPr>
          <a:xfrm>
            <a:off x="8328965" y="1682496"/>
            <a:ext cx="438912" cy="438912"/>
          </a:xfrm>
          <a:prstGeom prst="ellipse">
            <a:avLst/>
          </a:prstGeom>
          <a:solidFill>
            <a:schemeClr val="accent2"/>
          </a:solidFill>
          <a:ln/>
        </p:spPr>
      </p:sp>
      <p:sp>
        <p:nvSpPr>
          <p:cNvPr id="17" name="num-1244"/>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1245"/>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Validaciones espejo</a:t>
            </a:r>
            <a:endParaRPr lang="en-US" sz="1700" dirty="0"/>
          </a:p>
        </p:txBody>
      </p:sp>
      <p:sp>
        <p:nvSpPr>
          <p:cNvPr id="19" name="desc-1246"/>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Validators replica @NotBlank y @Size del DTO.</a:t>
            </a:r>
            <a:endParaRPr lang="en-US" sz="1600" dirty="0"/>
          </a:p>
        </p:txBody>
      </p:sp>
      <p:sp>
        <p:nvSpPr>
          <p:cNvPr id="20" name="tarjeta-1247"/>
          <p:cNvSpPr/>
          <p:nvPr/>
        </p:nvSpPr>
        <p:spPr>
          <a:xfrm>
            <a:off x="548640" y="3963924"/>
            <a:ext cx="3515258" cy="2208276"/>
          </a:xfrm>
          <a:prstGeom prst="roundRect">
            <a:avLst>
              <a:gd name="adj" fmla="val 4141"/>
            </a:avLst>
          </a:prstGeom>
          <a:solidFill>
            <a:schemeClr val="bg2"/>
          </a:solidFill>
          <a:ln/>
        </p:spPr>
      </p:sp>
      <p:sp>
        <p:nvSpPr>
          <p:cNvPr id="21" name="circulo-1248"/>
          <p:cNvSpPr/>
          <p:nvPr/>
        </p:nvSpPr>
        <p:spPr>
          <a:xfrm>
            <a:off x="749808" y="4165092"/>
            <a:ext cx="438912" cy="438912"/>
          </a:xfrm>
          <a:prstGeom prst="ellipse">
            <a:avLst/>
          </a:prstGeom>
          <a:solidFill>
            <a:schemeClr val="accent4"/>
          </a:solidFill>
          <a:ln/>
        </p:spPr>
      </p:sp>
      <p:sp>
        <p:nvSpPr>
          <p:cNvPr id="22" name="num-1249"/>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1250"/>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Confirmar antes de eliminar</a:t>
            </a:r>
            <a:endParaRPr lang="en-US" sz="1700" dirty="0"/>
          </a:p>
        </p:txBody>
      </p:sp>
      <p:sp>
        <p:nvSpPr>
          <p:cNvPr id="24" name="desc-1251"/>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Diálogo reutilizable ConfirmDialog.</a:t>
            </a:r>
            <a:endParaRPr lang="en-US" sz="1600" dirty="0"/>
          </a:p>
        </p:txBody>
      </p:sp>
      <p:sp>
        <p:nvSpPr>
          <p:cNvPr id="25" name="tarjeta-1252"/>
          <p:cNvSpPr/>
          <p:nvPr/>
        </p:nvSpPr>
        <p:spPr>
          <a:xfrm>
            <a:off x="4338218" y="3963924"/>
            <a:ext cx="3515258" cy="2208276"/>
          </a:xfrm>
          <a:prstGeom prst="roundRect">
            <a:avLst>
              <a:gd name="adj" fmla="val 4141"/>
            </a:avLst>
          </a:prstGeom>
          <a:solidFill>
            <a:schemeClr val="bg2"/>
          </a:solidFill>
          <a:ln/>
        </p:spPr>
      </p:sp>
      <p:sp>
        <p:nvSpPr>
          <p:cNvPr id="26" name="circulo-1253"/>
          <p:cNvSpPr/>
          <p:nvPr/>
        </p:nvSpPr>
        <p:spPr>
          <a:xfrm>
            <a:off x="4539386" y="4165092"/>
            <a:ext cx="438912" cy="438912"/>
          </a:xfrm>
          <a:prstGeom prst="ellipse">
            <a:avLst/>
          </a:prstGeom>
          <a:solidFill>
            <a:schemeClr val="accent6"/>
          </a:solidFill>
          <a:ln/>
        </p:spPr>
      </p:sp>
      <p:sp>
        <p:nvSpPr>
          <p:cNvPr id="27" name="num-1254"/>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1255"/>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Errores legibles</a:t>
            </a:r>
            <a:endParaRPr lang="en-US" sz="1700" dirty="0"/>
          </a:p>
        </p:txBody>
      </p:sp>
      <p:sp>
        <p:nvSpPr>
          <p:cNvPr id="29" name="desc-1256"/>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errorInterceptor + toast con aria-live.</a:t>
            </a:r>
            <a:endParaRPr lang="en-US" sz="1600" dirty="0"/>
          </a:p>
        </p:txBody>
      </p:sp>
      <p:sp>
        <p:nvSpPr>
          <p:cNvPr id="30" name="tarjeta-1257"/>
          <p:cNvSpPr/>
          <p:nvPr/>
        </p:nvSpPr>
        <p:spPr>
          <a:xfrm>
            <a:off x="8127797" y="3963924"/>
            <a:ext cx="3515258" cy="2208276"/>
          </a:xfrm>
          <a:prstGeom prst="roundRect">
            <a:avLst>
              <a:gd name="adj" fmla="val 4141"/>
            </a:avLst>
          </a:prstGeom>
          <a:solidFill>
            <a:schemeClr val="bg2"/>
          </a:solidFill>
          <a:ln/>
        </p:spPr>
      </p:sp>
      <p:sp>
        <p:nvSpPr>
          <p:cNvPr id="31" name="circulo-1258"/>
          <p:cNvSpPr/>
          <p:nvPr/>
        </p:nvSpPr>
        <p:spPr>
          <a:xfrm>
            <a:off x="8328965" y="4165092"/>
            <a:ext cx="438912" cy="438912"/>
          </a:xfrm>
          <a:prstGeom prst="ellipse">
            <a:avLst/>
          </a:prstGeom>
          <a:solidFill>
            <a:schemeClr val="accent5"/>
          </a:solidFill>
          <a:ln/>
        </p:spPr>
      </p:sp>
      <p:sp>
        <p:nvSpPr>
          <p:cNvPr id="32" name="num-1259"/>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1260"/>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Paleta propia</a:t>
            </a:r>
            <a:endParaRPr lang="en-US" sz="1700" dirty="0"/>
          </a:p>
        </p:txBody>
      </p:sp>
      <p:sp>
        <p:nvSpPr>
          <p:cNvPr id="34" name="desc-1261"/>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Índigo, distinta del rojo de la clase 02.</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19</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Calidad y pruebas</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Qué prueba el proyecto hoy, qué falta y cómo mejorar el código sin cambiar su comportamiento.</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CALIDAD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Las pruebas que ya tiene el proyecto</a:t>
            </a:r>
            <a:endParaRPr lang="en-US" sz="3400" dirty="0"/>
          </a:p>
        </p:txBody>
      </p:sp>
      <p:sp>
        <p:nvSpPr>
          <p:cNvPr id="5" name="cifra-1262"/>
          <p:cNvSpPr txBox="1"/>
          <p:nvPr/>
        </p:nvSpPr>
        <p:spPr>
          <a:xfrm>
            <a:off x="548640" y="1481328"/>
            <a:ext cx="2560320" cy="1005840"/>
          </a:xfrm>
          <a:prstGeom prst="rect">
            <a:avLst/>
          </a:prstGeom>
          <a:noFill/>
          <a:ln/>
        </p:spPr>
        <p:txBody>
          <a:bodyPr wrap="square" lIns="0" tIns="0" rIns="0" bIns="0" rtlCol="0" anchor="ctr"/>
          <a:lstStyle/>
          <a:p>
            <a:pPr indent="0" marL="0">
              <a:buNone/>
            </a:pPr>
            <a:r>
              <a:rPr lang="en-US" sz="6000" b="1" dirty="0">
                <a:solidFill>
                  <a:schemeClr val="accent1"/>
                </a:solidFill>
              </a:rPr>
              <a:t>12</a:t>
            </a:r>
            <a:endParaRPr lang="en-US" sz="6000" dirty="0"/>
          </a:p>
        </p:txBody>
      </p:sp>
      <p:sp>
        <p:nvSpPr>
          <p:cNvPr id="6" name="cifra-t-1263"/>
          <p:cNvSpPr txBox="1"/>
          <p:nvPr/>
        </p:nvSpPr>
        <p:spPr>
          <a:xfrm>
            <a:off x="548640" y="2487168"/>
            <a:ext cx="2560320" cy="822960"/>
          </a:xfrm>
          <a:prstGeom prst="rect">
            <a:avLst/>
          </a:prstGeom>
          <a:noFill/>
          <a:ln/>
        </p:spPr>
        <p:txBody>
          <a:bodyPr wrap="square" lIns="0" tIns="0" rIns="0" bIns="0" rtlCol="0" anchor="t"/>
          <a:lstStyle/>
          <a:p>
            <a:pPr indent="0" marL="0">
              <a:buNone/>
            </a:pPr>
            <a:r>
              <a:rPr lang="en-US" sz="1500" dirty="0">
                <a:solidFill>
                  <a:schemeClr val="tx1"/>
                </a:solidFill>
              </a:rPr>
              <a:t>pruebas del service con Mockito</a:t>
            </a:r>
            <a:endParaRPr lang="en-US" sz="1500" dirty="0"/>
          </a:p>
        </p:txBody>
      </p:sp>
      <p:sp>
        <p:nvSpPr>
          <p:cNvPr id="7" name="cifra-1264"/>
          <p:cNvSpPr txBox="1"/>
          <p:nvPr/>
        </p:nvSpPr>
        <p:spPr>
          <a:xfrm>
            <a:off x="3383280" y="1481328"/>
            <a:ext cx="2560320" cy="1005840"/>
          </a:xfrm>
          <a:prstGeom prst="rect">
            <a:avLst/>
          </a:prstGeom>
          <a:noFill/>
          <a:ln/>
        </p:spPr>
        <p:txBody>
          <a:bodyPr wrap="square" lIns="0" tIns="0" rIns="0" bIns="0" rtlCol="0" anchor="ctr"/>
          <a:lstStyle/>
          <a:p>
            <a:pPr indent="0" marL="0">
              <a:buNone/>
            </a:pPr>
            <a:r>
              <a:rPr lang="en-US" sz="6000" b="1" dirty="0">
                <a:solidFill>
                  <a:schemeClr val="accent2"/>
                </a:solidFill>
              </a:rPr>
              <a:t>8</a:t>
            </a:r>
            <a:endParaRPr lang="en-US" sz="6000" dirty="0"/>
          </a:p>
        </p:txBody>
      </p:sp>
      <p:sp>
        <p:nvSpPr>
          <p:cNvPr id="8" name="cifra-t-1265"/>
          <p:cNvSpPr txBox="1"/>
          <p:nvPr/>
        </p:nvSpPr>
        <p:spPr>
          <a:xfrm>
            <a:off x="3383280" y="2487168"/>
            <a:ext cx="2560320" cy="822960"/>
          </a:xfrm>
          <a:prstGeom prst="rect">
            <a:avLst/>
          </a:prstGeom>
          <a:noFill/>
          <a:ln/>
        </p:spPr>
        <p:txBody>
          <a:bodyPr wrap="square" lIns="0" tIns="0" rIns="0" bIns="0" rtlCol="0" anchor="t"/>
          <a:lstStyle/>
          <a:p>
            <a:pPr indent="0" marL="0">
              <a:buNone/>
            </a:pPr>
            <a:r>
              <a:rPr lang="en-US" sz="1500" dirty="0">
                <a:solidFill>
                  <a:schemeClr val="tx1"/>
                </a:solidFill>
              </a:rPr>
              <a:t>pruebas web con MockMvc y @MockitoBean</a:t>
            </a:r>
            <a:endParaRPr lang="en-US" sz="1500" dirty="0"/>
          </a:p>
        </p:txBody>
      </p:sp>
      <p:sp>
        <p:nvSpPr>
          <p:cNvPr id="9" name="cifra-1266"/>
          <p:cNvSpPr txBox="1"/>
          <p:nvPr/>
        </p:nvSpPr>
        <p:spPr>
          <a:xfrm>
            <a:off x="6217920" y="1481328"/>
            <a:ext cx="2560320" cy="1005840"/>
          </a:xfrm>
          <a:prstGeom prst="rect">
            <a:avLst/>
          </a:prstGeom>
          <a:noFill/>
          <a:ln/>
        </p:spPr>
        <p:txBody>
          <a:bodyPr wrap="square" lIns="0" tIns="0" rIns="0" bIns="0" rtlCol="0" anchor="ctr"/>
          <a:lstStyle/>
          <a:p>
            <a:pPr indent="0" marL="0">
              <a:buNone/>
            </a:pPr>
            <a:r>
              <a:rPr lang="en-US" sz="6000" b="1" dirty="0">
                <a:solidFill>
                  <a:schemeClr val="accent4"/>
                </a:solidFill>
              </a:rPr>
              <a:t>8</a:t>
            </a:r>
            <a:endParaRPr lang="en-US" sz="6000" dirty="0"/>
          </a:p>
        </p:txBody>
      </p:sp>
      <p:sp>
        <p:nvSpPr>
          <p:cNvPr id="10" name="cifra-t-1267"/>
          <p:cNvSpPr txBox="1"/>
          <p:nvPr/>
        </p:nvSpPr>
        <p:spPr>
          <a:xfrm>
            <a:off x="6217920" y="2487168"/>
            <a:ext cx="2560320" cy="822960"/>
          </a:xfrm>
          <a:prstGeom prst="rect">
            <a:avLst/>
          </a:prstGeom>
          <a:noFill/>
          <a:ln/>
        </p:spPr>
        <p:txBody>
          <a:bodyPr wrap="square" lIns="0" tIns="0" rIns="0" bIns="0" rtlCol="0" anchor="t"/>
          <a:lstStyle/>
          <a:p>
            <a:pPr indent="0" marL="0">
              <a:buNone/>
            </a:pPr>
            <a:r>
              <a:rPr lang="en-US" sz="1500" dirty="0">
                <a:solidFill>
                  <a:schemeClr val="tx1"/>
                </a:solidFill>
              </a:rPr>
              <a:t>pruebas del store Angular con Vitest</a:t>
            </a:r>
            <a:endParaRPr lang="en-US" sz="1500" dirty="0"/>
          </a:p>
        </p:txBody>
      </p:sp>
      <p:sp>
        <p:nvSpPr>
          <p:cNvPr id="11" name="cifra-1268"/>
          <p:cNvSpPr txBox="1"/>
          <p:nvPr/>
        </p:nvSpPr>
        <p:spPr>
          <a:xfrm>
            <a:off x="9052560" y="1481328"/>
            <a:ext cx="2560320" cy="1005840"/>
          </a:xfrm>
          <a:prstGeom prst="rect">
            <a:avLst/>
          </a:prstGeom>
          <a:noFill/>
          <a:ln/>
        </p:spPr>
        <p:txBody>
          <a:bodyPr wrap="square" lIns="0" tIns="0" rIns="0" bIns="0" rtlCol="0" anchor="ctr"/>
          <a:lstStyle/>
          <a:p>
            <a:pPr indent="0" marL="0">
              <a:buNone/>
            </a:pPr>
            <a:r>
              <a:rPr lang="en-US" sz="6000" b="1" dirty="0">
                <a:solidFill>
                  <a:schemeClr val="accent5"/>
                </a:solidFill>
              </a:rPr>
              <a:t>0</a:t>
            </a:r>
            <a:endParaRPr lang="en-US" sz="6000" dirty="0"/>
          </a:p>
        </p:txBody>
      </p:sp>
      <p:sp>
        <p:nvSpPr>
          <p:cNvPr id="12" name="cifra-t-1269"/>
          <p:cNvSpPr txBox="1"/>
          <p:nvPr/>
        </p:nvSpPr>
        <p:spPr>
          <a:xfrm>
            <a:off x="9052560" y="2487168"/>
            <a:ext cx="2560320" cy="822960"/>
          </a:xfrm>
          <a:prstGeom prst="rect">
            <a:avLst/>
          </a:prstGeom>
          <a:noFill/>
          <a:ln/>
        </p:spPr>
        <p:txBody>
          <a:bodyPr wrap="square" lIns="0" tIns="0" rIns="0" bIns="0" rtlCol="0" anchor="t"/>
          <a:lstStyle/>
          <a:p>
            <a:pPr indent="0" marL="0">
              <a:buNone/>
            </a:pPr>
            <a:r>
              <a:rPr lang="en-US" sz="1500" dirty="0">
                <a:solidFill>
                  <a:schemeClr val="tx1"/>
                </a:solidFill>
              </a:rPr>
              <a:t>pruebas contra PostgreSQL real (pendiente)</a:t>
            </a:r>
            <a:endParaRPr lang="en-US" sz="1500" dirty="0"/>
          </a:p>
        </p:txBody>
      </p:sp>
      <p:graphicFrame>
        <p:nvGraphicFramePr>
          <p:cNvPr id="100" name="tabla-1270"/>
          <p:cNvGraphicFramePr>
            <a:graphicFrameLocks noGrp="1"/>
          </p:cNvGraphicFramePr>
          <p:nvPr>
            <p:extLst>
              <p:ext uri="{D42A27DB-BD31-4B8C-83A1-F6EECF244321}">
                <p14:modId xmlns:p14="http://schemas.microsoft.com/office/powerpoint/2010/main" val="1579011935"/>
              </p:ext>
            </p:extLst>
          </p:nvPr>
        </p:nvGraphicFramePr>
        <p:xfrm>
          <a:off x="548640" y="3611880"/>
          <a:ext cx="11094415" cy="914400"/>
        </p:xfrm>
        <a:graphic>
          <a:graphicData uri="http://schemas.openxmlformats.org/drawingml/2006/table">
            <a:tbl>
              <a:tblPr/>
              <a:tblGrid>
                <a:gridCol w="2560320"/>
                <a:gridCol w="4937760"/>
                <a:gridCol w="3593592"/>
              </a:tblGrid>
              <a:tr h="512064">
                <a:tc>
                  <a:txBody>
                    <a:bodyPr/>
                    <a:lstStyle/>
                    <a:p>
                      <a:pPr indent="0" marL="0">
                        <a:buNone/>
                      </a:pPr>
                      <a:r>
                        <a:rPr lang="en-US" sz="1400" b="1" dirty="0">
                          <a:solidFill>
                            <a:schemeClr val="bg1"/>
                          </a:solidFill>
                        </a:rPr>
                        <a:t>Nivel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Qué prueba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Situación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tx1"/>
                          </a:solidFill>
                        </a:rPr>
                        <a:t>Unitario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Transiciones y cupo secuencial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12 pruebas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Web</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Contrato, validación y errores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 pruebas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Integración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Flyway, JPA y PostgreSQL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Pendiente: Testcontainers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Concurrencia / E2E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Cupo simultáneo y recorrido completo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Pendiente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CALIDAD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Clean code: transiciones explícitas</a:t>
            </a:r>
            <a:endParaRPr lang="en-US" sz="3400" dirty="0"/>
          </a:p>
        </p:txBody>
      </p:sp>
      <p:sp>
        <p:nvSpPr>
          <p:cNvPr id="5" name="codigo-fondo-1271"/>
          <p:cNvSpPr/>
          <p:nvPr/>
        </p:nvSpPr>
        <p:spPr>
          <a:xfrm>
            <a:off x="548640" y="1481328"/>
            <a:ext cx="5394960" cy="1828800"/>
          </a:xfrm>
          <a:prstGeom prst="roundRect">
            <a:avLst>
              <a:gd name="adj" fmla="val 4000"/>
            </a:avLst>
          </a:prstGeom>
          <a:solidFill>
            <a:schemeClr val="tx2"/>
          </a:solidFill>
          <a:ln/>
        </p:spPr>
      </p:sp>
      <p:sp>
        <p:nvSpPr>
          <p:cNvPr id="6" name="codigo-etq-1272"/>
          <p:cNvSpPr txBox="1"/>
          <p:nvPr/>
        </p:nvSpPr>
        <p:spPr>
          <a:xfrm>
            <a:off x="822960" y="1645920"/>
            <a:ext cx="4846320" cy="274320"/>
          </a:xfrm>
          <a:prstGeom prst="rect">
            <a:avLst/>
          </a:prstGeom>
          <a:noFill/>
          <a:ln/>
        </p:spPr>
        <p:txBody>
          <a:bodyPr wrap="square" lIns="0" tIns="0" rIns="0" bIns="0" rtlCol="0" anchor="ctr"/>
          <a:lstStyle/>
          <a:p>
            <a:pPr indent="0" marL="0">
              <a:buNone/>
            </a:pPr>
            <a:r>
              <a:rPr lang="en-US" sz="1100" b="1" dirty="0">
                <a:solidFill>
                  <a:schemeClr val="accent3"/>
                </a:solidFill>
              </a:rPr>
              <a:t>ACTUAL</a:t>
            </a:r>
            <a:endParaRPr lang="en-US" sz="1100" dirty="0"/>
          </a:p>
        </p:txBody>
      </p:sp>
      <p:sp>
        <p:nvSpPr>
          <p:cNvPr id="7" name="codigo-1273"/>
          <p:cNvSpPr txBox="1"/>
          <p:nvPr/>
        </p:nvSpPr>
        <p:spPr>
          <a:xfrm>
            <a:off x="822960" y="1984248"/>
            <a:ext cx="4846320" cy="1143000"/>
          </a:xfrm>
          <a:prstGeom prst="rect">
            <a:avLst/>
          </a:prstGeom>
          <a:noFill/>
          <a:ln/>
        </p:spPr>
        <p:txBody>
          <a:bodyPr wrap="square" lIns="0" tIns="0" rIns="0" bIns="0" rtlCol="0" anchor="t"/>
          <a:lstStyle/>
          <a:p>
            <a:pPr indent="0" marL="0">
              <a:buNone/>
            </a:pPr>
            <a:r>
              <a:rPr lang="en-US" sz="1500" dirty="0">
                <a:solidFill>
                  <a:srgbClr val="E8EDF5"/>
                </a:solidFill>
                <a:latin typeface="Courier New" pitchFamily="34" charset="0"/>
                <a:ea typeface="Courier New" pitchFamily="34" charset="-122"/>
                <a:cs typeface="Courier New" pitchFamily="34" charset="-120"/>
              </a:rPr>
              <a:t>// Actual: depende del orden del enum</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Math.abs(destino.ordinal()</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 origen.ordinal()) != 1</a:t>
            </a:r>
            <a:endParaRPr lang="en-US" sz="1500" dirty="0"/>
          </a:p>
        </p:txBody>
      </p:sp>
      <p:sp>
        <p:nvSpPr>
          <p:cNvPr id="8" name="codigo-fondo-1274"/>
          <p:cNvSpPr/>
          <p:nvPr/>
        </p:nvSpPr>
        <p:spPr>
          <a:xfrm>
            <a:off x="6245352" y="1481328"/>
            <a:ext cx="5394960" cy="4690872"/>
          </a:xfrm>
          <a:prstGeom prst="roundRect">
            <a:avLst>
              <a:gd name="adj" fmla="val 1559"/>
            </a:avLst>
          </a:prstGeom>
          <a:solidFill>
            <a:schemeClr val="tx2"/>
          </a:solidFill>
          <a:ln/>
        </p:spPr>
      </p:sp>
      <p:sp>
        <p:nvSpPr>
          <p:cNvPr id="9" name="codigo-etq-1275"/>
          <p:cNvSpPr txBox="1"/>
          <p:nvPr/>
        </p:nvSpPr>
        <p:spPr>
          <a:xfrm>
            <a:off x="6519672" y="1645920"/>
            <a:ext cx="4846320" cy="274320"/>
          </a:xfrm>
          <a:prstGeom prst="rect">
            <a:avLst/>
          </a:prstGeom>
          <a:noFill/>
          <a:ln/>
        </p:spPr>
        <p:txBody>
          <a:bodyPr wrap="square" lIns="0" tIns="0" rIns="0" bIns="0" rtlCol="0" anchor="ctr"/>
          <a:lstStyle/>
          <a:p>
            <a:pPr indent="0" marL="0">
              <a:buNone/>
            </a:pPr>
            <a:r>
              <a:rPr lang="en-US" sz="1100" b="1" dirty="0">
                <a:solidFill>
                  <a:schemeClr val="accent3"/>
                </a:solidFill>
              </a:rPr>
              <a:t>PROPUESTA</a:t>
            </a:r>
            <a:endParaRPr lang="en-US" sz="1100" dirty="0"/>
          </a:p>
        </p:txBody>
      </p:sp>
      <p:sp>
        <p:nvSpPr>
          <p:cNvPr id="10" name="codigo-1276"/>
          <p:cNvSpPr txBox="1"/>
          <p:nvPr/>
        </p:nvSpPr>
        <p:spPr>
          <a:xfrm>
            <a:off x="6519672" y="1984248"/>
            <a:ext cx="4846320" cy="4005072"/>
          </a:xfrm>
          <a:prstGeom prst="rect">
            <a:avLst/>
          </a:prstGeom>
          <a:noFill/>
          <a:ln/>
        </p:spPr>
        <p:txBody>
          <a:bodyPr wrap="square" lIns="0" tIns="0" rIns="0" bIns="0" rtlCol="0" anchor="t"/>
          <a:lstStyle/>
          <a:p>
            <a:pPr indent="0" marL="0">
              <a:buNone/>
            </a:pPr>
            <a:r>
              <a:rPr lang="en-US" sz="1500" dirty="0">
                <a:solidFill>
                  <a:srgbClr val="E8EDF5"/>
                </a:solidFill>
                <a:latin typeface="Courier New" pitchFamily="34" charset="0"/>
                <a:ea typeface="Courier New" pitchFamily="34" charset="-122"/>
                <a:cs typeface="Courier New" pitchFamily="34" charset="-120"/>
              </a:rPr>
              <a:t>boolean esTransicionValida(</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EstadoTarea origen,</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EstadoTarea destino) {</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return switch (origen) {</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case POR_HACER, HECHA -&gt;</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destino == EN_CURSO;</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case EN_CURSO -&gt;</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destino == POR_HACER</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 destino == HECHA;</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a:t>
            </a:r>
            <a:endParaRPr lang="en-US" sz="1500" dirty="0"/>
          </a:p>
        </p:txBody>
      </p:sp>
      <p:sp>
        <p:nvSpPr>
          <p:cNvPr id="11" name="lista-1277"/>
          <p:cNvSpPr txBox="1"/>
          <p:nvPr/>
        </p:nvSpPr>
        <p:spPr>
          <a:xfrm>
            <a:off x="548640" y="3611880"/>
            <a:ext cx="5394960" cy="24688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Intención visible en el código</a:t>
            </a:r>
            <a:endParaRPr lang="en-US" sz="1600" dirty="0"/>
          </a:p>
          <a:p>
            <a:pPr marL="228600" indent="-228600">
              <a:spcAft>
                <a:spcPts val="800"/>
              </a:spcAft>
              <a:buSzPct val="100000"/>
              <a:buChar char="•"/>
            </a:pPr>
            <a:r>
              <a:rPr lang="en-US" sz="1600" dirty="0">
                <a:solidFill>
                  <a:schemeClr val="tx1"/>
                </a:solidFill>
              </a:rPr>
              <a:t>Agregar un estado obliga a decidir sus transiciones</a:t>
            </a:r>
            <a:endParaRPr lang="en-US" sz="1600" dirty="0"/>
          </a:p>
          <a:p>
            <a:pPr marL="228600" indent="-228600">
              <a:spcAft>
                <a:spcPts val="800"/>
              </a:spcAft>
              <a:buSzPct val="100000"/>
              <a:buChar char="•"/>
            </a:pPr>
            <a:r>
              <a:rPr lang="en-US" sz="1600" dirty="0">
                <a:solidFill>
                  <a:schemeClr val="tx1"/>
                </a:solidFill>
              </a:rPr>
              <a:t>Mismo resultado: 4 válidas, 5 inválidas</a:t>
            </a:r>
            <a:endParaRPr lang="en-US" sz="1600" dirty="0"/>
          </a:p>
          <a:p>
            <a:pPr marL="228600" indent="-228600">
              <a:spcAft>
                <a:spcPts val="800"/>
              </a:spcAft>
              <a:buSzPct val="100000"/>
              <a:buChar char="•"/>
            </a:pPr>
            <a:r>
              <a:rPr lang="en-US" sz="1600" dirty="0">
                <a:solidFill>
                  <a:schemeClr val="tx1"/>
                </a:solidFill>
              </a:rPr>
              <a:t>Refactor protegido por pruebas</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CALIDAD</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Ejercicio en parejas</a:t>
            </a:r>
            <a:endParaRPr lang="en-US" sz="3400" dirty="0"/>
          </a:p>
        </p:txBody>
      </p:sp>
      <p:sp>
        <p:nvSpPr>
          <p:cNvPr id="5" name="paso-1278"/>
          <p:cNvSpPr/>
          <p:nvPr/>
        </p:nvSpPr>
        <p:spPr>
          <a:xfrm>
            <a:off x="548640" y="1847088"/>
            <a:ext cx="2485568" cy="822960"/>
          </a:xfrm>
          <a:prstGeom prst="roundRect">
            <a:avLst>
              <a:gd name="adj" fmla="val 11111"/>
            </a:avLst>
          </a:prstGeom>
          <a:solidFill>
            <a:schemeClr val="tx2"/>
          </a:solidFill>
          <a:ln/>
        </p:spPr>
      </p:sp>
      <p:sp>
        <p:nvSpPr>
          <p:cNvPr id="6" name="paso-t-1279"/>
          <p:cNvSpPr txBox="1"/>
          <p:nvPr/>
        </p:nvSpPr>
        <p:spPr>
          <a:xfrm>
            <a:off x="621792"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Caso</a:t>
            </a:r>
            <a:endParaRPr lang="en-US" sz="1600" dirty="0"/>
          </a:p>
        </p:txBody>
      </p:sp>
      <p:sp>
        <p:nvSpPr>
          <p:cNvPr id="7" name="flecha-1280"/>
          <p:cNvSpPr/>
          <p:nvPr/>
        </p:nvSpPr>
        <p:spPr>
          <a:xfrm>
            <a:off x="3098216" y="2139696"/>
            <a:ext cx="256032" cy="237744"/>
          </a:xfrm>
          <a:prstGeom prst="rightArrow">
            <a:avLst/>
          </a:prstGeom>
          <a:solidFill>
            <a:schemeClr val="accent5"/>
          </a:solidFill>
          <a:ln/>
        </p:spPr>
      </p:sp>
      <p:sp>
        <p:nvSpPr>
          <p:cNvPr id="8" name="paso-d-1281"/>
          <p:cNvSpPr txBox="1"/>
          <p:nvPr/>
        </p:nvSpPr>
        <p:spPr>
          <a:xfrm>
            <a:off x="548640"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Una tarea HECHA intenta volver a EN_CURSO sin cupo</a:t>
            </a:r>
            <a:endParaRPr lang="en-US" sz="1500" dirty="0"/>
          </a:p>
        </p:txBody>
      </p:sp>
      <p:sp>
        <p:nvSpPr>
          <p:cNvPr id="9" name="paso-1282"/>
          <p:cNvSpPr/>
          <p:nvPr/>
        </p:nvSpPr>
        <p:spPr>
          <a:xfrm>
            <a:off x="3418256" y="1847088"/>
            <a:ext cx="2485568" cy="822960"/>
          </a:xfrm>
          <a:prstGeom prst="roundRect">
            <a:avLst>
              <a:gd name="adj" fmla="val 11111"/>
            </a:avLst>
          </a:prstGeom>
          <a:solidFill>
            <a:schemeClr val="tx2"/>
          </a:solidFill>
          <a:ln/>
        </p:spPr>
      </p:sp>
      <p:sp>
        <p:nvSpPr>
          <p:cNvPr id="10" name="paso-t-1283"/>
          <p:cNvSpPr txBox="1"/>
          <p:nvPr/>
        </p:nvSpPr>
        <p:spPr>
          <a:xfrm>
            <a:off x="3491408"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Preparar</a:t>
            </a:r>
            <a:endParaRPr lang="en-US" sz="1600" dirty="0"/>
          </a:p>
        </p:txBody>
      </p:sp>
      <p:sp>
        <p:nvSpPr>
          <p:cNvPr id="11" name="flecha-1284"/>
          <p:cNvSpPr/>
          <p:nvPr/>
        </p:nvSpPr>
        <p:spPr>
          <a:xfrm>
            <a:off x="5967832" y="2139696"/>
            <a:ext cx="256032" cy="237744"/>
          </a:xfrm>
          <a:prstGeom prst="rightArrow">
            <a:avLst/>
          </a:prstGeom>
          <a:solidFill>
            <a:schemeClr val="accent5"/>
          </a:solidFill>
          <a:ln/>
        </p:spPr>
      </p:sp>
      <p:sp>
        <p:nvSpPr>
          <p:cNvPr id="12" name="paso-d-1285"/>
          <p:cNvSpPr txBox="1"/>
          <p:nvPr/>
        </p:nvSpPr>
        <p:spPr>
          <a:xfrm>
            <a:off x="3418256"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Simular que ya existen 3 tareas en curso</a:t>
            </a:r>
            <a:endParaRPr lang="en-US" sz="1500" dirty="0"/>
          </a:p>
        </p:txBody>
      </p:sp>
      <p:sp>
        <p:nvSpPr>
          <p:cNvPr id="13" name="paso-1286"/>
          <p:cNvSpPr/>
          <p:nvPr/>
        </p:nvSpPr>
        <p:spPr>
          <a:xfrm>
            <a:off x="6287872" y="1847088"/>
            <a:ext cx="2485568" cy="822960"/>
          </a:xfrm>
          <a:prstGeom prst="roundRect">
            <a:avLst>
              <a:gd name="adj" fmla="val 11111"/>
            </a:avLst>
          </a:prstGeom>
          <a:solidFill>
            <a:schemeClr val="tx2"/>
          </a:solidFill>
          <a:ln/>
        </p:spPr>
      </p:sp>
      <p:sp>
        <p:nvSpPr>
          <p:cNvPr id="14" name="paso-t-1287"/>
          <p:cNvSpPr txBox="1"/>
          <p:nvPr/>
        </p:nvSpPr>
        <p:spPr>
          <a:xfrm>
            <a:off x="6361024"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Ejecutar</a:t>
            </a:r>
            <a:endParaRPr lang="en-US" sz="1600" dirty="0"/>
          </a:p>
        </p:txBody>
      </p:sp>
      <p:sp>
        <p:nvSpPr>
          <p:cNvPr id="15" name="flecha-1288"/>
          <p:cNvSpPr/>
          <p:nvPr/>
        </p:nvSpPr>
        <p:spPr>
          <a:xfrm>
            <a:off x="8837447" y="2139696"/>
            <a:ext cx="256032" cy="237744"/>
          </a:xfrm>
          <a:prstGeom prst="rightArrow">
            <a:avLst/>
          </a:prstGeom>
          <a:solidFill>
            <a:schemeClr val="accent5"/>
          </a:solidFill>
          <a:ln/>
        </p:spPr>
      </p:sp>
      <p:sp>
        <p:nvSpPr>
          <p:cNvPr id="16" name="paso-d-1289"/>
          <p:cNvSpPr txBox="1"/>
          <p:nvPr/>
        </p:nvSpPr>
        <p:spPr>
          <a:xfrm>
            <a:off x="6287872"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Llamar a service.mover(id, EN_CURSO)</a:t>
            </a:r>
            <a:endParaRPr lang="en-US" sz="1500" dirty="0"/>
          </a:p>
        </p:txBody>
      </p:sp>
      <p:sp>
        <p:nvSpPr>
          <p:cNvPr id="17" name="paso-1290"/>
          <p:cNvSpPr/>
          <p:nvPr/>
        </p:nvSpPr>
        <p:spPr>
          <a:xfrm>
            <a:off x="9157487" y="1847088"/>
            <a:ext cx="2485568" cy="822960"/>
          </a:xfrm>
          <a:prstGeom prst="roundRect">
            <a:avLst>
              <a:gd name="adj" fmla="val 11111"/>
            </a:avLst>
          </a:prstGeom>
          <a:solidFill>
            <a:schemeClr val="accent1"/>
          </a:solidFill>
          <a:ln/>
        </p:spPr>
      </p:sp>
      <p:sp>
        <p:nvSpPr>
          <p:cNvPr id="18" name="paso-t-1291"/>
          <p:cNvSpPr txBox="1"/>
          <p:nvPr/>
        </p:nvSpPr>
        <p:spPr>
          <a:xfrm>
            <a:off x="9230639"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Verificar</a:t>
            </a:r>
            <a:endParaRPr lang="en-US" sz="1600" dirty="0"/>
          </a:p>
        </p:txBody>
      </p:sp>
      <p:sp>
        <p:nvSpPr>
          <p:cNvPr id="19" name="paso-d-1292"/>
          <p:cNvSpPr txBox="1"/>
          <p:nvPr/>
        </p:nvSpPr>
        <p:spPr>
          <a:xfrm>
            <a:off x="9157487"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Se lanza la excepción de cupo y nunca se llama a save()</a:t>
            </a:r>
            <a:endParaRPr lang="en-US" sz="1500" dirty="0"/>
          </a:p>
        </p:txBody>
      </p:sp>
      <p:sp>
        <p:nvSpPr>
          <p:cNvPr id="20" name="codigo-fondo-1293"/>
          <p:cNvSpPr/>
          <p:nvPr/>
        </p:nvSpPr>
        <p:spPr>
          <a:xfrm>
            <a:off x="548640" y="4206240"/>
            <a:ext cx="11094415" cy="1463040"/>
          </a:xfrm>
          <a:prstGeom prst="roundRect">
            <a:avLst>
              <a:gd name="adj" fmla="val 5000"/>
            </a:avLst>
          </a:prstGeom>
          <a:solidFill>
            <a:schemeClr val="tx2"/>
          </a:solidFill>
          <a:ln/>
        </p:spPr>
      </p:sp>
      <p:sp>
        <p:nvSpPr>
          <p:cNvPr id="21" name="codigo-1294"/>
          <p:cNvSpPr txBox="1"/>
          <p:nvPr/>
        </p:nvSpPr>
        <p:spPr>
          <a:xfrm>
            <a:off x="822960" y="4434840"/>
            <a:ext cx="10545775" cy="1051560"/>
          </a:xfrm>
          <a:prstGeom prst="rect">
            <a:avLst/>
          </a:prstGeom>
          <a:noFill/>
          <a:ln/>
        </p:spPr>
        <p:txBody>
          <a:bodyPr wrap="square" lIns="0" tIns="0" rIns="0" bIns="0" rtlCol="0" anchor="t"/>
          <a:lstStyle/>
          <a:p>
            <a:pPr indent="0" marL="0">
              <a:buNone/>
            </a:pPr>
            <a:r>
              <a:rPr lang="en-US" sz="1500" dirty="0">
                <a:solidFill>
                  <a:srgbClr val="E8EDF5"/>
                </a:solidFill>
                <a:latin typeface="Courier New" pitchFamily="34" charset="0"/>
                <a:ea typeface="Courier New" pitchFamily="34" charset="-122"/>
                <a:cs typeface="Courier New" pitchFamily="34" charset="-120"/>
              </a:rPr>
              <a:t>assertThrows(LimiteEnCursoExcedidoException.class,</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    () -&gt; service.mover(1L, EstadoTarea.EN_CURSO));</a:t>
            </a:r>
            <a:endParaRPr lang="en-US" sz="1500" dirty="0"/>
          </a:p>
          <a:p>
            <a:pPr indent="0" marL="0">
              <a:buNone/>
            </a:pPr>
            <a:r>
              <a:rPr lang="en-US" sz="1500" dirty="0">
                <a:solidFill>
                  <a:srgbClr val="E8EDF5"/>
                </a:solidFill>
                <a:latin typeface="Courier New" pitchFamily="34" charset="0"/>
                <a:ea typeface="Courier New" pitchFamily="34" charset="-122"/>
                <a:cs typeface="Courier New" pitchFamily="34" charset="-120"/>
              </a:rPr>
              <a:t>verify(repository, never()).save(any());</a:t>
            </a:r>
            <a:endParaRPr lang="en-US" sz="15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20</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Trabajo en equipo</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Cómo organizar al curso con un tablero de equipo, ramas, Pull Requests, una Definition of Done y Sprints cortos.</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TRABAJO EN EQUIPO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El tablero del equipo</a:t>
            </a:r>
            <a:endParaRPr lang="en-US" sz="3400" dirty="0"/>
          </a:p>
        </p:txBody>
      </p:sp>
      <p:sp>
        <p:nvSpPr>
          <p:cNvPr id="5" name="caja-1295"/>
          <p:cNvSpPr/>
          <p:nvPr/>
        </p:nvSpPr>
        <p:spPr>
          <a:xfrm>
            <a:off x="548640" y="1481328"/>
            <a:ext cx="2560320" cy="594360"/>
          </a:xfrm>
          <a:prstGeom prst="roundRect">
            <a:avLst>
              <a:gd name="adj" fmla="val 12308"/>
            </a:avLst>
          </a:prstGeom>
          <a:solidFill>
            <a:schemeClr val="accent5"/>
          </a:solidFill>
          <a:ln/>
        </p:spPr>
      </p:sp>
      <p:sp>
        <p:nvSpPr>
          <p:cNvPr id="6" name="caja-t-1296"/>
          <p:cNvSpPr txBox="1"/>
          <p:nvPr/>
        </p:nvSpPr>
        <p:spPr>
          <a:xfrm>
            <a:off x="640080" y="1481328"/>
            <a:ext cx="2377440" cy="594360"/>
          </a:xfrm>
          <a:prstGeom prst="rect">
            <a:avLst/>
          </a:prstGeom>
          <a:noFill/>
          <a:ln/>
        </p:spPr>
        <p:txBody>
          <a:bodyPr wrap="square" lIns="0" tIns="0" rIns="0" bIns="0" rtlCol="0" anchor="ctr"/>
          <a:lstStyle/>
          <a:p>
            <a:pPr algn="ctr" indent="0" marL="0">
              <a:buNone/>
            </a:pPr>
            <a:r>
              <a:rPr lang="en-US" sz="1700" b="1" dirty="0">
                <a:solidFill>
                  <a:schemeClr val="bg1"/>
                </a:solidFill>
              </a:rPr>
              <a:t>Por hacer</a:t>
            </a:r>
            <a:endParaRPr lang="en-US" sz="1700" dirty="0"/>
          </a:p>
        </p:txBody>
      </p:sp>
      <p:sp>
        <p:nvSpPr>
          <p:cNvPr id="7" name="Shape 4"/>
          <p:cNvSpPr/>
          <p:nvPr/>
        </p:nvSpPr>
        <p:spPr>
          <a:xfrm>
            <a:off x="548640" y="2212848"/>
            <a:ext cx="2560320" cy="3108960"/>
          </a:xfrm>
          <a:prstGeom prst="roundRect">
            <a:avLst>
              <a:gd name="adj" fmla="val 2857"/>
            </a:avLst>
          </a:prstGeom>
          <a:solidFill>
            <a:schemeClr val="bg2"/>
          </a:solidFill>
          <a:ln/>
        </p:spPr>
      </p:sp>
      <p:sp>
        <p:nvSpPr>
          <p:cNvPr id="8" name="texto-1297"/>
          <p:cNvSpPr txBox="1"/>
          <p:nvPr/>
        </p:nvSpPr>
        <p:spPr>
          <a:xfrm>
            <a:off x="731520" y="2395728"/>
            <a:ext cx="2194560" cy="2743200"/>
          </a:xfrm>
          <a:prstGeom prst="rect">
            <a:avLst/>
          </a:prstGeom>
          <a:noFill/>
          <a:ln/>
        </p:spPr>
        <p:txBody>
          <a:bodyPr wrap="square" lIns="0" tIns="0" rIns="0" bIns="0" rtlCol="0" anchor="t"/>
          <a:lstStyle/>
          <a:p>
            <a:pPr indent="0" marL="0">
              <a:buNone/>
            </a:pPr>
            <a:r>
              <a:rPr lang="en-US" sz="1300" dirty="0">
                <a:solidFill>
                  <a:schemeClr val="accent5"/>
                </a:solidFill>
              </a:rPr>
              <a:t>Qué ocurre</a:t>
            </a:r>
            <a:endParaRPr lang="en-US" sz="1600" dirty="0"/>
          </a:p>
          <a:p>
            <a:pPr indent="0" marL="0">
              <a:buNone/>
            </a:pPr>
            <a:r>
              <a:rPr lang="en-US" sz="1700" b="1" dirty="0">
                <a:solidFill>
                  <a:schemeClr val="tx2"/>
                </a:solidFill>
              </a:rPr>
              <a:t>Historia entendida</a:t>
            </a:r>
            <a:endParaRPr lang="en-US" sz="1600" dirty="0"/>
          </a:p>
          <a:p>
            <a:pPr indent="0" marL="0">
              <a:buNone/>
            </a:pPr>
            <a:r>
              <a:rPr lang="en-US" sz="1600" dirty="0">
                <a:solidFill>
                  <a:schemeClr val="tx1"/>
                </a:solidFill>
              </a:rPr>
              <a:t> </a:t>
            </a:r>
            <a:endParaRPr lang="en-US" sz="1600" dirty="0"/>
          </a:p>
          <a:p>
            <a:pPr indent="0" marL="0">
              <a:buNone/>
            </a:pPr>
            <a:r>
              <a:rPr lang="en-US" sz="1300" dirty="0">
                <a:solidFill>
                  <a:schemeClr val="accent5"/>
                </a:solidFill>
              </a:rPr>
              <a:t>Política para salir</a:t>
            </a:r>
            <a:endParaRPr lang="en-US" sz="1600" dirty="0"/>
          </a:p>
          <a:p>
            <a:pPr indent="0" marL="0">
              <a:buNone/>
            </a:pPr>
            <a:r>
              <a:rPr lang="en-US" sz="1700" b="1" dirty="0">
                <a:solidFill>
                  <a:schemeClr val="tx2"/>
                </a:solidFill>
              </a:rPr>
              <a:t>Criterios claros</a:t>
            </a:r>
            <a:endParaRPr lang="en-US" sz="1600" dirty="0"/>
          </a:p>
        </p:txBody>
      </p:sp>
      <p:sp>
        <p:nvSpPr>
          <p:cNvPr id="9" name="caja-1298"/>
          <p:cNvSpPr/>
          <p:nvPr/>
        </p:nvSpPr>
        <p:spPr>
          <a:xfrm>
            <a:off x="3364992" y="1481328"/>
            <a:ext cx="2560320" cy="594360"/>
          </a:xfrm>
          <a:prstGeom prst="roundRect">
            <a:avLst>
              <a:gd name="adj" fmla="val 12308"/>
            </a:avLst>
          </a:prstGeom>
          <a:solidFill>
            <a:schemeClr val="accent3"/>
          </a:solidFill>
          <a:ln/>
        </p:spPr>
      </p:sp>
      <p:sp>
        <p:nvSpPr>
          <p:cNvPr id="10" name="caja-t-1299"/>
          <p:cNvSpPr txBox="1"/>
          <p:nvPr/>
        </p:nvSpPr>
        <p:spPr>
          <a:xfrm>
            <a:off x="3456432" y="1481328"/>
            <a:ext cx="2377440" cy="594360"/>
          </a:xfrm>
          <a:prstGeom prst="rect">
            <a:avLst/>
          </a:prstGeom>
          <a:noFill/>
          <a:ln/>
        </p:spPr>
        <p:txBody>
          <a:bodyPr wrap="square" lIns="0" tIns="0" rIns="0" bIns="0" rtlCol="0" anchor="ctr"/>
          <a:lstStyle/>
          <a:p>
            <a:pPr algn="ctr" indent="0" marL="0">
              <a:buNone/>
            </a:pPr>
            <a:r>
              <a:rPr lang="en-US" sz="1700" b="1" dirty="0">
                <a:solidFill>
                  <a:schemeClr val="bg1"/>
                </a:solidFill>
              </a:rPr>
              <a:t>En desarrollo</a:t>
            </a:r>
            <a:endParaRPr lang="en-US" sz="1700" dirty="0"/>
          </a:p>
        </p:txBody>
      </p:sp>
      <p:sp>
        <p:nvSpPr>
          <p:cNvPr id="11" name="Shape 8"/>
          <p:cNvSpPr/>
          <p:nvPr/>
        </p:nvSpPr>
        <p:spPr>
          <a:xfrm>
            <a:off x="3364992" y="2212848"/>
            <a:ext cx="2560320" cy="3108960"/>
          </a:xfrm>
          <a:prstGeom prst="roundRect">
            <a:avLst>
              <a:gd name="adj" fmla="val 2857"/>
            </a:avLst>
          </a:prstGeom>
          <a:solidFill>
            <a:schemeClr val="bg2"/>
          </a:solidFill>
          <a:ln/>
        </p:spPr>
      </p:sp>
      <p:sp>
        <p:nvSpPr>
          <p:cNvPr id="12" name="texto-1300"/>
          <p:cNvSpPr txBox="1"/>
          <p:nvPr/>
        </p:nvSpPr>
        <p:spPr>
          <a:xfrm>
            <a:off x="3547872" y="2395728"/>
            <a:ext cx="2194560" cy="2743200"/>
          </a:xfrm>
          <a:prstGeom prst="rect">
            <a:avLst/>
          </a:prstGeom>
          <a:noFill/>
          <a:ln/>
        </p:spPr>
        <p:txBody>
          <a:bodyPr wrap="square" lIns="0" tIns="0" rIns="0" bIns="0" rtlCol="0" anchor="t"/>
          <a:lstStyle/>
          <a:p>
            <a:pPr indent="0" marL="0">
              <a:buNone/>
            </a:pPr>
            <a:r>
              <a:rPr lang="en-US" sz="1300" dirty="0">
                <a:solidFill>
                  <a:schemeClr val="accent5"/>
                </a:solidFill>
              </a:rPr>
              <a:t>Qué ocurre</a:t>
            </a:r>
            <a:endParaRPr lang="en-US" sz="1600" dirty="0"/>
          </a:p>
          <a:p>
            <a:pPr indent="0" marL="0">
              <a:buNone/>
            </a:pPr>
            <a:r>
              <a:rPr lang="en-US" sz="1700" b="1" dirty="0">
                <a:solidFill>
                  <a:schemeClr val="tx2"/>
                </a:solidFill>
              </a:rPr>
              <a:t>Código y pruebas</a:t>
            </a:r>
            <a:endParaRPr lang="en-US" sz="1600" dirty="0"/>
          </a:p>
          <a:p>
            <a:pPr indent="0" marL="0">
              <a:buNone/>
            </a:pPr>
            <a:r>
              <a:rPr lang="en-US" sz="1600" dirty="0">
                <a:solidFill>
                  <a:schemeClr val="tx1"/>
                </a:solidFill>
              </a:rPr>
              <a:t> </a:t>
            </a:r>
            <a:endParaRPr lang="en-US" sz="1600" dirty="0"/>
          </a:p>
          <a:p>
            <a:pPr indent="0" marL="0">
              <a:buNone/>
            </a:pPr>
            <a:r>
              <a:rPr lang="en-US" sz="1300" dirty="0">
                <a:solidFill>
                  <a:schemeClr val="accent5"/>
                </a:solidFill>
              </a:rPr>
              <a:t>Política para salir</a:t>
            </a:r>
            <a:endParaRPr lang="en-US" sz="1600" dirty="0"/>
          </a:p>
          <a:p>
            <a:pPr indent="0" marL="0">
              <a:buNone/>
            </a:pPr>
            <a:r>
              <a:rPr lang="en-US" sz="1700" b="1" dirty="0">
                <a:solidFill>
                  <a:schemeClr val="tx2"/>
                </a:solidFill>
              </a:rPr>
              <a:t>Límite acordado</a:t>
            </a:r>
            <a:endParaRPr lang="en-US" sz="1600" dirty="0"/>
          </a:p>
        </p:txBody>
      </p:sp>
      <p:sp>
        <p:nvSpPr>
          <p:cNvPr id="13" name="caja-1301"/>
          <p:cNvSpPr/>
          <p:nvPr/>
        </p:nvSpPr>
        <p:spPr>
          <a:xfrm>
            <a:off x="6181344" y="1481328"/>
            <a:ext cx="2560320" cy="594360"/>
          </a:xfrm>
          <a:prstGeom prst="roundRect">
            <a:avLst>
              <a:gd name="adj" fmla="val 12308"/>
            </a:avLst>
          </a:prstGeom>
          <a:solidFill>
            <a:schemeClr val="accent4"/>
          </a:solidFill>
          <a:ln/>
        </p:spPr>
      </p:sp>
      <p:sp>
        <p:nvSpPr>
          <p:cNvPr id="14" name="caja-t-1302"/>
          <p:cNvSpPr txBox="1"/>
          <p:nvPr/>
        </p:nvSpPr>
        <p:spPr>
          <a:xfrm>
            <a:off x="6272784" y="1481328"/>
            <a:ext cx="2377440" cy="594360"/>
          </a:xfrm>
          <a:prstGeom prst="rect">
            <a:avLst/>
          </a:prstGeom>
          <a:noFill/>
          <a:ln/>
        </p:spPr>
        <p:txBody>
          <a:bodyPr wrap="square" lIns="0" tIns="0" rIns="0" bIns="0" rtlCol="0" anchor="ctr"/>
          <a:lstStyle/>
          <a:p>
            <a:pPr algn="ctr" indent="0" marL="0">
              <a:buNone/>
            </a:pPr>
            <a:r>
              <a:rPr lang="en-US" sz="1700" b="1" dirty="0">
                <a:solidFill>
                  <a:schemeClr val="bg1"/>
                </a:solidFill>
              </a:rPr>
              <a:t>Revisión</a:t>
            </a:r>
            <a:endParaRPr lang="en-US" sz="1700" dirty="0"/>
          </a:p>
        </p:txBody>
      </p:sp>
      <p:sp>
        <p:nvSpPr>
          <p:cNvPr id="15" name="Shape 12"/>
          <p:cNvSpPr/>
          <p:nvPr/>
        </p:nvSpPr>
        <p:spPr>
          <a:xfrm>
            <a:off x="6181344" y="2212848"/>
            <a:ext cx="2560320" cy="3108960"/>
          </a:xfrm>
          <a:prstGeom prst="roundRect">
            <a:avLst>
              <a:gd name="adj" fmla="val 2857"/>
            </a:avLst>
          </a:prstGeom>
          <a:solidFill>
            <a:schemeClr val="bg2"/>
          </a:solidFill>
          <a:ln/>
        </p:spPr>
      </p:sp>
      <p:sp>
        <p:nvSpPr>
          <p:cNvPr id="16" name="texto-1303"/>
          <p:cNvSpPr txBox="1"/>
          <p:nvPr/>
        </p:nvSpPr>
        <p:spPr>
          <a:xfrm>
            <a:off x="6364224" y="2395728"/>
            <a:ext cx="2194560" cy="2743200"/>
          </a:xfrm>
          <a:prstGeom prst="rect">
            <a:avLst/>
          </a:prstGeom>
          <a:noFill/>
          <a:ln/>
        </p:spPr>
        <p:txBody>
          <a:bodyPr wrap="square" lIns="0" tIns="0" rIns="0" bIns="0" rtlCol="0" anchor="t"/>
          <a:lstStyle/>
          <a:p>
            <a:pPr indent="0" marL="0">
              <a:buNone/>
            </a:pPr>
            <a:r>
              <a:rPr lang="en-US" sz="1300" dirty="0">
                <a:solidFill>
                  <a:schemeClr val="accent5"/>
                </a:solidFill>
              </a:rPr>
              <a:t>Qué ocurre</a:t>
            </a:r>
            <a:endParaRPr lang="en-US" sz="1600" dirty="0"/>
          </a:p>
          <a:p>
            <a:pPr indent="0" marL="0">
              <a:buNone/>
            </a:pPr>
            <a:r>
              <a:rPr lang="en-US" sz="1700" b="1" dirty="0">
                <a:solidFill>
                  <a:schemeClr val="tx2"/>
                </a:solidFill>
              </a:rPr>
              <a:t>Feedback y corrección</a:t>
            </a:r>
            <a:endParaRPr lang="en-US" sz="1600" dirty="0"/>
          </a:p>
          <a:p>
            <a:pPr indent="0" marL="0">
              <a:buNone/>
            </a:pPr>
            <a:r>
              <a:rPr lang="en-US" sz="1600" dirty="0">
                <a:solidFill>
                  <a:schemeClr val="tx1"/>
                </a:solidFill>
              </a:rPr>
              <a:t> </a:t>
            </a:r>
            <a:endParaRPr lang="en-US" sz="1600" dirty="0"/>
          </a:p>
          <a:p>
            <a:pPr indent="0" marL="0">
              <a:buNone/>
            </a:pPr>
            <a:r>
              <a:rPr lang="en-US" sz="1300" dirty="0">
                <a:solidFill>
                  <a:schemeClr val="accent5"/>
                </a:solidFill>
              </a:rPr>
              <a:t>Política para salir</a:t>
            </a:r>
            <a:endParaRPr lang="en-US" sz="1600" dirty="0"/>
          </a:p>
          <a:p>
            <a:pPr indent="0" marL="0">
              <a:buNone/>
            </a:pPr>
            <a:r>
              <a:rPr lang="en-US" sz="1700" b="1" dirty="0">
                <a:solidFill>
                  <a:schemeClr val="tx2"/>
                </a:solidFill>
              </a:rPr>
              <a:t>Capacidad de revisión</a:t>
            </a:r>
            <a:endParaRPr lang="en-US" sz="1600" dirty="0"/>
          </a:p>
        </p:txBody>
      </p:sp>
      <p:sp>
        <p:nvSpPr>
          <p:cNvPr id="17" name="caja-1304"/>
          <p:cNvSpPr/>
          <p:nvPr/>
        </p:nvSpPr>
        <p:spPr>
          <a:xfrm>
            <a:off x="8997696" y="1481328"/>
            <a:ext cx="2560320" cy="594360"/>
          </a:xfrm>
          <a:prstGeom prst="roundRect">
            <a:avLst>
              <a:gd name="adj" fmla="val 12308"/>
            </a:avLst>
          </a:prstGeom>
          <a:solidFill>
            <a:schemeClr val="accent2"/>
          </a:solidFill>
          <a:ln/>
        </p:spPr>
      </p:sp>
      <p:sp>
        <p:nvSpPr>
          <p:cNvPr id="18" name="caja-t-1305"/>
          <p:cNvSpPr txBox="1"/>
          <p:nvPr/>
        </p:nvSpPr>
        <p:spPr>
          <a:xfrm>
            <a:off x="9089136" y="1481328"/>
            <a:ext cx="2377440" cy="594360"/>
          </a:xfrm>
          <a:prstGeom prst="rect">
            <a:avLst/>
          </a:prstGeom>
          <a:noFill/>
          <a:ln/>
        </p:spPr>
        <p:txBody>
          <a:bodyPr wrap="square" lIns="0" tIns="0" rIns="0" bIns="0" rtlCol="0" anchor="ctr"/>
          <a:lstStyle/>
          <a:p>
            <a:pPr algn="ctr" indent="0" marL="0">
              <a:buNone/>
            </a:pPr>
            <a:r>
              <a:rPr lang="en-US" sz="1700" b="1" dirty="0">
                <a:solidFill>
                  <a:schemeClr val="bg1"/>
                </a:solidFill>
              </a:rPr>
              <a:t>Terminado</a:t>
            </a:r>
            <a:endParaRPr lang="en-US" sz="1700" dirty="0"/>
          </a:p>
        </p:txBody>
      </p:sp>
      <p:sp>
        <p:nvSpPr>
          <p:cNvPr id="19" name="Shape 16"/>
          <p:cNvSpPr/>
          <p:nvPr/>
        </p:nvSpPr>
        <p:spPr>
          <a:xfrm>
            <a:off x="8997696" y="2212848"/>
            <a:ext cx="2560320" cy="3108960"/>
          </a:xfrm>
          <a:prstGeom prst="roundRect">
            <a:avLst>
              <a:gd name="adj" fmla="val 2857"/>
            </a:avLst>
          </a:prstGeom>
          <a:solidFill>
            <a:schemeClr val="bg2"/>
          </a:solidFill>
          <a:ln/>
        </p:spPr>
      </p:sp>
      <p:sp>
        <p:nvSpPr>
          <p:cNvPr id="20" name="texto-1306"/>
          <p:cNvSpPr txBox="1"/>
          <p:nvPr/>
        </p:nvSpPr>
        <p:spPr>
          <a:xfrm>
            <a:off x="9180576" y="2395728"/>
            <a:ext cx="2194560" cy="2743200"/>
          </a:xfrm>
          <a:prstGeom prst="rect">
            <a:avLst/>
          </a:prstGeom>
          <a:noFill/>
          <a:ln/>
        </p:spPr>
        <p:txBody>
          <a:bodyPr wrap="square" lIns="0" tIns="0" rIns="0" bIns="0" rtlCol="0" anchor="t"/>
          <a:lstStyle/>
          <a:p>
            <a:pPr indent="0" marL="0">
              <a:buNone/>
            </a:pPr>
            <a:r>
              <a:rPr lang="en-US" sz="1300" dirty="0">
                <a:solidFill>
                  <a:schemeClr val="accent5"/>
                </a:solidFill>
              </a:rPr>
              <a:t>Qué ocurre</a:t>
            </a:r>
            <a:endParaRPr lang="en-US" sz="1600" dirty="0"/>
          </a:p>
          <a:p>
            <a:pPr indent="0" marL="0">
              <a:buNone/>
            </a:pPr>
            <a:r>
              <a:rPr lang="en-US" sz="1700" b="1" dirty="0">
                <a:solidFill>
                  <a:schemeClr val="tx2"/>
                </a:solidFill>
              </a:rPr>
              <a:t>Cumple la DoD</a:t>
            </a:r>
            <a:endParaRPr lang="en-US" sz="1600" dirty="0"/>
          </a:p>
          <a:p>
            <a:pPr indent="0" marL="0">
              <a:buNone/>
            </a:pPr>
            <a:r>
              <a:rPr lang="en-US" sz="1600" dirty="0">
                <a:solidFill>
                  <a:schemeClr val="tx1"/>
                </a:solidFill>
              </a:rPr>
              <a:t> </a:t>
            </a:r>
            <a:endParaRPr lang="en-US" sz="1600" dirty="0"/>
          </a:p>
          <a:p>
            <a:pPr indent="0" marL="0">
              <a:buNone/>
            </a:pPr>
            <a:r>
              <a:rPr lang="en-US" sz="1300" dirty="0">
                <a:solidFill>
                  <a:schemeClr val="accent5"/>
                </a:solidFill>
              </a:rPr>
              <a:t>Política para salir</a:t>
            </a:r>
            <a:endParaRPr lang="en-US" sz="1600" dirty="0"/>
          </a:p>
          <a:p>
            <a:pPr indent="0" marL="0">
              <a:buNone/>
            </a:pPr>
            <a:r>
              <a:rPr lang="en-US" sz="1700" b="1" dirty="0">
                <a:solidFill>
                  <a:schemeClr val="tx2"/>
                </a:solidFill>
              </a:rPr>
              <a:t>Evidencia disponible</a:t>
            </a:r>
            <a:endParaRPr lang="en-US" sz="1600" dirty="0"/>
          </a:p>
        </p:txBody>
      </p:sp>
      <p:sp>
        <p:nvSpPr>
          <p:cNvPr id="21" name="destacado-1307"/>
          <p:cNvSpPr/>
          <p:nvPr/>
        </p:nvSpPr>
        <p:spPr>
          <a:xfrm>
            <a:off x="548640" y="5486400"/>
            <a:ext cx="11094415" cy="566928"/>
          </a:xfrm>
          <a:prstGeom prst="roundRect">
            <a:avLst>
              <a:gd name="adj" fmla="val 12903"/>
            </a:avLst>
          </a:prstGeom>
          <a:solidFill>
            <a:schemeClr val="tx2"/>
          </a:solidFill>
          <a:ln/>
        </p:spPr>
      </p:sp>
      <p:sp>
        <p:nvSpPr>
          <p:cNvPr id="22" name="destacado-t-1308"/>
          <p:cNvSpPr txBox="1"/>
          <p:nvPr/>
        </p:nvSpPr>
        <p:spPr>
          <a:xfrm>
            <a:off x="822960" y="5486400"/>
            <a:ext cx="10545775" cy="566928"/>
          </a:xfrm>
          <a:prstGeom prst="rect">
            <a:avLst/>
          </a:prstGeom>
          <a:noFill/>
          <a:ln/>
        </p:spPr>
        <p:txBody>
          <a:bodyPr wrap="square" lIns="0" tIns="0" rIns="0" bIns="0" rtlCol="0" anchor="ctr"/>
          <a:lstStyle/>
          <a:p>
            <a:pPr indent="0" marL="0">
              <a:buNone/>
            </a:pPr>
            <a:r>
              <a:rPr lang="en-US" sz="1600" dirty="0">
                <a:solidFill>
                  <a:schemeClr val="bg1"/>
                </a:solidFill>
              </a:rPr>
              <a:t>Medir tiempo de ciclo y antigüedad de las tareas, no productividad por líneas de código.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TRABAJO EN EQUIPO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Acuerdo de trabajo y flujo con Git</a:t>
            </a:r>
            <a:endParaRPr lang="en-US" sz="3400" dirty="0"/>
          </a:p>
        </p:txBody>
      </p:sp>
      <p:sp>
        <p:nvSpPr>
          <p:cNvPr id="5" name="paso-1309"/>
          <p:cNvSpPr/>
          <p:nvPr/>
        </p:nvSpPr>
        <p:spPr>
          <a:xfrm>
            <a:off x="548640" y="1664208"/>
            <a:ext cx="1529029" cy="822960"/>
          </a:xfrm>
          <a:prstGeom prst="roundRect">
            <a:avLst>
              <a:gd name="adj" fmla="val 11111"/>
            </a:avLst>
          </a:prstGeom>
          <a:solidFill>
            <a:schemeClr val="tx2"/>
          </a:solidFill>
          <a:ln/>
        </p:spPr>
      </p:sp>
      <p:sp>
        <p:nvSpPr>
          <p:cNvPr id="6" name="paso-t-1310"/>
          <p:cNvSpPr txBox="1"/>
          <p:nvPr/>
        </p:nvSpPr>
        <p:spPr>
          <a:xfrm>
            <a:off x="621792" y="166420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Historia</a:t>
            </a:r>
            <a:endParaRPr lang="en-US" sz="1500" dirty="0"/>
          </a:p>
        </p:txBody>
      </p:sp>
      <p:sp>
        <p:nvSpPr>
          <p:cNvPr id="7" name="flecha-1311"/>
          <p:cNvSpPr/>
          <p:nvPr/>
        </p:nvSpPr>
        <p:spPr>
          <a:xfrm>
            <a:off x="2141677" y="1956816"/>
            <a:ext cx="256032" cy="237744"/>
          </a:xfrm>
          <a:prstGeom prst="rightArrow">
            <a:avLst/>
          </a:prstGeom>
          <a:solidFill>
            <a:schemeClr val="accent5"/>
          </a:solidFill>
          <a:ln/>
        </p:spPr>
      </p:sp>
      <p:sp>
        <p:nvSpPr>
          <p:cNvPr id="8" name="paso-d-1312"/>
          <p:cNvSpPr txBox="1"/>
          <p:nvPr/>
        </p:nvSpPr>
        <p:spPr>
          <a:xfrm>
            <a:off x="548640" y="2670048"/>
            <a:ext cx="1529029" cy="914400"/>
          </a:xfrm>
          <a:prstGeom prst="rect">
            <a:avLst/>
          </a:prstGeom>
          <a:noFill/>
          <a:ln/>
        </p:spPr>
        <p:txBody>
          <a:bodyPr wrap="square" lIns="0" tIns="0" rIns="0" bIns="0" rtlCol="0" anchor="t"/>
          <a:lstStyle/>
          <a:p>
            <a:pPr indent="0" marL="0">
              <a:buNone/>
            </a:pPr>
            <a:r>
              <a:rPr lang="en-US" sz="1400" dirty="0">
                <a:solidFill>
                  <a:schemeClr val="tx1"/>
                </a:solidFill>
              </a:rPr>
              <a:t>Una historia pequeña</a:t>
            </a:r>
            <a:endParaRPr lang="en-US" sz="1400" dirty="0"/>
          </a:p>
        </p:txBody>
      </p:sp>
      <p:sp>
        <p:nvSpPr>
          <p:cNvPr id="9" name="paso-1313"/>
          <p:cNvSpPr/>
          <p:nvPr/>
        </p:nvSpPr>
        <p:spPr>
          <a:xfrm>
            <a:off x="2461717" y="1664208"/>
            <a:ext cx="1529029" cy="822960"/>
          </a:xfrm>
          <a:prstGeom prst="roundRect">
            <a:avLst>
              <a:gd name="adj" fmla="val 11111"/>
            </a:avLst>
          </a:prstGeom>
          <a:solidFill>
            <a:schemeClr val="tx2"/>
          </a:solidFill>
          <a:ln/>
        </p:spPr>
      </p:sp>
      <p:sp>
        <p:nvSpPr>
          <p:cNvPr id="10" name="paso-t-1314"/>
          <p:cNvSpPr txBox="1"/>
          <p:nvPr/>
        </p:nvSpPr>
        <p:spPr>
          <a:xfrm>
            <a:off x="2534869" y="166420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feature/…</a:t>
            </a:r>
            <a:endParaRPr lang="en-US" sz="1500" dirty="0"/>
          </a:p>
        </p:txBody>
      </p:sp>
      <p:sp>
        <p:nvSpPr>
          <p:cNvPr id="11" name="flecha-1315"/>
          <p:cNvSpPr/>
          <p:nvPr/>
        </p:nvSpPr>
        <p:spPr>
          <a:xfrm>
            <a:off x="4054754" y="1956816"/>
            <a:ext cx="256032" cy="237744"/>
          </a:xfrm>
          <a:prstGeom prst="rightArrow">
            <a:avLst/>
          </a:prstGeom>
          <a:solidFill>
            <a:schemeClr val="accent5"/>
          </a:solidFill>
          <a:ln/>
        </p:spPr>
      </p:sp>
      <p:sp>
        <p:nvSpPr>
          <p:cNvPr id="12" name="paso-d-1316"/>
          <p:cNvSpPr txBox="1"/>
          <p:nvPr/>
        </p:nvSpPr>
        <p:spPr>
          <a:xfrm>
            <a:off x="2461717" y="2670048"/>
            <a:ext cx="1529029" cy="914400"/>
          </a:xfrm>
          <a:prstGeom prst="rect">
            <a:avLst/>
          </a:prstGeom>
          <a:noFill/>
          <a:ln/>
        </p:spPr>
        <p:txBody>
          <a:bodyPr wrap="square" lIns="0" tIns="0" rIns="0" bIns="0" rtlCol="0" anchor="t"/>
          <a:lstStyle/>
          <a:p>
            <a:pPr indent="0" marL="0">
              <a:buNone/>
            </a:pPr>
            <a:r>
              <a:rPr lang="en-US" sz="1400" dirty="0">
                <a:solidFill>
                  <a:schemeClr val="tx1"/>
                </a:solidFill>
              </a:rPr>
              <a:t>Una rama por historia</a:t>
            </a:r>
            <a:endParaRPr lang="en-US" sz="1400" dirty="0"/>
          </a:p>
        </p:txBody>
      </p:sp>
      <p:sp>
        <p:nvSpPr>
          <p:cNvPr id="13" name="paso-1317"/>
          <p:cNvSpPr/>
          <p:nvPr/>
        </p:nvSpPr>
        <p:spPr>
          <a:xfrm>
            <a:off x="4374794" y="1664208"/>
            <a:ext cx="1529029" cy="822960"/>
          </a:xfrm>
          <a:prstGeom prst="roundRect">
            <a:avLst>
              <a:gd name="adj" fmla="val 11111"/>
            </a:avLst>
          </a:prstGeom>
          <a:solidFill>
            <a:schemeClr val="tx2"/>
          </a:solidFill>
          <a:ln/>
        </p:spPr>
      </p:sp>
      <p:sp>
        <p:nvSpPr>
          <p:cNvPr id="14" name="paso-t-1318"/>
          <p:cNvSpPr txBox="1"/>
          <p:nvPr/>
        </p:nvSpPr>
        <p:spPr>
          <a:xfrm>
            <a:off x="4447946" y="166420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Commits</a:t>
            </a:r>
            <a:endParaRPr lang="en-US" sz="1500" dirty="0"/>
          </a:p>
        </p:txBody>
      </p:sp>
      <p:sp>
        <p:nvSpPr>
          <p:cNvPr id="15" name="flecha-1319"/>
          <p:cNvSpPr/>
          <p:nvPr/>
        </p:nvSpPr>
        <p:spPr>
          <a:xfrm>
            <a:off x="5967832" y="1956816"/>
            <a:ext cx="256032" cy="237744"/>
          </a:xfrm>
          <a:prstGeom prst="rightArrow">
            <a:avLst/>
          </a:prstGeom>
          <a:solidFill>
            <a:schemeClr val="accent5"/>
          </a:solidFill>
          <a:ln/>
        </p:spPr>
      </p:sp>
      <p:sp>
        <p:nvSpPr>
          <p:cNvPr id="16" name="paso-d-1320"/>
          <p:cNvSpPr txBox="1"/>
          <p:nvPr/>
        </p:nvSpPr>
        <p:spPr>
          <a:xfrm>
            <a:off x="4374794" y="2670048"/>
            <a:ext cx="1529029" cy="914400"/>
          </a:xfrm>
          <a:prstGeom prst="rect">
            <a:avLst/>
          </a:prstGeom>
          <a:noFill/>
          <a:ln/>
        </p:spPr>
        <p:txBody>
          <a:bodyPr wrap="square" lIns="0" tIns="0" rIns="0" bIns="0" rtlCol="0" anchor="t"/>
          <a:lstStyle/>
          <a:p>
            <a:pPr indent="0" marL="0">
              <a:buNone/>
            </a:pPr>
            <a:r>
              <a:rPr lang="en-US" sz="1400" dirty="0">
                <a:solidFill>
                  <a:schemeClr val="tx1"/>
                </a:solidFill>
              </a:rPr>
              <a:t>feat:, fix:, test:…</a:t>
            </a:r>
            <a:endParaRPr lang="en-US" sz="1400" dirty="0"/>
          </a:p>
        </p:txBody>
      </p:sp>
      <p:sp>
        <p:nvSpPr>
          <p:cNvPr id="17" name="paso-1321"/>
          <p:cNvSpPr/>
          <p:nvPr/>
        </p:nvSpPr>
        <p:spPr>
          <a:xfrm>
            <a:off x="6287872" y="1664208"/>
            <a:ext cx="1529029" cy="822960"/>
          </a:xfrm>
          <a:prstGeom prst="roundRect">
            <a:avLst>
              <a:gd name="adj" fmla="val 11111"/>
            </a:avLst>
          </a:prstGeom>
          <a:solidFill>
            <a:schemeClr val="tx2"/>
          </a:solidFill>
          <a:ln/>
        </p:spPr>
      </p:sp>
      <p:sp>
        <p:nvSpPr>
          <p:cNvPr id="18" name="paso-t-1322"/>
          <p:cNvSpPr txBox="1"/>
          <p:nvPr/>
        </p:nvSpPr>
        <p:spPr>
          <a:xfrm>
            <a:off x="6361024" y="166420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Pull Request</a:t>
            </a:r>
            <a:endParaRPr lang="en-US" sz="1500" dirty="0"/>
          </a:p>
        </p:txBody>
      </p:sp>
      <p:sp>
        <p:nvSpPr>
          <p:cNvPr id="19" name="flecha-1323"/>
          <p:cNvSpPr/>
          <p:nvPr/>
        </p:nvSpPr>
        <p:spPr>
          <a:xfrm>
            <a:off x="7880909" y="1956816"/>
            <a:ext cx="256032" cy="237744"/>
          </a:xfrm>
          <a:prstGeom prst="rightArrow">
            <a:avLst/>
          </a:prstGeom>
          <a:solidFill>
            <a:schemeClr val="accent5"/>
          </a:solidFill>
          <a:ln/>
        </p:spPr>
      </p:sp>
      <p:sp>
        <p:nvSpPr>
          <p:cNvPr id="20" name="paso-d-1324"/>
          <p:cNvSpPr txBox="1"/>
          <p:nvPr/>
        </p:nvSpPr>
        <p:spPr>
          <a:xfrm>
            <a:off x="6287872" y="2670048"/>
            <a:ext cx="1529029" cy="914400"/>
          </a:xfrm>
          <a:prstGeom prst="rect">
            <a:avLst/>
          </a:prstGeom>
          <a:noFill/>
          <a:ln/>
        </p:spPr>
        <p:txBody>
          <a:bodyPr wrap="square" lIns="0" tIns="0" rIns="0" bIns="0" rtlCol="0" anchor="t"/>
          <a:lstStyle/>
          <a:p>
            <a:pPr indent="0" marL="0">
              <a:buNone/>
            </a:pPr>
            <a:r>
              <a:rPr lang="en-US" sz="1400" dirty="0">
                <a:solidFill>
                  <a:schemeClr val="tx1"/>
                </a:solidFill>
              </a:rPr>
              <a:t>Qué cambia y cómo se probó</a:t>
            </a:r>
            <a:endParaRPr lang="en-US" sz="1400" dirty="0"/>
          </a:p>
        </p:txBody>
      </p:sp>
      <p:sp>
        <p:nvSpPr>
          <p:cNvPr id="21" name="paso-1325"/>
          <p:cNvSpPr/>
          <p:nvPr/>
        </p:nvSpPr>
        <p:spPr>
          <a:xfrm>
            <a:off x="8200949" y="1664208"/>
            <a:ext cx="1529029" cy="822960"/>
          </a:xfrm>
          <a:prstGeom prst="roundRect">
            <a:avLst>
              <a:gd name="adj" fmla="val 11111"/>
            </a:avLst>
          </a:prstGeom>
          <a:solidFill>
            <a:schemeClr val="tx2"/>
          </a:solidFill>
          <a:ln/>
        </p:spPr>
      </p:sp>
      <p:sp>
        <p:nvSpPr>
          <p:cNvPr id="22" name="paso-t-1326"/>
          <p:cNvSpPr txBox="1"/>
          <p:nvPr/>
        </p:nvSpPr>
        <p:spPr>
          <a:xfrm>
            <a:off x="8274101" y="166420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Revisión + CI</a:t>
            </a:r>
            <a:endParaRPr lang="en-US" sz="1500" dirty="0"/>
          </a:p>
        </p:txBody>
      </p:sp>
      <p:sp>
        <p:nvSpPr>
          <p:cNvPr id="23" name="flecha-1327"/>
          <p:cNvSpPr/>
          <p:nvPr/>
        </p:nvSpPr>
        <p:spPr>
          <a:xfrm>
            <a:off x="9793986" y="1956816"/>
            <a:ext cx="256032" cy="237744"/>
          </a:xfrm>
          <a:prstGeom prst="rightArrow">
            <a:avLst/>
          </a:prstGeom>
          <a:solidFill>
            <a:schemeClr val="accent5"/>
          </a:solidFill>
          <a:ln/>
        </p:spPr>
      </p:sp>
      <p:sp>
        <p:nvSpPr>
          <p:cNvPr id="24" name="paso-d-1328"/>
          <p:cNvSpPr txBox="1"/>
          <p:nvPr/>
        </p:nvSpPr>
        <p:spPr>
          <a:xfrm>
            <a:off x="8200949" y="2670048"/>
            <a:ext cx="1529029" cy="914400"/>
          </a:xfrm>
          <a:prstGeom prst="rect">
            <a:avLst/>
          </a:prstGeom>
          <a:noFill/>
          <a:ln/>
        </p:spPr>
        <p:txBody>
          <a:bodyPr wrap="square" lIns="0" tIns="0" rIns="0" bIns="0" rtlCol="0" anchor="t"/>
          <a:lstStyle/>
          <a:p>
            <a:pPr indent="0" marL="0">
              <a:buNone/>
            </a:pPr>
            <a:r>
              <a:rPr lang="en-US" sz="1400" dirty="0">
                <a:solidFill>
                  <a:schemeClr val="tx1"/>
                </a:solidFill>
              </a:rPr>
              <a:t>Un compañero y pruebas en verde</a:t>
            </a:r>
            <a:endParaRPr lang="en-US" sz="1400" dirty="0"/>
          </a:p>
        </p:txBody>
      </p:sp>
      <p:sp>
        <p:nvSpPr>
          <p:cNvPr id="25" name="paso-1329"/>
          <p:cNvSpPr/>
          <p:nvPr/>
        </p:nvSpPr>
        <p:spPr>
          <a:xfrm>
            <a:off x="10114026" y="1664208"/>
            <a:ext cx="1529029" cy="822960"/>
          </a:xfrm>
          <a:prstGeom prst="roundRect">
            <a:avLst>
              <a:gd name="adj" fmla="val 11111"/>
            </a:avLst>
          </a:prstGeom>
          <a:solidFill>
            <a:schemeClr val="accent1"/>
          </a:solidFill>
          <a:ln/>
        </p:spPr>
      </p:sp>
      <p:sp>
        <p:nvSpPr>
          <p:cNvPr id="26" name="paso-t-1330"/>
          <p:cNvSpPr txBox="1"/>
          <p:nvPr/>
        </p:nvSpPr>
        <p:spPr>
          <a:xfrm>
            <a:off x="10187178" y="1664208"/>
            <a:ext cx="1382725" cy="822960"/>
          </a:xfrm>
          <a:prstGeom prst="rect">
            <a:avLst/>
          </a:prstGeom>
          <a:noFill/>
          <a:ln/>
        </p:spPr>
        <p:txBody>
          <a:bodyPr wrap="square" lIns="0" tIns="0" rIns="0" bIns="0" rtlCol="0" anchor="ctr">
            <a:normAutofit/>
          </a:bodyPr>
          <a:lstStyle/>
          <a:p>
            <a:pPr algn="ctr" indent="0" marL="0">
              <a:buNone/>
            </a:pPr>
            <a:r>
              <a:rPr lang="en-US" sz="1500" b="1" dirty="0">
                <a:solidFill>
                  <a:schemeClr val="bg1"/>
                </a:solidFill>
              </a:rPr>
              <a:t>main</a:t>
            </a:r>
            <a:endParaRPr lang="en-US" sz="1500" dirty="0"/>
          </a:p>
        </p:txBody>
      </p:sp>
      <p:sp>
        <p:nvSpPr>
          <p:cNvPr id="27" name="paso-d-1331"/>
          <p:cNvSpPr txBox="1"/>
          <p:nvPr/>
        </p:nvSpPr>
        <p:spPr>
          <a:xfrm>
            <a:off x="10114026" y="2670048"/>
            <a:ext cx="1529029" cy="914400"/>
          </a:xfrm>
          <a:prstGeom prst="rect">
            <a:avLst/>
          </a:prstGeom>
          <a:noFill/>
          <a:ln/>
        </p:spPr>
        <p:txBody>
          <a:bodyPr wrap="square" lIns="0" tIns="0" rIns="0" bIns="0" rtlCol="0" anchor="t"/>
          <a:lstStyle/>
          <a:p>
            <a:pPr indent="0" marL="0">
              <a:buNone/>
            </a:pPr>
            <a:r>
              <a:rPr lang="en-US" sz="1400" dirty="0">
                <a:solidFill>
                  <a:schemeClr val="tx1"/>
                </a:solidFill>
              </a:rPr>
              <a:t>Integrado y desplegable</a:t>
            </a:r>
            <a:endParaRPr lang="en-US" sz="1400" dirty="0"/>
          </a:p>
        </p:txBody>
      </p:sp>
      <p:sp>
        <p:nvSpPr>
          <p:cNvPr id="28" name="panel-1332"/>
          <p:cNvSpPr/>
          <p:nvPr/>
        </p:nvSpPr>
        <p:spPr>
          <a:xfrm>
            <a:off x="548640" y="3429000"/>
            <a:ext cx="11094415" cy="2697480"/>
          </a:xfrm>
          <a:prstGeom prst="roundRect">
            <a:avLst>
              <a:gd name="adj" fmla="val 3390"/>
            </a:avLst>
          </a:prstGeom>
          <a:solidFill>
            <a:schemeClr val="bg2"/>
          </a:solidFill>
          <a:ln/>
        </p:spPr>
      </p:sp>
      <p:sp>
        <p:nvSpPr>
          <p:cNvPr id="29" name="panel-cab-1333"/>
          <p:cNvSpPr/>
          <p:nvPr/>
        </p:nvSpPr>
        <p:spPr>
          <a:xfrm>
            <a:off x="777240" y="3657600"/>
            <a:ext cx="10637215" cy="548640"/>
          </a:xfrm>
          <a:prstGeom prst="roundRect">
            <a:avLst>
              <a:gd name="adj" fmla="val 13333"/>
            </a:avLst>
          </a:prstGeom>
          <a:solidFill>
            <a:schemeClr val="tx2"/>
          </a:solidFill>
          <a:ln/>
        </p:spPr>
      </p:sp>
      <p:sp>
        <p:nvSpPr>
          <p:cNvPr id="30" name="panel-t-1334"/>
          <p:cNvSpPr txBox="1"/>
          <p:nvPr/>
        </p:nvSpPr>
        <p:spPr>
          <a:xfrm>
            <a:off x="868680" y="3657600"/>
            <a:ext cx="10454335" cy="548640"/>
          </a:xfrm>
          <a:prstGeom prst="rect">
            <a:avLst/>
          </a:prstGeom>
          <a:noFill/>
          <a:ln/>
        </p:spPr>
        <p:txBody>
          <a:bodyPr wrap="square" lIns="0" tIns="0" rIns="0" bIns="0" rtlCol="0" anchor="ctr"/>
          <a:lstStyle/>
          <a:p>
            <a:pPr indent="0" marL="0">
              <a:buNone/>
            </a:pPr>
            <a:r>
              <a:rPr lang="en-US" sz="1800" b="1" dirty="0">
                <a:solidFill>
                  <a:schemeClr val="bg1"/>
                </a:solidFill>
              </a:rPr>
              <a:t>Definition of Done del curso</a:t>
            </a:r>
            <a:endParaRPr lang="en-US" sz="1800" dirty="0"/>
          </a:p>
        </p:txBody>
      </p:sp>
      <p:sp>
        <p:nvSpPr>
          <p:cNvPr id="31" name="lista-1335"/>
          <p:cNvSpPr txBox="1"/>
          <p:nvPr/>
        </p:nvSpPr>
        <p:spPr>
          <a:xfrm>
            <a:off x="868680" y="4389120"/>
            <a:ext cx="10454335" cy="15544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Cumple los criterios de aceptación de la historia</a:t>
            </a:r>
            <a:endParaRPr lang="en-US" sz="1500" dirty="0"/>
          </a:p>
          <a:p>
            <a:pPr marL="228600" indent="-228600">
              <a:spcAft>
                <a:spcPts val="800"/>
              </a:spcAft>
              <a:buSzPct val="100000"/>
              <a:buChar char="•"/>
            </a:pPr>
            <a:r>
              <a:rPr lang="en-US" sz="1500" dirty="0">
                <a:solidFill>
                  <a:schemeClr val="tx1"/>
                </a:solidFill>
              </a:rPr>
              <a:t>Compila con Java 21 y pasa las pruebas</a:t>
            </a:r>
            <a:endParaRPr lang="en-US" sz="1500" dirty="0"/>
          </a:p>
          <a:p>
            <a:pPr marL="228600" indent="-228600">
              <a:spcAft>
                <a:spcPts val="800"/>
              </a:spcAft>
              <a:buSzPct val="100000"/>
              <a:buChar char="•"/>
            </a:pPr>
            <a:r>
              <a:rPr lang="en-US" sz="1500" dirty="0">
                <a:solidFill>
                  <a:schemeClr val="tx1"/>
                </a:solidFill>
              </a:rPr>
              <a:t>Revisado por un compañero en un PR</a:t>
            </a:r>
            <a:endParaRPr lang="en-US" sz="1500" dirty="0"/>
          </a:p>
          <a:p>
            <a:pPr marL="228600" indent="-228600">
              <a:spcAft>
                <a:spcPts val="800"/>
              </a:spcAft>
              <a:buSzPct val="100000"/>
              <a:buChar char="•"/>
            </a:pPr>
            <a:r>
              <a:rPr lang="en-US" sz="1500" dirty="0">
                <a:solidFill>
                  <a:schemeClr val="tx1"/>
                </a:solidFill>
              </a:rPr>
              <a:t>Migración nueva si cambia el esquema</a:t>
            </a:r>
            <a:endParaRPr lang="en-US" sz="1500" dirty="0"/>
          </a:p>
          <a:p>
            <a:pPr marL="228600" indent="-228600">
              <a:spcAft>
                <a:spcPts val="800"/>
              </a:spcAft>
              <a:buSzPct val="100000"/>
              <a:buChar char="•"/>
            </a:pPr>
            <a:r>
              <a:rPr lang="en-US" sz="1500" dirty="0">
                <a:solidFill>
                  <a:schemeClr val="tx1"/>
                </a:solidFill>
              </a:rPr>
              <a:t>Sin secretos en el repositorio</a:t>
            </a:r>
            <a:endParaRPr lang="en-US" sz="15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TRABAJO EN EQUIPO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Un Sprint en el aula</a:t>
            </a:r>
            <a:endParaRPr lang="en-US" sz="3400" dirty="0"/>
          </a:p>
        </p:txBody>
      </p:sp>
      <p:sp>
        <p:nvSpPr>
          <p:cNvPr id="5" name="paso-1336"/>
          <p:cNvSpPr/>
          <p:nvPr/>
        </p:nvSpPr>
        <p:spPr>
          <a:xfrm>
            <a:off x="548640" y="1847088"/>
            <a:ext cx="2485568" cy="822960"/>
          </a:xfrm>
          <a:prstGeom prst="roundRect">
            <a:avLst>
              <a:gd name="adj" fmla="val 11111"/>
            </a:avLst>
          </a:prstGeom>
          <a:solidFill>
            <a:schemeClr val="tx2"/>
          </a:solidFill>
          <a:ln/>
        </p:spPr>
      </p:sp>
      <p:sp>
        <p:nvSpPr>
          <p:cNvPr id="6" name="paso-t-1337"/>
          <p:cNvSpPr txBox="1"/>
          <p:nvPr/>
        </p:nvSpPr>
        <p:spPr>
          <a:xfrm>
            <a:off x="621792"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Planning</a:t>
            </a:r>
            <a:endParaRPr lang="en-US" sz="1600" dirty="0"/>
          </a:p>
        </p:txBody>
      </p:sp>
      <p:sp>
        <p:nvSpPr>
          <p:cNvPr id="7" name="flecha-1338"/>
          <p:cNvSpPr/>
          <p:nvPr/>
        </p:nvSpPr>
        <p:spPr>
          <a:xfrm>
            <a:off x="3098216" y="2139696"/>
            <a:ext cx="256032" cy="237744"/>
          </a:xfrm>
          <a:prstGeom prst="rightArrow">
            <a:avLst/>
          </a:prstGeom>
          <a:solidFill>
            <a:schemeClr val="accent5"/>
          </a:solidFill>
          <a:ln/>
        </p:spPr>
      </p:sp>
      <p:sp>
        <p:nvSpPr>
          <p:cNvPr id="8" name="paso-d-1339"/>
          <p:cNvSpPr txBox="1"/>
          <p:nvPr/>
        </p:nvSpPr>
        <p:spPr>
          <a:xfrm>
            <a:off x="548640"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Objetivo del Sprint y historias elegidas</a:t>
            </a:r>
            <a:endParaRPr lang="en-US" sz="1500" dirty="0"/>
          </a:p>
        </p:txBody>
      </p:sp>
      <p:sp>
        <p:nvSpPr>
          <p:cNvPr id="9" name="paso-1340"/>
          <p:cNvSpPr/>
          <p:nvPr/>
        </p:nvSpPr>
        <p:spPr>
          <a:xfrm>
            <a:off x="3418256" y="1847088"/>
            <a:ext cx="2485568" cy="822960"/>
          </a:xfrm>
          <a:prstGeom prst="roundRect">
            <a:avLst>
              <a:gd name="adj" fmla="val 11111"/>
            </a:avLst>
          </a:prstGeom>
          <a:solidFill>
            <a:schemeClr val="tx2"/>
          </a:solidFill>
          <a:ln/>
        </p:spPr>
      </p:sp>
      <p:sp>
        <p:nvSpPr>
          <p:cNvPr id="10" name="paso-t-1341"/>
          <p:cNvSpPr txBox="1"/>
          <p:nvPr/>
        </p:nvSpPr>
        <p:spPr>
          <a:xfrm>
            <a:off x="3491408"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Construcción</a:t>
            </a:r>
            <a:endParaRPr lang="en-US" sz="1600" dirty="0"/>
          </a:p>
        </p:txBody>
      </p:sp>
      <p:sp>
        <p:nvSpPr>
          <p:cNvPr id="11" name="flecha-1342"/>
          <p:cNvSpPr/>
          <p:nvPr/>
        </p:nvSpPr>
        <p:spPr>
          <a:xfrm>
            <a:off x="5967832" y="2139696"/>
            <a:ext cx="256032" cy="237744"/>
          </a:xfrm>
          <a:prstGeom prst="rightArrow">
            <a:avLst/>
          </a:prstGeom>
          <a:solidFill>
            <a:schemeClr val="accent5"/>
          </a:solidFill>
          <a:ln/>
        </p:spPr>
      </p:sp>
      <p:sp>
        <p:nvSpPr>
          <p:cNvPr id="12" name="paso-d-1343"/>
          <p:cNvSpPr txBox="1"/>
          <p:nvPr/>
        </p:nvSpPr>
        <p:spPr>
          <a:xfrm>
            <a:off x="3418256"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Ramas, PR, revisión e inspección diaria breve</a:t>
            </a:r>
            <a:endParaRPr lang="en-US" sz="1500" dirty="0"/>
          </a:p>
        </p:txBody>
      </p:sp>
      <p:sp>
        <p:nvSpPr>
          <p:cNvPr id="13" name="paso-1344"/>
          <p:cNvSpPr/>
          <p:nvPr/>
        </p:nvSpPr>
        <p:spPr>
          <a:xfrm>
            <a:off x="6287872" y="1847088"/>
            <a:ext cx="2485568" cy="822960"/>
          </a:xfrm>
          <a:prstGeom prst="roundRect">
            <a:avLst>
              <a:gd name="adj" fmla="val 11111"/>
            </a:avLst>
          </a:prstGeom>
          <a:solidFill>
            <a:schemeClr val="tx2"/>
          </a:solidFill>
          <a:ln/>
        </p:spPr>
      </p:sp>
      <p:sp>
        <p:nvSpPr>
          <p:cNvPr id="14" name="paso-t-1345"/>
          <p:cNvSpPr txBox="1"/>
          <p:nvPr/>
        </p:nvSpPr>
        <p:spPr>
          <a:xfrm>
            <a:off x="6361024"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Review</a:t>
            </a:r>
            <a:endParaRPr lang="en-US" sz="1600" dirty="0"/>
          </a:p>
        </p:txBody>
      </p:sp>
      <p:sp>
        <p:nvSpPr>
          <p:cNvPr id="15" name="flecha-1346"/>
          <p:cNvSpPr/>
          <p:nvPr/>
        </p:nvSpPr>
        <p:spPr>
          <a:xfrm>
            <a:off x="8837447" y="2139696"/>
            <a:ext cx="256032" cy="237744"/>
          </a:xfrm>
          <a:prstGeom prst="rightArrow">
            <a:avLst/>
          </a:prstGeom>
          <a:solidFill>
            <a:schemeClr val="accent5"/>
          </a:solidFill>
          <a:ln/>
        </p:spPr>
      </p:sp>
      <p:sp>
        <p:nvSpPr>
          <p:cNvPr id="16" name="paso-d-1347"/>
          <p:cNvSpPr txBox="1"/>
          <p:nvPr/>
        </p:nvSpPr>
        <p:spPr>
          <a:xfrm>
            <a:off x="6287872"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Demostrar el incremento y recibir feedback</a:t>
            </a:r>
            <a:endParaRPr lang="en-US" sz="1500" dirty="0"/>
          </a:p>
        </p:txBody>
      </p:sp>
      <p:sp>
        <p:nvSpPr>
          <p:cNvPr id="17" name="paso-1348"/>
          <p:cNvSpPr/>
          <p:nvPr/>
        </p:nvSpPr>
        <p:spPr>
          <a:xfrm>
            <a:off x="9157487" y="1847088"/>
            <a:ext cx="2485568" cy="822960"/>
          </a:xfrm>
          <a:prstGeom prst="roundRect">
            <a:avLst>
              <a:gd name="adj" fmla="val 11111"/>
            </a:avLst>
          </a:prstGeom>
          <a:solidFill>
            <a:schemeClr val="accent1"/>
          </a:solidFill>
          <a:ln/>
        </p:spPr>
      </p:sp>
      <p:sp>
        <p:nvSpPr>
          <p:cNvPr id="18" name="paso-t-1349"/>
          <p:cNvSpPr txBox="1"/>
          <p:nvPr/>
        </p:nvSpPr>
        <p:spPr>
          <a:xfrm>
            <a:off x="9230639"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Retrospectiva</a:t>
            </a:r>
            <a:endParaRPr lang="en-US" sz="1600" dirty="0"/>
          </a:p>
        </p:txBody>
      </p:sp>
      <p:sp>
        <p:nvSpPr>
          <p:cNvPr id="19" name="paso-d-1350"/>
          <p:cNvSpPr txBox="1"/>
          <p:nvPr/>
        </p:nvSpPr>
        <p:spPr>
          <a:xfrm>
            <a:off x="9157487" y="2852928"/>
            <a:ext cx="2485568" cy="1188720"/>
          </a:xfrm>
          <a:prstGeom prst="rect">
            <a:avLst/>
          </a:prstGeom>
          <a:noFill/>
          <a:ln/>
        </p:spPr>
        <p:txBody>
          <a:bodyPr wrap="square" lIns="0" tIns="0" rIns="0" bIns="0" rtlCol="0" anchor="t"/>
          <a:lstStyle/>
          <a:p>
            <a:pPr indent="0" marL="0">
              <a:buNone/>
            </a:pPr>
            <a:r>
              <a:rPr lang="en-US" sz="1500" dirty="0">
                <a:solidFill>
                  <a:schemeClr val="tx1"/>
                </a:solidFill>
              </a:rPr>
              <a:t>Una mejora concreta para el próximo Sprint</a:t>
            </a:r>
            <a:endParaRPr lang="en-US" sz="1500" dirty="0"/>
          </a:p>
        </p:txBody>
      </p:sp>
      <p:sp>
        <p:nvSpPr>
          <p:cNvPr id="20" name="destacado-1351"/>
          <p:cNvSpPr/>
          <p:nvPr/>
        </p:nvSpPr>
        <p:spPr>
          <a:xfrm>
            <a:off x="548640" y="4846320"/>
            <a:ext cx="11094415" cy="566928"/>
          </a:xfrm>
          <a:prstGeom prst="roundRect">
            <a:avLst>
              <a:gd name="adj" fmla="val 12903"/>
            </a:avLst>
          </a:prstGeom>
          <a:solidFill>
            <a:schemeClr val="tx2"/>
          </a:solidFill>
          <a:ln/>
        </p:spPr>
      </p:sp>
      <p:sp>
        <p:nvSpPr>
          <p:cNvPr id="21" name="destacado-t-1352"/>
          <p:cNvSpPr txBox="1"/>
          <p:nvPr/>
        </p:nvSpPr>
        <p:spPr>
          <a:xfrm>
            <a:off x="822960" y="4846320"/>
            <a:ext cx="10545775" cy="566928"/>
          </a:xfrm>
          <a:prstGeom prst="rect">
            <a:avLst/>
          </a:prstGeom>
          <a:noFill/>
          <a:ln/>
        </p:spPr>
        <p:txBody>
          <a:bodyPr wrap="square" lIns="0" tIns="0" rIns="0" bIns="0" rtlCol="0" anchor="ctr"/>
          <a:lstStyle/>
          <a:p>
            <a:pPr indent="0" marL="0">
              <a:buNone/>
            </a:pPr>
            <a:r>
              <a:rPr lang="en-US" sz="1600" dirty="0">
                <a:solidFill>
                  <a:schemeClr val="bg1"/>
                </a:solidFill>
              </a:rPr>
              <a:t>Sprint de 1 semana · el siguiente Sprint incorpora lo aprendido · adaptación al calendario docente</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body" hasCustomPrompt="1"/>
          </p:nvPr>
        </p:nvSpPr>
        <p:spPr>
          <a:xfrm>
            <a:off x="548640" y="1325880"/>
            <a:ext cx="3657600" cy="1188720"/>
          </a:xfrm>
          <a:prstGeom prst="rect">
            <a:avLst/>
          </a:prstGeom>
          <a:noFill/>
          <a:ln/>
        </p:spPr>
        <p:txBody>
          <a:bodyPr wrap="square" rtlCol="0"/>
          <a:lstStyle/>
          <a:p>
            <a:pPr indent="0" marL="0">
              <a:buNone/>
            </a:pPr>
            <a:r>
              <a:rPr lang="en-US" sz="8000" b="1" dirty="0">
                <a:solidFill>
                  <a:schemeClr val="accent1"/>
                </a:solidFill>
              </a:rPr>
              <a:t>21</a:t>
            </a:r>
            <a:endParaRPr lang="en-US" sz="8000" dirty="0"/>
          </a:p>
        </p:txBody>
      </p:sp>
      <p:sp>
        <p:nvSpPr>
          <p:cNvPr id="3" name="Text 0"/>
          <p:cNvSpPr/>
          <p:nvPr>
            <p:ph idx="101" type="title" hasCustomPrompt="1"/>
          </p:nvPr>
        </p:nvSpPr>
        <p:spPr>
          <a:xfrm>
            <a:off x="548640" y="2606040"/>
            <a:ext cx="11094415" cy="1005840"/>
          </a:xfrm>
          <a:prstGeom prst="rect">
            <a:avLst/>
          </a:prstGeom>
          <a:noFill/>
          <a:ln/>
        </p:spPr>
        <p:txBody>
          <a:bodyPr wrap="square" rtlCol="0" anchor="t"/>
          <a:lstStyle/>
          <a:p>
            <a:pPr algn="l" indent="0" marL="0">
              <a:buNone/>
            </a:pPr>
            <a:r>
              <a:rPr lang="en-US" sz="4400" b="1" dirty="0">
                <a:solidFill>
                  <a:schemeClr val="bg1"/>
                </a:solidFill>
              </a:rPr>
              <a:t>Producción y ruta del curso</a:t>
            </a:r>
            <a:endParaRPr lang="en-US" sz="4400" dirty="0"/>
          </a:p>
        </p:txBody>
      </p:sp>
      <p:sp>
        <p:nvSpPr>
          <p:cNvPr id="4" name="Text 0"/>
          <p:cNvSpPr/>
          <p:nvPr>
            <p:ph idx="102" type="body" hasCustomPrompt="1"/>
          </p:nvPr>
        </p:nvSpPr>
        <p:spPr>
          <a:xfrm>
            <a:off x="548640" y="3749040"/>
            <a:ext cx="9875520" cy="2011680"/>
          </a:xfrm>
          <a:prstGeom prst="rect">
            <a:avLst/>
          </a:prstGeom>
          <a:noFill/>
          <a:ln/>
        </p:spPr>
        <p:txBody>
          <a:bodyPr wrap="square" rtlCol="0" anchor="t"/>
          <a:lstStyle/>
          <a:p>
            <a:pPr indent="0" marL="0">
              <a:buNone/>
            </a:pPr>
            <a:r>
              <a:rPr lang="en-US" sz="2000" dirty="0">
                <a:solidFill>
                  <a:srgbClr val="D6DEEA"/>
                </a:solidFill>
              </a:rPr>
              <a:t>Qué falta para publicar el tablero, cómo automatizarlo y una ruta de clases para llegar ahí.</a:t>
            </a:r>
            <a:endParaRPr lang="en-US" sz="20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9B4C8"/>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PRODUCCIÓN</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Seguridad antes de publicar</a:t>
            </a:r>
            <a:endParaRPr lang="en-US" sz="3400" dirty="0"/>
          </a:p>
        </p:txBody>
      </p:sp>
      <p:sp>
        <p:nvSpPr>
          <p:cNvPr id="5" name="tarjeta-1353"/>
          <p:cNvSpPr/>
          <p:nvPr/>
        </p:nvSpPr>
        <p:spPr>
          <a:xfrm>
            <a:off x="548640" y="1481328"/>
            <a:ext cx="2567864" cy="2743200"/>
          </a:xfrm>
          <a:prstGeom prst="roundRect">
            <a:avLst>
              <a:gd name="adj" fmla="val 3561"/>
            </a:avLst>
          </a:prstGeom>
          <a:solidFill>
            <a:schemeClr val="bg2"/>
          </a:solidFill>
          <a:ln/>
        </p:spPr>
      </p:sp>
      <p:sp>
        <p:nvSpPr>
          <p:cNvPr id="6" name="circulo-1354"/>
          <p:cNvSpPr/>
          <p:nvPr/>
        </p:nvSpPr>
        <p:spPr>
          <a:xfrm>
            <a:off x="749808" y="1682496"/>
            <a:ext cx="438912" cy="438912"/>
          </a:xfrm>
          <a:prstGeom prst="ellipse">
            <a:avLst/>
          </a:prstGeom>
          <a:solidFill>
            <a:schemeClr val="accent1"/>
          </a:solidFill>
          <a:ln/>
        </p:spPr>
      </p:sp>
      <p:sp>
        <p:nvSpPr>
          <p:cNvPr id="7" name="num-1355"/>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1356"/>
          <p:cNvSpPr txBox="1"/>
          <p:nvPr/>
        </p:nvSpPr>
        <p:spPr>
          <a:xfrm>
            <a:off x="1325880"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Identidad</a:t>
            </a:r>
            <a:endParaRPr lang="en-US" sz="1700" dirty="0"/>
          </a:p>
        </p:txBody>
      </p:sp>
      <p:sp>
        <p:nvSpPr>
          <p:cNvPr id="9" name="desc-1357"/>
          <p:cNvSpPr txBox="1"/>
          <p:nvPr/>
        </p:nvSpPr>
        <p:spPr>
          <a:xfrm>
            <a:off x="777240" y="2267712"/>
            <a:ext cx="2110664" cy="1828800"/>
          </a:xfrm>
          <a:prstGeom prst="rect">
            <a:avLst/>
          </a:prstGeom>
          <a:noFill/>
          <a:ln/>
        </p:spPr>
        <p:txBody>
          <a:bodyPr wrap="square" lIns="0" tIns="0" rIns="0" bIns="0" rtlCol="0" anchor="t"/>
          <a:lstStyle/>
          <a:p>
            <a:pPr indent="0" marL="0">
              <a:buNone/>
            </a:pPr>
            <a:r>
              <a:rPr lang="en-US" sz="1500" dirty="0">
                <a:solidFill>
                  <a:schemeClr val="tx1"/>
                </a:solidFill>
              </a:rPr>
              <a:t>Autenticar usuarios y autorizar cada operación sobre su tablero.</a:t>
            </a:r>
            <a:endParaRPr lang="en-US" sz="1500" dirty="0"/>
          </a:p>
        </p:txBody>
      </p:sp>
      <p:sp>
        <p:nvSpPr>
          <p:cNvPr id="10" name="tarjeta-1358"/>
          <p:cNvSpPr/>
          <p:nvPr/>
        </p:nvSpPr>
        <p:spPr>
          <a:xfrm>
            <a:off x="3390824" y="1481328"/>
            <a:ext cx="2567864" cy="2743200"/>
          </a:xfrm>
          <a:prstGeom prst="roundRect">
            <a:avLst>
              <a:gd name="adj" fmla="val 3561"/>
            </a:avLst>
          </a:prstGeom>
          <a:solidFill>
            <a:schemeClr val="bg2"/>
          </a:solidFill>
          <a:ln/>
        </p:spPr>
      </p:sp>
      <p:sp>
        <p:nvSpPr>
          <p:cNvPr id="11" name="circulo-1359"/>
          <p:cNvSpPr/>
          <p:nvPr/>
        </p:nvSpPr>
        <p:spPr>
          <a:xfrm>
            <a:off x="3591992" y="1682496"/>
            <a:ext cx="438912" cy="438912"/>
          </a:xfrm>
          <a:prstGeom prst="ellipse">
            <a:avLst/>
          </a:prstGeom>
          <a:solidFill>
            <a:schemeClr val="accent2"/>
          </a:solidFill>
          <a:ln/>
        </p:spPr>
      </p:sp>
      <p:sp>
        <p:nvSpPr>
          <p:cNvPr id="12" name="num-1360"/>
          <p:cNvSpPr txBox="1"/>
          <p:nvPr/>
        </p:nvSpPr>
        <p:spPr>
          <a:xfrm>
            <a:off x="3591992"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1361"/>
          <p:cNvSpPr txBox="1"/>
          <p:nvPr/>
        </p:nvSpPr>
        <p:spPr>
          <a:xfrm>
            <a:off x="4168064"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Secretos</a:t>
            </a:r>
            <a:endParaRPr lang="en-US" sz="1700" dirty="0"/>
          </a:p>
        </p:txBody>
      </p:sp>
      <p:sp>
        <p:nvSpPr>
          <p:cNvPr id="14" name="desc-1362"/>
          <p:cNvSpPr txBox="1"/>
          <p:nvPr/>
        </p:nvSpPr>
        <p:spPr>
          <a:xfrm>
            <a:off x="3619424" y="2267712"/>
            <a:ext cx="2110664" cy="1828800"/>
          </a:xfrm>
          <a:prstGeom prst="rect">
            <a:avLst/>
          </a:prstGeom>
          <a:noFill/>
          <a:ln/>
        </p:spPr>
        <p:txBody>
          <a:bodyPr wrap="square" lIns="0" tIns="0" rIns="0" bIns="0" rtlCol="0" anchor="t"/>
          <a:lstStyle/>
          <a:p>
            <a:pPr indent="0" marL="0">
              <a:buNone/>
            </a:pPr>
            <a:r>
              <a:rPr lang="en-US" sz="1500" dirty="0">
                <a:solidFill>
                  <a:schemeClr val="tx1"/>
                </a:solidFill>
              </a:rPr>
              <a:t>Variables externas; usuario de base con permisos acotados.</a:t>
            </a:r>
            <a:endParaRPr lang="en-US" sz="1500" dirty="0"/>
          </a:p>
        </p:txBody>
      </p:sp>
      <p:sp>
        <p:nvSpPr>
          <p:cNvPr id="15" name="tarjeta-1363"/>
          <p:cNvSpPr/>
          <p:nvPr/>
        </p:nvSpPr>
        <p:spPr>
          <a:xfrm>
            <a:off x="6233008" y="1481328"/>
            <a:ext cx="2567864" cy="2743200"/>
          </a:xfrm>
          <a:prstGeom prst="roundRect">
            <a:avLst>
              <a:gd name="adj" fmla="val 3561"/>
            </a:avLst>
          </a:prstGeom>
          <a:solidFill>
            <a:schemeClr val="bg2"/>
          </a:solidFill>
          <a:ln/>
        </p:spPr>
      </p:sp>
      <p:sp>
        <p:nvSpPr>
          <p:cNvPr id="16" name="circulo-1364"/>
          <p:cNvSpPr/>
          <p:nvPr/>
        </p:nvSpPr>
        <p:spPr>
          <a:xfrm>
            <a:off x="6434176" y="1682496"/>
            <a:ext cx="438912" cy="438912"/>
          </a:xfrm>
          <a:prstGeom prst="ellipse">
            <a:avLst/>
          </a:prstGeom>
          <a:solidFill>
            <a:schemeClr val="accent3"/>
          </a:solidFill>
          <a:ln/>
        </p:spPr>
      </p:sp>
      <p:sp>
        <p:nvSpPr>
          <p:cNvPr id="17" name="num-1365"/>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1366"/>
          <p:cNvSpPr txBox="1"/>
          <p:nvPr/>
        </p:nvSpPr>
        <p:spPr>
          <a:xfrm>
            <a:off x="7010248"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Exposición</a:t>
            </a:r>
            <a:endParaRPr lang="en-US" sz="1700" dirty="0"/>
          </a:p>
        </p:txBody>
      </p:sp>
      <p:sp>
        <p:nvSpPr>
          <p:cNvPr id="19" name="desc-1367"/>
          <p:cNvSpPr txBox="1"/>
          <p:nvPr/>
        </p:nvSpPr>
        <p:spPr>
          <a:xfrm>
            <a:off x="6461608" y="2267712"/>
            <a:ext cx="2110664" cy="1828800"/>
          </a:xfrm>
          <a:prstGeom prst="rect">
            <a:avLst/>
          </a:prstGeom>
          <a:noFill/>
          <a:ln/>
        </p:spPr>
        <p:txBody>
          <a:bodyPr wrap="square" lIns="0" tIns="0" rIns="0" bIns="0" rtlCol="0" anchor="t"/>
          <a:lstStyle/>
          <a:p>
            <a:pPr indent="0" marL="0">
              <a:buNone/>
            </a:pPr>
            <a:r>
              <a:rPr lang="en-US" sz="1500" dirty="0">
                <a:solidFill>
                  <a:schemeClr val="tx1"/>
                </a:solidFill>
              </a:rPr>
              <a:t>HTTPS, CORS explícito y errores sin información interna.</a:t>
            </a:r>
            <a:endParaRPr lang="en-US" sz="1500" dirty="0"/>
          </a:p>
        </p:txBody>
      </p:sp>
      <p:sp>
        <p:nvSpPr>
          <p:cNvPr id="20" name="tarjeta-1368"/>
          <p:cNvSpPr/>
          <p:nvPr/>
        </p:nvSpPr>
        <p:spPr>
          <a:xfrm>
            <a:off x="9075191" y="1481328"/>
            <a:ext cx="2567864" cy="2743200"/>
          </a:xfrm>
          <a:prstGeom prst="roundRect">
            <a:avLst>
              <a:gd name="adj" fmla="val 3561"/>
            </a:avLst>
          </a:prstGeom>
          <a:solidFill>
            <a:schemeClr val="bg2"/>
          </a:solidFill>
          <a:ln/>
        </p:spPr>
      </p:sp>
      <p:sp>
        <p:nvSpPr>
          <p:cNvPr id="21" name="circulo-1369"/>
          <p:cNvSpPr/>
          <p:nvPr/>
        </p:nvSpPr>
        <p:spPr>
          <a:xfrm>
            <a:off x="9276359" y="1682496"/>
            <a:ext cx="438912" cy="438912"/>
          </a:xfrm>
          <a:prstGeom prst="ellipse">
            <a:avLst/>
          </a:prstGeom>
          <a:solidFill>
            <a:schemeClr val="accent4"/>
          </a:solidFill>
          <a:ln/>
        </p:spPr>
      </p:sp>
      <p:sp>
        <p:nvSpPr>
          <p:cNvPr id="22" name="num-1370"/>
          <p:cNvSpPr txBox="1"/>
          <p:nvPr/>
        </p:nvSpPr>
        <p:spPr>
          <a:xfrm>
            <a:off x="9276359"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1371"/>
          <p:cNvSpPr txBox="1"/>
          <p:nvPr/>
        </p:nvSpPr>
        <p:spPr>
          <a:xfrm>
            <a:off x="9852431" y="1664208"/>
            <a:ext cx="1607744"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Registro</a:t>
            </a:r>
            <a:endParaRPr lang="en-US" sz="1700" dirty="0"/>
          </a:p>
        </p:txBody>
      </p:sp>
      <p:sp>
        <p:nvSpPr>
          <p:cNvPr id="24" name="desc-1372"/>
          <p:cNvSpPr txBox="1"/>
          <p:nvPr/>
        </p:nvSpPr>
        <p:spPr>
          <a:xfrm>
            <a:off x="9303791" y="2267712"/>
            <a:ext cx="2110664" cy="1828800"/>
          </a:xfrm>
          <a:prstGeom prst="rect">
            <a:avLst/>
          </a:prstGeom>
          <a:noFill/>
          <a:ln/>
        </p:spPr>
        <p:txBody>
          <a:bodyPr wrap="square" lIns="0" tIns="0" rIns="0" bIns="0" rtlCol="0" anchor="t"/>
          <a:lstStyle/>
          <a:p>
            <a:pPr indent="0" marL="0">
              <a:buNone/>
            </a:pPr>
            <a:r>
              <a:rPr lang="en-US" sz="1500" dirty="0">
                <a:solidFill>
                  <a:schemeClr val="tx1"/>
                </a:solidFill>
              </a:rPr>
              <a:t>Logs con id y resultado, sin el DTO completo.</a:t>
            </a:r>
            <a:endParaRPr lang="en-US" sz="1500" dirty="0"/>
          </a:p>
        </p:txBody>
      </p:sp>
      <p:sp>
        <p:nvSpPr>
          <p:cNvPr id="25" name="destacado-1373"/>
          <p:cNvSpPr/>
          <p:nvPr/>
        </p:nvSpPr>
        <p:spPr>
          <a:xfrm>
            <a:off x="548640" y="4572000"/>
            <a:ext cx="11094415" cy="566928"/>
          </a:xfrm>
          <a:prstGeom prst="roundRect">
            <a:avLst>
              <a:gd name="adj" fmla="val 12903"/>
            </a:avLst>
          </a:prstGeom>
          <a:solidFill>
            <a:schemeClr val="accent1"/>
          </a:solidFill>
          <a:ln/>
        </p:spPr>
      </p:sp>
      <p:sp>
        <p:nvSpPr>
          <p:cNvPr id="26" name="destacado-t-1374"/>
          <p:cNvSpPr txBox="1"/>
          <p:nvPr/>
        </p:nvSpPr>
        <p:spPr>
          <a:xfrm>
            <a:off x="822960" y="4572000"/>
            <a:ext cx="10545775" cy="566928"/>
          </a:xfrm>
          <a:prstGeom prst="rect">
            <a:avLst/>
          </a:prstGeom>
          <a:noFill/>
          <a:ln/>
        </p:spPr>
        <p:txBody>
          <a:bodyPr wrap="square" lIns="0" tIns="0" rIns="0" bIns="0" rtlCol="0" anchor="ctr"/>
          <a:lstStyle/>
          <a:p>
            <a:pPr indent="0" marL="0">
              <a:buNone/>
            </a:pPr>
            <a:r>
              <a:rPr lang="en-US" sz="1600" dirty="0">
                <a:solidFill>
                  <a:schemeClr val="bg1"/>
                </a:solidFill>
              </a:rPr>
              <a:t>Mientras no haya login: solo datos ficticios y uso local de laboratorio.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PRODUCCIÓN</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Integración continua con GitHub Actions</a:t>
            </a:r>
            <a:endParaRPr lang="en-US" sz="3400" dirty="0"/>
          </a:p>
        </p:txBody>
      </p:sp>
      <p:sp>
        <p:nvSpPr>
          <p:cNvPr id="5" name="codigo-fondo-1375"/>
          <p:cNvSpPr/>
          <p:nvPr/>
        </p:nvSpPr>
        <p:spPr>
          <a:xfrm>
            <a:off x="548640" y="1481328"/>
            <a:ext cx="6309360" cy="4690872"/>
          </a:xfrm>
          <a:prstGeom prst="roundRect">
            <a:avLst>
              <a:gd name="adj" fmla="val 1559"/>
            </a:avLst>
          </a:prstGeom>
          <a:solidFill>
            <a:schemeClr val="tx2"/>
          </a:solidFill>
          <a:ln/>
        </p:spPr>
      </p:sp>
      <p:sp>
        <p:nvSpPr>
          <p:cNvPr id="6" name="codigo-etq-1376"/>
          <p:cNvSpPr txBox="1"/>
          <p:nvPr/>
        </p:nvSpPr>
        <p:spPr>
          <a:xfrm>
            <a:off x="822960" y="1645920"/>
            <a:ext cx="5760720" cy="274320"/>
          </a:xfrm>
          <a:prstGeom prst="rect">
            <a:avLst/>
          </a:prstGeom>
          <a:noFill/>
          <a:ln/>
        </p:spPr>
        <p:txBody>
          <a:bodyPr wrap="square" lIns="0" tIns="0" rIns="0" bIns="0" rtlCol="0" anchor="ctr"/>
          <a:lstStyle/>
          <a:p>
            <a:pPr indent="0" marL="0">
              <a:buNone/>
            </a:pPr>
            <a:r>
              <a:rPr lang="en-US" sz="1100" b="1" dirty="0">
                <a:solidFill>
                  <a:schemeClr val="accent3"/>
                </a:solidFill>
              </a:rPr>
              <a:t>.github/workflows/ci.yml (propuesta)</a:t>
            </a:r>
            <a:endParaRPr lang="en-US" sz="1100" dirty="0"/>
          </a:p>
        </p:txBody>
      </p:sp>
      <p:sp>
        <p:nvSpPr>
          <p:cNvPr id="7" name="codigo-1377"/>
          <p:cNvSpPr txBox="1"/>
          <p:nvPr/>
        </p:nvSpPr>
        <p:spPr>
          <a:xfrm>
            <a:off x="822960" y="1984248"/>
            <a:ext cx="5760720" cy="4005072"/>
          </a:xfrm>
          <a:prstGeom prst="rect">
            <a:avLst/>
          </a:prstGeom>
          <a:noFill/>
          <a:ln/>
        </p:spPr>
        <p:txBody>
          <a:bodyPr wrap="square" lIns="0" tIns="0" rIns="0" bIns="0" rtlCol="0" anchor="t"/>
          <a:lstStyle/>
          <a:p>
            <a:pPr indent="0" marL="0">
              <a:buNone/>
            </a:pPr>
            <a:r>
              <a:rPr lang="en-US" sz="1300" dirty="0">
                <a:solidFill>
                  <a:srgbClr val="E8EDF5"/>
                </a:solidFill>
                <a:latin typeface="Courier New" pitchFamily="34" charset="0"/>
                <a:ea typeface="Courier New" pitchFamily="34" charset="-122"/>
                <a:cs typeface="Courier New" pitchFamily="34" charset="-120"/>
              </a:rPr>
              <a:t>name: ci</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on: [push, pull_request]</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jobs:</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backend:</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runs-on: ubuntu-latest</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defaults:</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run:</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working-directory: kanban-backend</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steps:</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 uses: actions/checkout@v4</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 uses: actions/setup-java@v4</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with:</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distribution: temurin</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java-version: '21'</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cache: maven</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 run: chmod +x mvnw &amp;&amp; ./mvnw -B verify</a:t>
            </a:r>
            <a:endParaRPr lang="en-US" sz="1300" dirty="0"/>
          </a:p>
        </p:txBody>
      </p:sp>
      <p:sp>
        <p:nvSpPr>
          <p:cNvPr id="8" name="lista-1378"/>
          <p:cNvSpPr txBox="1"/>
          <p:nvPr/>
        </p:nvSpPr>
        <p:spPr>
          <a:xfrm>
            <a:off x="7132320" y="1572768"/>
            <a:ext cx="4507992" cy="4572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Se ejecuta en cada push y Pull Request</a:t>
            </a:r>
            <a:endParaRPr lang="en-US" sz="1600" dirty="0"/>
          </a:p>
          <a:p>
            <a:pPr marL="228600" indent="-228600">
              <a:spcAft>
                <a:spcPts val="800"/>
              </a:spcAft>
              <a:buSzPct val="100000"/>
              <a:buChar char="•"/>
            </a:pPr>
            <a:r>
              <a:rPr lang="en-US" sz="1600" dirty="0">
                <a:solidFill>
                  <a:schemeClr val="tx1"/>
                </a:solidFill>
              </a:rPr>
              <a:t>Mismo JDK 21 que en el curso</a:t>
            </a:r>
            <a:endParaRPr lang="en-US" sz="1600" dirty="0"/>
          </a:p>
          <a:p>
            <a:pPr marL="228600" indent="-228600">
              <a:spcAft>
                <a:spcPts val="800"/>
              </a:spcAft>
              <a:buSzPct val="100000"/>
              <a:buChar char="•"/>
            </a:pPr>
            <a:r>
              <a:rPr lang="en-US" sz="1600" dirty="0">
                <a:solidFill>
                  <a:schemeClr val="tx1"/>
                </a:solidFill>
              </a:rPr>
              <a:t>La rama main protegida exige el check en verde</a:t>
            </a:r>
            <a:endParaRPr lang="en-US" sz="1600" dirty="0"/>
          </a:p>
          <a:p>
            <a:pPr marL="228600" indent="-228600">
              <a:spcAft>
                <a:spcPts val="800"/>
              </a:spcAft>
              <a:buSzPct val="100000"/>
              <a:buChar char="•"/>
            </a:pPr>
            <a:r>
              <a:rPr lang="en-US" sz="1600" dirty="0">
                <a:solidFill>
                  <a:schemeClr val="tx1"/>
                </a:solidFill>
              </a:rPr>
              <a:t>Agregar un job igual para el frontend: npm ci y ng test</a:t>
            </a:r>
            <a:endParaRPr lang="en-US" sz="1600" dirty="0"/>
          </a:p>
          <a:p>
            <a:pPr marL="228600" indent="-228600">
              <a:spcAft>
                <a:spcPts val="800"/>
              </a:spcAft>
              <a:buSzPct val="100000"/>
              <a:buChar char="•"/>
            </a:pPr>
            <a:r>
              <a:rPr lang="en-US" sz="1600" dirty="0">
                <a:solidFill>
                  <a:schemeClr val="tx1"/>
                </a:solidFill>
              </a:rPr>
              <a:t>CI prueba, pero no decide si el requisito es correcto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PRODUCCIÓN</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Docker Compose para levantar todo junto</a:t>
            </a:r>
            <a:endParaRPr lang="en-US" sz="3400" dirty="0"/>
          </a:p>
        </p:txBody>
      </p:sp>
      <p:sp>
        <p:nvSpPr>
          <p:cNvPr id="5" name="codigo-fondo-1379"/>
          <p:cNvSpPr/>
          <p:nvPr/>
        </p:nvSpPr>
        <p:spPr>
          <a:xfrm>
            <a:off x="548640" y="1481328"/>
            <a:ext cx="6309360" cy="4690872"/>
          </a:xfrm>
          <a:prstGeom prst="roundRect">
            <a:avLst>
              <a:gd name="adj" fmla="val 1559"/>
            </a:avLst>
          </a:prstGeom>
          <a:solidFill>
            <a:schemeClr val="tx2"/>
          </a:solidFill>
          <a:ln/>
        </p:spPr>
      </p:sp>
      <p:sp>
        <p:nvSpPr>
          <p:cNvPr id="6" name="codigo-etq-1380"/>
          <p:cNvSpPr txBox="1"/>
          <p:nvPr/>
        </p:nvSpPr>
        <p:spPr>
          <a:xfrm>
            <a:off x="822960" y="1645920"/>
            <a:ext cx="5760720" cy="274320"/>
          </a:xfrm>
          <a:prstGeom prst="rect">
            <a:avLst/>
          </a:prstGeom>
          <a:noFill/>
          <a:ln/>
        </p:spPr>
        <p:txBody>
          <a:bodyPr wrap="square" lIns="0" tIns="0" rIns="0" bIns="0" rtlCol="0" anchor="ctr"/>
          <a:lstStyle/>
          <a:p>
            <a:pPr indent="0" marL="0">
              <a:buNone/>
            </a:pPr>
            <a:r>
              <a:rPr lang="en-US" sz="1100" b="1" dirty="0">
                <a:solidFill>
                  <a:schemeClr val="accent3"/>
                </a:solidFill>
              </a:rPr>
              <a:t>docker-compose.yml (propuesta)</a:t>
            </a:r>
            <a:endParaRPr lang="en-US" sz="1100" dirty="0"/>
          </a:p>
        </p:txBody>
      </p:sp>
      <p:sp>
        <p:nvSpPr>
          <p:cNvPr id="7" name="codigo-1381"/>
          <p:cNvSpPr txBox="1"/>
          <p:nvPr/>
        </p:nvSpPr>
        <p:spPr>
          <a:xfrm>
            <a:off x="822960" y="1984248"/>
            <a:ext cx="5760720" cy="4005072"/>
          </a:xfrm>
          <a:prstGeom prst="rect">
            <a:avLst/>
          </a:prstGeom>
          <a:noFill/>
          <a:ln/>
        </p:spPr>
        <p:txBody>
          <a:bodyPr wrap="square" lIns="0" tIns="0" rIns="0" bIns="0" rtlCol="0" anchor="t"/>
          <a:lstStyle/>
          <a:p>
            <a:pPr indent="0" marL="0">
              <a:buNone/>
            </a:pPr>
            <a:r>
              <a:rPr lang="en-US" sz="1300" dirty="0">
                <a:solidFill>
                  <a:srgbClr val="E8EDF5"/>
                </a:solidFill>
                <a:latin typeface="Courier New" pitchFamily="34" charset="0"/>
                <a:ea typeface="Courier New" pitchFamily="34" charset="-122"/>
                <a:cs typeface="Courier New" pitchFamily="34" charset="-120"/>
              </a:rPr>
              <a:t>services:</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db:</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image: postgres:18</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environment:</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POSTGRES_DB: kanban_db</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POSTGRES_USER: kanban</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POSTGRES_PASSWORD: kanban   # solo laboratorio</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volumes: [datos:/var/lib/postgresql]</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backend:</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build: ./kanban-backend</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environment:</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DB_HOST: db</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ports: ["8083:8083"]</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depends_on: [db]</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volumes:</a:t>
            </a:r>
            <a:endParaRPr lang="en-US" sz="1300" dirty="0"/>
          </a:p>
          <a:p>
            <a:pPr indent="0" marL="0">
              <a:buNone/>
            </a:pPr>
            <a:r>
              <a:rPr lang="en-US" sz="1300" dirty="0">
                <a:solidFill>
                  <a:srgbClr val="E8EDF5"/>
                </a:solidFill>
                <a:latin typeface="Courier New" pitchFamily="34" charset="0"/>
                <a:ea typeface="Courier New" pitchFamily="34" charset="-122"/>
                <a:cs typeface="Courier New" pitchFamily="34" charset="-120"/>
              </a:rPr>
              <a:t>  datos:</a:t>
            </a:r>
            <a:endParaRPr lang="en-US" sz="1300" dirty="0"/>
          </a:p>
        </p:txBody>
      </p:sp>
      <p:sp>
        <p:nvSpPr>
          <p:cNvPr id="8" name="lista-1382"/>
          <p:cNvSpPr txBox="1"/>
          <p:nvPr/>
        </p:nvSpPr>
        <p:spPr>
          <a:xfrm>
            <a:off x="7132320" y="1572768"/>
            <a:ext cx="4507992" cy="4572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docker compose up levanta base y backend</a:t>
            </a:r>
            <a:endParaRPr lang="en-US" sz="1600" dirty="0"/>
          </a:p>
          <a:p>
            <a:pPr marL="228600" indent="-228600">
              <a:spcAft>
                <a:spcPts val="800"/>
              </a:spcAft>
              <a:buSzPct val="100000"/>
              <a:buChar char="•"/>
            </a:pPr>
            <a:r>
              <a:rPr lang="en-US" sz="1600" dirty="0">
                <a:solidFill>
                  <a:schemeClr val="tx1"/>
                </a:solidFill>
              </a:rPr>
              <a:t>DB_HOST: db, no localhost</a:t>
            </a:r>
            <a:endParaRPr lang="en-US" sz="1600" dirty="0"/>
          </a:p>
          <a:p>
            <a:pPr marL="228600" indent="-228600">
              <a:spcAft>
                <a:spcPts val="800"/>
              </a:spcAft>
              <a:buSzPct val="100000"/>
              <a:buChar char="•"/>
            </a:pPr>
            <a:r>
              <a:rPr lang="en-US" sz="1600" dirty="0">
                <a:solidFill>
                  <a:schemeClr val="tx1"/>
                </a:solidFill>
              </a:rPr>
              <a:t>El volumen conserva los datos</a:t>
            </a:r>
            <a:endParaRPr lang="en-US" sz="1600" dirty="0"/>
          </a:p>
          <a:p>
            <a:pPr marL="228600" indent="-228600">
              <a:spcAft>
                <a:spcPts val="800"/>
              </a:spcAft>
              <a:buSzPct val="100000"/>
              <a:buChar char="•"/>
            </a:pPr>
            <a:r>
              <a:rPr lang="en-US" sz="1600" dirty="0">
                <a:solidFill>
                  <a:schemeClr val="tx1"/>
                </a:solidFill>
              </a:rPr>
              <a:t>La clave del ejemplo es solo de laboratorio</a:t>
            </a:r>
            <a:endParaRPr lang="en-US" sz="1600" dirty="0"/>
          </a:p>
          <a:p>
            <a:pPr marL="228600" indent="-228600">
              <a:spcAft>
                <a:spcPts val="800"/>
              </a:spcAft>
              <a:buSzPct val="100000"/>
              <a:buChar char="•"/>
            </a:pPr>
            <a:r>
              <a:rPr lang="en-US" sz="1600" dirty="0">
                <a:solidFill>
                  <a:schemeClr val="tx1"/>
                </a:solidFill>
              </a:rPr>
              <a:t>En producción, los secretos vienen del entorno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PRODUCCIÓN</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Despliegue propuesto</a:t>
            </a:r>
            <a:endParaRPr lang="en-US" sz="3400" dirty="0"/>
          </a:p>
        </p:txBody>
      </p:sp>
      <p:sp>
        <p:nvSpPr>
          <p:cNvPr id="5" name="Shape 2"/>
          <p:cNvSpPr/>
          <p:nvPr/>
        </p:nvSpPr>
        <p:spPr>
          <a:xfrm>
            <a:off x="548640" y="1755648"/>
            <a:ext cx="2468880" cy="1463040"/>
          </a:xfrm>
          <a:prstGeom prst="roundRect">
            <a:avLst>
              <a:gd name="adj" fmla="val 6250"/>
            </a:avLst>
          </a:prstGeom>
          <a:solidFill>
            <a:schemeClr val="accent5"/>
          </a:solidFill>
          <a:ln/>
        </p:spPr>
      </p:sp>
      <p:sp>
        <p:nvSpPr>
          <p:cNvPr id="6" name="texto-1383"/>
          <p:cNvSpPr txBox="1"/>
          <p:nvPr/>
        </p:nvSpPr>
        <p:spPr>
          <a:xfrm>
            <a:off x="685800" y="1755648"/>
            <a:ext cx="2194560" cy="1463040"/>
          </a:xfrm>
          <a:prstGeom prst="rect">
            <a:avLst/>
          </a:prstGeom>
          <a:noFill/>
          <a:ln/>
        </p:spPr>
        <p:txBody>
          <a:bodyPr wrap="square" lIns="0" tIns="0" rIns="0" bIns="0" rtlCol="0" anchor="ctr"/>
          <a:lstStyle/>
          <a:p>
            <a:pPr algn="ctr" indent="0" marL="0">
              <a:buNone/>
            </a:pPr>
            <a:r>
              <a:rPr lang="en-US" sz="2000" b="1" dirty="0">
                <a:solidFill>
                  <a:schemeClr val="bg1"/>
                </a:solidFill>
              </a:rPr>
              <a:t>Navegador</a:t>
            </a:r>
            <a:endParaRPr lang="en-US" sz="1600" dirty="0"/>
          </a:p>
          <a:p>
            <a:pPr algn="ctr" indent="0" marL="0">
              <a:buNone/>
            </a:pPr>
            <a:r>
              <a:rPr lang="en-US" sz="1500" dirty="0">
                <a:solidFill>
                  <a:schemeClr val="bg1"/>
                </a:solidFill>
              </a:rPr>
              <a:t>Usuario</a:t>
            </a:r>
            <a:endParaRPr lang="en-US" sz="1600" dirty="0"/>
          </a:p>
        </p:txBody>
      </p:sp>
      <p:sp>
        <p:nvSpPr>
          <p:cNvPr id="7" name="linea-1384"/>
          <p:cNvSpPr/>
          <p:nvPr/>
        </p:nvSpPr>
        <p:spPr>
          <a:xfrm>
            <a:off x="3054096" y="2487168"/>
            <a:ext cx="292608" cy="0"/>
          </a:xfrm>
          <a:prstGeom prst="line">
            <a:avLst/>
          </a:prstGeom>
          <a:noFill/>
          <a:ln w="22225">
            <a:solidFill>
              <a:schemeClr val="accent5"/>
            </a:solidFill>
            <a:prstDash val="solid"/>
            <a:tailEnd type="triangle"/>
          </a:ln>
        </p:spPr>
      </p:sp>
      <p:sp>
        <p:nvSpPr>
          <p:cNvPr id="8" name="etq-1385"/>
          <p:cNvSpPr txBox="1"/>
          <p:nvPr/>
        </p:nvSpPr>
        <p:spPr>
          <a:xfrm>
            <a:off x="2697480" y="3310128"/>
            <a:ext cx="1005840" cy="274320"/>
          </a:xfrm>
          <a:prstGeom prst="rect">
            <a:avLst/>
          </a:prstGeom>
          <a:noFill/>
          <a:ln/>
        </p:spPr>
        <p:txBody>
          <a:bodyPr wrap="square" lIns="0" tIns="0" rIns="0" bIns="0" rtlCol="0" anchor="ctr"/>
          <a:lstStyle/>
          <a:p>
            <a:pPr algn="ctr" indent="0" marL="0">
              <a:buNone/>
            </a:pPr>
            <a:r>
              <a:rPr lang="en-US" sz="1100" dirty="0">
                <a:solidFill>
                  <a:schemeClr val="accent5"/>
                </a:solidFill>
              </a:rPr>
              <a:t>HTTPS</a:t>
            </a:r>
            <a:endParaRPr lang="en-US" sz="1100" dirty="0"/>
          </a:p>
        </p:txBody>
      </p:sp>
      <p:sp>
        <p:nvSpPr>
          <p:cNvPr id="9" name="Shape 6"/>
          <p:cNvSpPr/>
          <p:nvPr/>
        </p:nvSpPr>
        <p:spPr>
          <a:xfrm>
            <a:off x="3383280" y="1755648"/>
            <a:ext cx="2468880" cy="1463040"/>
          </a:xfrm>
          <a:prstGeom prst="roundRect">
            <a:avLst>
              <a:gd name="adj" fmla="val 6250"/>
            </a:avLst>
          </a:prstGeom>
          <a:solidFill>
            <a:schemeClr val="accent4"/>
          </a:solidFill>
          <a:ln/>
        </p:spPr>
      </p:sp>
      <p:sp>
        <p:nvSpPr>
          <p:cNvPr id="10" name="texto-1386"/>
          <p:cNvSpPr txBox="1"/>
          <p:nvPr/>
        </p:nvSpPr>
        <p:spPr>
          <a:xfrm>
            <a:off x="3520440" y="1755648"/>
            <a:ext cx="2194560" cy="1463040"/>
          </a:xfrm>
          <a:prstGeom prst="rect">
            <a:avLst/>
          </a:prstGeom>
          <a:noFill/>
          <a:ln/>
        </p:spPr>
        <p:txBody>
          <a:bodyPr wrap="square" lIns="0" tIns="0" rIns="0" bIns="0" rtlCol="0" anchor="ctr"/>
          <a:lstStyle/>
          <a:p>
            <a:pPr algn="ctr" indent="0" marL="0">
              <a:buNone/>
            </a:pPr>
            <a:r>
              <a:rPr lang="en-US" sz="2000" b="1" dirty="0">
                <a:solidFill>
                  <a:schemeClr val="bg1"/>
                </a:solidFill>
              </a:rPr>
              <a:t>Vercel</a:t>
            </a:r>
            <a:endParaRPr lang="en-US" sz="1600" dirty="0"/>
          </a:p>
          <a:p>
            <a:pPr algn="ctr" indent="0" marL="0">
              <a:buNone/>
            </a:pPr>
            <a:r>
              <a:rPr lang="en-US" sz="1500" dirty="0">
                <a:solidFill>
                  <a:schemeClr val="bg1"/>
                </a:solidFill>
              </a:rPr>
              <a:t>Angular compilado</a:t>
            </a:r>
            <a:endParaRPr lang="en-US" sz="1600" dirty="0"/>
          </a:p>
        </p:txBody>
      </p:sp>
      <p:sp>
        <p:nvSpPr>
          <p:cNvPr id="11" name="linea-1387"/>
          <p:cNvSpPr/>
          <p:nvPr/>
        </p:nvSpPr>
        <p:spPr>
          <a:xfrm>
            <a:off x="5888736" y="2487168"/>
            <a:ext cx="292608" cy="0"/>
          </a:xfrm>
          <a:prstGeom prst="line">
            <a:avLst/>
          </a:prstGeom>
          <a:noFill/>
          <a:ln w="22225">
            <a:solidFill>
              <a:schemeClr val="accent5"/>
            </a:solidFill>
            <a:prstDash val="solid"/>
            <a:tailEnd type="triangle"/>
          </a:ln>
        </p:spPr>
      </p:sp>
      <p:sp>
        <p:nvSpPr>
          <p:cNvPr id="12" name="etq-1388"/>
          <p:cNvSpPr txBox="1"/>
          <p:nvPr/>
        </p:nvSpPr>
        <p:spPr>
          <a:xfrm>
            <a:off x="5532120" y="3310128"/>
            <a:ext cx="1005840" cy="274320"/>
          </a:xfrm>
          <a:prstGeom prst="rect">
            <a:avLst/>
          </a:prstGeom>
          <a:noFill/>
          <a:ln/>
        </p:spPr>
        <p:txBody>
          <a:bodyPr wrap="square" lIns="0" tIns="0" rIns="0" bIns="0" rtlCol="0" anchor="ctr"/>
          <a:lstStyle/>
          <a:p>
            <a:pPr algn="ctr" indent="0" marL="0">
              <a:buNone/>
            </a:pPr>
            <a:r>
              <a:rPr lang="en-US" sz="1100" dirty="0">
                <a:solidFill>
                  <a:schemeClr val="accent5"/>
                </a:solidFill>
              </a:rPr>
              <a:t>HTTPS / JSON</a:t>
            </a:r>
            <a:endParaRPr lang="en-US" sz="1100" dirty="0"/>
          </a:p>
        </p:txBody>
      </p:sp>
      <p:sp>
        <p:nvSpPr>
          <p:cNvPr id="13" name="Shape 10"/>
          <p:cNvSpPr/>
          <p:nvPr/>
        </p:nvSpPr>
        <p:spPr>
          <a:xfrm>
            <a:off x="6217920" y="1755648"/>
            <a:ext cx="2468880" cy="1463040"/>
          </a:xfrm>
          <a:prstGeom prst="roundRect">
            <a:avLst>
              <a:gd name="adj" fmla="val 6250"/>
            </a:avLst>
          </a:prstGeom>
          <a:solidFill>
            <a:schemeClr val="tx2"/>
          </a:solidFill>
          <a:ln/>
        </p:spPr>
      </p:sp>
      <p:sp>
        <p:nvSpPr>
          <p:cNvPr id="14" name="texto-1389"/>
          <p:cNvSpPr txBox="1"/>
          <p:nvPr/>
        </p:nvSpPr>
        <p:spPr>
          <a:xfrm>
            <a:off x="6355080" y="1755648"/>
            <a:ext cx="2194560" cy="1463040"/>
          </a:xfrm>
          <a:prstGeom prst="rect">
            <a:avLst/>
          </a:prstGeom>
          <a:noFill/>
          <a:ln/>
        </p:spPr>
        <p:txBody>
          <a:bodyPr wrap="square" lIns="0" tIns="0" rIns="0" bIns="0" rtlCol="0" anchor="ctr"/>
          <a:lstStyle/>
          <a:p>
            <a:pPr algn="ctr" indent="0" marL="0">
              <a:buNone/>
            </a:pPr>
            <a:r>
              <a:rPr lang="en-US" sz="2000" b="1" dirty="0">
                <a:solidFill>
                  <a:schemeClr val="bg1"/>
                </a:solidFill>
              </a:rPr>
              <a:t>Droplet</a:t>
            </a:r>
            <a:endParaRPr lang="en-US" sz="1600" dirty="0"/>
          </a:p>
          <a:p>
            <a:pPr algn="ctr" indent="0" marL="0">
              <a:buNone/>
            </a:pPr>
            <a:r>
              <a:rPr lang="en-US" sz="1500" dirty="0">
                <a:solidFill>
                  <a:schemeClr val="bg1"/>
                </a:solidFill>
              </a:rPr>
              <a:t>Spring Boot · Java 21</a:t>
            </a:r>
            <a:endParaRPr lang="en-US" sz="1600" dirty="0"/>
          </a:p>
        </p:txBody>
      </p:sp>
      <p:sp>
        <p:nvSpPr>
          <p:cNvPr id="15" name="linea-1390"/>
          <p:cNvSpPr/>
          <p:nvPr/>
        </p:nvSpPr>
        <p:spPr>
          <a:xfrm>
            <a:off x="8723376" y="2487168"/>
            <a:ext cx="292608" cy="0"/>
          </a:xfrm>
          <a:prstGeom prst="line">
            <a:avLst/>
          </a:prstGeom>
          <a:noFill/>
          <a:ln w="22225">
            <a:solidFill>
              <a:schemeClr val="accent5"/>
            </a:solidFill>
            <a:prstDash val="solid"/>
            <a:tailEnd type="triangle"/>
          </a:ln>
        </p:spPr>
      </p:sp>
      <p:sp>
        <p:nvSpPr>
          <p:cNvPr id="16" name="etq-1391"/>
          <p:cNvSpPr txBox="1"/>
          <p:nvPr/>
        </p:nvSpPr>
        <p:spPr>
          <a:xfrm>
            <a:off x="8366760" y="3310128"/>
            <a:ext cx="1005840" cy="274320"/>
          </a:xfrm>
          <a:prstGeom prst="rect">
            <a:avLst/>
          </a:prstGeom>
          <a:noFill/>
          <a:ln/>
        </p:spPr>
        <p:txBody>
          <a:bodyPr wrap="square" lIns="0" tIns="0" rIns="0" bIns="0" rtlCol="0" anchor="ctr"/>
          <a:lstStyle/>
          <a:p>
            <a:pPr algn="ctr" indent="0" marL="0">
              <a:buNone/>
            </a:pPr>
            <a:r>
              <a:rPr lang="en-US" sz="1100" dirty="0">
                <a:solidFill>
                  <a:schemeClr val="accent5"/>
                </a:solidFill>
              </a:rPr>
              <a:t>JDBC / TLS</a:t>
            </a:r>
            <a:endParaRPr lang="en-US" sz="1100" dirty="0"/>
          </a:p>
        </p:txBody>
      </p:sp>
      <p:sp>
        <p:nvSpPr>
          <p:cNvPr id="17" name="Shape 14"/>
          <p:cNvSpPr/>
          <p:nvPr/>
        </p:nvSpPr>
        <p:spPr>
          <a:xfrm>
            <a:off x="9052560" y="1755648"/>
            <a:ext cx="2468880" cy="1463040"/>
          </a:xfrm>
          <a:prstGeom prst="roundRect">
            <a:avLst>
              <a:gd name="adj" fmla="val 6250"/>
            </a:avLst>
          </a:prstGeom>
          <a:solidFill>
            <a:schemeClr val="accent1"/>
          </a:solidFill>
          <a:ln/>
        </p:spPr>
      </p:sp>
      <p:sp>
        <p:nvSpPr>
          <p:cNvPr id="18" name="texto-1392"/>
          <p:cNvSpPr txBox="1"/>
          <p:nvPr/>
        </p:nvSpPr>
        <p:spPr>
          <a:xfrm>
            <a:off x="9189720" y="1755648"/>
            <a:ext cx="2194560" cy="1463040"/>
          </a:xfrm>
          <a:prstGeom prst="rect">
            <a:avLst/>
          </a:prstGeom>
          <a:noFill/>
          <a:ln/>
        </p:spPr>
        <p:txBody>
          <a:bodyPr wrap="square" lIns="0" tIns="0" rIns="0" bIns="0" rtlCol="0" anchor="ctr"/>
          <a:lstStyle/>
          <a:p>
            <a:pPr algn="ctr" indent="0" marL="0">
              <a:buNone/>
            </a:pPr>
            <a:r>
              <a:rPr lang="en-US" sz="2000" b="1" dirty="0">
                <a:solidFill>
                  <a:schemeClr val="bg1"/>
                </a:solidFill>
              </a:rPr>
              <a:t>Supabase</a:t>
            </a:r>
            <a:endParaRPr lang="en-US" sz="1600" dirty="0"/>
          </a:p>
          <a:p>
            <a:pPr algn="ctr" indent="0" marL="0">
              <a:buNone/>
            </a:pPr>
            <a:r>
              <a:rPr lang="en-US" sz="1500" dirty="0">
                <a:solidFill>
                  <a:schemeClr val="bg1"/>
                </a:solidFill>
              </a:rPr>
              <a:t>PostgreSQL gestionado</a:t>
            </a:r>
            <a:endParaRPr lang="en-US" sz="1600" dirty="0"/>
          </a:p>
        </p:txBody>
      </p:sp>
      <p:sp>
        <p:nvSpPr>
          <p:cNvPr id="19" name="tarjeta-1393"/>
          <p:cNvSpPr/>
          <p:nvPr/>
        </p:nvSpPr>
        <p:spPr>
          <a:xfrm>
            <a:off x="548640" y="3886200"/>
            <a:ext cx="3515258" cy="2103120"/>
          </a:xfrm>
          <a:prstGeom prst="roundRect">
            <a:avLst>
              <a:gd name="adj" fmla="val 4348"/>
            </a:avLst>
          </a:prstGeom>
          <a:solidFill>
            <a:schemeClr val="bg2"/>
          </a:solidFill>
          <a:ln/>
        </p:spPr>
      </p:sp>
      <p:sp>
        <p:nvSpPr>
          <p:cNvPr id="20" name="circulo-1394"/>
          <p:cNvSpPr/>
          <p:nvPr/>
        </p:nvSpPr>
        <p:spPr>
          <a:xfrm>
            <a:off x="749808" y="4087368"/>
            <a:ext cx="438912" cy="438912"/>
          </a:xfrm>
          <a:prstGeom prst="ellipse">
            <a:avLst/>
          </a:prstGeom>
          <a:solidFill>
            <a:schemeClr val="accent1"/>
          </a:solidFill>
          <a:ln/>
        </p:spPr>
      </p:sp>
      <p:sp>
        <p:nvSpPr>
          <p:cNvPr id="21" name="num-1395"/>
          <p:cNvSpPr txBox="1"/>
          <p:nvPr/>
        </p:nvSpPr>
        <p:spPr>
          <a:xfrm>
            <a:off x="749808" y="408736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2" name="titulo-1396"/>
          <p:cNvSpPr txBox="1"/>
          <p:nvPr/>
        </p:nvSpPr>
        <p:spPr>
          <a:xfrm>
            <a:off x="1325880" y="4069080"/>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Credenciales solo en el backend</a:t>
            </a:r>
            <a:endParaRPr lang="en-US" sz="1700" dirty="0"/>
          </a:p>
        </p:txBody>
      </p:sp>
      <p:sp>
        <p:nvSpPr>
          <p:cNvPr id="23" name="desc-1397"/>
          <p:cNvSpPr txBox="1"/>
          <p:nvPr/>
        </p:nvSpPr>
        <p:spPr>
          <a:xfrm>
            <a:off x="777240" y="4672584"/>
            <a:ext cx="3058058" cy="1188720"/>
          </a:xfrm>
          <a:prstGeom prst="rect">
            <a:avLst/>
          </a:prstGeom>
          <a:noFill/>
          <a:ln/>
        </p:spPr>
        <p:txBody>
          <a:bodyPr wrap="square" lIns="0" tIns="0" rIns="0" bIns="0" rtlCol="0" anchor="t"/>
          <a:lstStyle/>
          <a:p>
            <a:pPr indent="0" marL="0">
              <a:buNone/>
            </a:pPr>
            <a:r>
              <a:rPr lang="en-US" sz="1600" dirty="0">
                <a:solidFill>
                  <a:schemeClr val="tx1"/>
                </a:solidFill>
              </a:rPr>
              <a:t>El navegador nunca recibe la conexión a la base.</a:t>
            </a:r>
            <a:endParaRPr lang="en-US" sz="1600" dirty="0"/>
          </a:p>
        </p:txBody>
      </p:sp>
      <p:sp>
        <p:nvSpPr>
          <p:cNvPr id="24" name="tarjeta-1398"/>
          <p:cNvSpPr/>
          <p:nvPr/>
        </p:nvSpPr>
        <p:spPr>
          <a:xfrm>
            <a:off x="4338218" y="3886200"/>
            <a:ext cx="3515258" cy="2103120"/>
          </a:xfrm>
          <a:prstGeom prst="roundRect">
            <a:avLst>
              <a:gd name="adj" fmla="val 4348"/>
            </a:avLst>
          </a:prstGeom>
          <a:solidFill>
            <a:schemeClr val="bg2"/>
          </a:solidFill>
          <a:ln/>
        </p:spPr>
      </p:sp>
      <p:sp>
        <p:nvSpPr>
          <p:cNvPr id="25" name="circulo-1399"/>
          <p:cNvSpPr/>
          <p:nvPr/>
        </p:nvSpPr>
        <p:spPr>
          <a:xfrm>
            <a:off x="4539386" y="4087368"/>
            <a:ext cx="438912" cy="438912"/>
          </a:xfrm>
          <a:prstGeom prst="ellipse">
            <a:avLst/>
          </a:prstGeom>
          <a:solidFill>
            <a:schemeClr val="accent3"/>
          </a:solidFill>
          <a:ln/>
        </p:spPr>
      </p:sp>
      <p:sp>
        <p:nvSpPr>
          <p:cNvPr id="26" name="num-1400"/>
          <p:cNvSpPr txBox="1"/>
          <p:nvPr/>
        </p:nvSpPr>
        <p:spPr>
          <a:xfrm>
            <a:off x="4539386" y="408736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7" name="titulo-1401"/>
          <p:cNvSpPr txBox="1"/>
          <p:nvPr/>
        </p:nvSpPr>
        <p:spPr>
          <a:xfrm>
            <a:off x="5115458" y="4069080"/>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Backend con alojamiento</a:t>
            </a:r>
            <a:endParaRPr lang="en-US" sz="1700" dirty="0"/>
          </a:p>
        </p:txBody>
      </p:sp>
      <p:sp>
        <p:nvSpPr>
          <p:cNvPr id="28" name="desc-1402"/>
          <p:cNvSpPr txBox="1"/>
          <p:nvPr/>
        </p:nvSpPr>
        <p:spPr>
          <a:xfrm>
            <a:off x="4566818" y="4672584"/>
            <a:ext cx="3058058" cy="1188720"/>
          </a:xfrm>
          <a:prstGeom prst="rect">
            <a:avLst/>
          </a:prstGeom>
          <a:noFill/>
          <a:ln/>
        </p:spPr>
        <p:txBody>
          <a:bodyPr wrap="square" lIns="0" tIns="0" rIns="0" bIns="0" rtlCol="0" anchor="t"/>
          <a:lstStyle/>
          <a:p>
            <a:pPr indent="0" marL="0">
              <a:buNone/>
            </a:pPr>
            <a:r>
              <a:rPr lang="en-US" sz="1600" dirty="0">
                <a:solidFill>
                  <a:schemeClr val="tx1"/>
                </a:solidFill>
              </a:rPr>
              <a:t>Publicar Angular no publica el backend local.</a:t>
            </a:r>
            <a:endParaRPr lang="en-US" sz="1600" dirty="0"/>
          </a:p>
        </p:txBody>
      </p:sp>
      <p:sp>
        <p:nvSpPr>
          <p:cNvPr id="29" name="tarjeta-1403"/>
          <p:cNvSpPr/>
          <p:nvPr/>
        </p:nvSpPr>
        <p:spPr>
          <a:xfrm>
            <a:off x="8127797" y="3886200"/>
            <a:ext cx="3515258" cy="2103120"/>
          </a:xfrm>
          <a:prstGeom prst="roundRect">
            <a:avLst>
              <a:gd name="adj" fmla="val 4348"/>
            </a:avLst>
          </a:prstGeom>
          <a:solidFill>
            <a:schemeClr val="bg2"/>
          </a:solidFill>
          <a:ln/>
        </p:spPr>
      </p:sp>
      <p:sp>
        <p:nvSpPr>
          <p:cNvPr id="30" name="circulo-1404"/>
          <p:cNvSpPr/>
          <p:nvPr/>
        </p:nvSpPr>
        <p:spPr>
          <a:xfrm>
            <a:off x="8328965" y="4087368"/>
            <a:ext cx="438912" cy="438912"/>
          </a:xfrm>
          <a:prstGeom prst="ellipse">
            <a:avLst/>
          </a:prstGeom>
          <a:solidFill>
            <a:schemeClr val="accent4"/>
          </a:solidFill>
          <a:ln/>
        </p:spPr>
      </p:sp>
      <p:sp>
        <p:nvSpPr>
          <p:cNvPr id="31" name="num-1405"/>
          <p:cNvSpPr txBox="1"/>
          <p:nvPr/>
        </p:nvSpPr>
        <p:spPr>
          <a:xfrm>
            <a:off x="8328965" y="408736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2" name="titulo-1406"/>
          <p:cNvSpPr txBox="1"/>
          <p:nvPr/>
        </p:nvSpPr>
        <p:spPr>
          <a:xfrm>
            <a:off x="8905037" y="4069080"/>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Costos y condiciones</a:t>
            </a:r>
            <a:endParaRPr lang="en-US" sz="1700" dirty="0"/>
          </a:p>
        </p:txBody>
      </p:sp>
      <p:sp>
        <p:nvSpPr>
          <p:cNvPr id="33" name="desc-1407"/>
          <p:cNvSpPr txBox="1"/>
          <p:nvPr/>
        </p:nvSpPr>
        <p:spPr>
          <a:xfrm>
            <a:off x="8356397" y="4672584"/>
            <a:ext cx="3058058" cy="1188720"/>
          </a:xfrm>
          <a:prstGeom prst="rect">
            <a:avLst/>
          </a:prstGeom>
          <a:noFill/>
          <a:ln/>
        </p:spPr>
        <p:txBody>
          <a:bodyPr wrap="square" lIns="0" tIns="0" rIns="0" bIns="0" rtlCol="0" anchor="t"/>
          <a:lstStyle/>
          <a:p>
            <a:pPr indent="0" marL="0">
              <a:buNone/>
            </a:pPr>
            <a:r>
              <a:rPr lang="en-US" sz="1600" dirty="0">
                <a:solidFill>
                  <a:schemeClr val="tx1"/>
                </a:solidFill>
              </a:rPr>
              <a:t>Planes gratuitos con límites; un Droplet tiene costo mensual.</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PRODUCCIÓN</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Ruta sin costo y ruta con servidor</a:t>
            </a:r>
            <a:endParaRPr lang="en-US" sz="3400" dirty="0"/>
          </a:p>
        </p:txBody>
      </p:sp>
      <p:graphicFrame>
        <p:nvGraphicFramePr>
          <p:cNvPr id="112" name="tabla-1408"/>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103120"/>
                <a:gridCol w="2103120"/>
                <a:gridCol w="2194560"/>
                <a:gridCol w="2194560"/>
                <a:gridCol w="2496312"/>
              </a:tblGrid>
              <a:tr h="731520">
                <a:tc>
                  <a:txBody>
                    <a:bodyPr/>
                    <a:lstStyle/>
                    <a:p>
                      <a:pPr indent="0" marL="0">
                        <a:buNone/>
                      </a:pPr>
                      <a:r>
                        <a:rPr lang="en-US" sz="1400" b="1" dirty="0">
                          <a:solidFill>
                            <a:schemeClr val="bg1"/>
                          </a:solidFill>
                        </a:rPr>
                        <a:t>Ruta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Frontend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Backend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Base de datos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Alcance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731520">
                <a:tc>
                  <a:txBody>
                    <a:bodyPr/>
                    <a:lstStyle/>
                    <a:p>
                      <a:pPr indent="0" marL="0">
                        <a:buNone/>
                      </a:pPr>
                      <a:r>
                        <a:rPr lang="en-US" sz="1400" b="1" dirty="0">
                          <a:solidFill>
                            <a:schemeClr val="tx1"/>
                          </a:solidFill>
                        </a:rPr>
                        <a:t>Laboratorio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Local (ng serve)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Local (8083)</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PostgreSQL local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Clase y desarrollo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731520">
                <a:tc>
                  <a:txBody>
                    <a:bodyPr/>
                    <a:lstStyle/>
                    <a:p>
                      <a:pPr indent="0" marL="0">
                        <a:buNone/>
                      </a:pPr>
                      <a:r>
                        <a:rPr lang="en-US" sz="1400" b="1" dirty="0">
                          <a:solidFill>
                            <a:schemeClr val="tx1"/>
                          </a:solidFill>
                        </a:rPr>
                        <a:t>Demo parcial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Vercel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Local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Supabase Free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es pública completa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1"/>
                          </a:solidFill>
                        </a:rPr>
                        <a:t>Demo completa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Vercel</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Droplet (pagado)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Supabase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Pública: requiere presupuesto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bl>
          </a:graphicData>
        </a:graphic>
      </p:graphicFrame>
      <p:sp>
        <p:nvSpPr>
          <p:cNvPr id="6" name="destacado-1409"/>
          <p:cNvSpPr/>
          <p:nvPr/>
        </p:nvSpPr>
        <p:spPr>
          <a:xfrm>
            <a:off x="548640" y="4754880"/>
            <a:ext cx="11094415" cy="566928"/>
          </a:xfrm>
          <a:prstGeom prst="roundRect">
            <a:avLst>
              <a:gd name="adj" fmla="val 12903"/>
            </a:avLst>
          </a:prstGeom>
          <a:solidFill>
            <a:schemeClr val="tx2"/>
          </a:solidFill>
          <a:ln/>
        </p:spPr>
      </p:sp>
      <p:sp>
        <p:nvSpPr>
          <p:cNvPr id="7" name="destacado-t-1410"/>
          <p:cNvSpPr txBox="1"/>
          <p:nvPr/>
        </p:nvSpPr>
        <p:spPr>
          <a:xfrm>
            <a:off x="822960" y="4754880"/>
            <a:ext cx="10545775" cy="566928"/>
          </a:xfrm>
          <a:prstGeom prst="rect">
            <a:avLst/>
          </a:prstGeom>
          <a:noFill/>
          <a:ln/>
        </p:spPr>
        <p:txBody>
          <a:bodyPr wrap="square" lIns="0" tIns="0" rIns="0" bIns="0" rtlCol="0" anchor="ctr"/>
          <a:lstStyle/>
          <a:p>
            <a:pPr indent="0" marL="0">
              <a:buNone/>
            </a:pPr>
            <a:r>
              <a:rPr lang="en-US" sz="1600" dirty="0">
                <a:solidFill>
                  <a:schemeClr val="bg1"/>
                </a:solidFill>
              </a:rPr>
              <a:t>Al terminar el curso: apagar y eliminar los recursos pagados para no generar cobros.</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RUTA DEL CURSO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Ruta propuesta de clases</a:t>
            </a:r>
            <a:endParaRPr lang="en-US" sz="3400" dirty="0"/>
          </a:p>
        </p:txBody>
      </p:sp>
      <p:sp>
        <p:nvSpPr>
          <p:cNvPr id="5" name="paso-1411"/>
          <p:cNvSpPr/>
          <p:nvPr/>
        </p:nvSpPr>
        <p:spPr>
          <a:xfrm>
            <a:off x="548640" y="1847088"/>
            <a:ext cx="2485568" cy="822960"/>
          </a:xfrm>
          <a:prstGeom prst="roundRect">
            <a:avLst>
              <a:gd name="adj" fmla="val 11111"/>
            </a:avLst>
          </a:prstGeom>
          <a:solidFill>
            <a:schemeClr val="tx2"/>
          </a:solidFill>
          <a:ln/>
        </p:spPr>
      </p:sp>
      <p:sp>
        <p:nvSpPr>
          <p:cNvPr id="6" name="paso-t-1412"/>
          <p:cNvSpPr txBox="1"/>
          <p:nvPr/>
        </p:nvSpPr>
        <p:spPr>
          <a:xfrm>
            <a:off x="621792"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Clases 3–4</a:t>
            </a:r>
            <a:endParaRPr lang="en-US" sz="1600" dirty="0"/>
          </a:p>
        </p:txBody>
      </p:sp>
      <p:sp>
        <p:nvSpPr>
          <p:cNvPr id="7" name="flecha-1413"/>
          <p:cNvSpPr/>
          <p:nvPr/>
        </p:nvSpPr>
        <p:spPr>
          <a:xfrm>
            <a:off x="3098216" y="2139696"/>
            <a:ext cx="256032" cy="237744"/>
          </a:xfrm>
          <a:prstGeom prst="rightArrow">
            <a:avLst/>
          </a:prstGeom>
          <a:solidFill>
            <a:schemeClr val="accent5"/>
          </a:solidFill>
          <a:ln/>
        </p:spPr>
      </p:sp>
      <p:sp>
        <p:nvSpPr>
          <p:cNvPr id="8" name="paso-d-1414"/>
          <p:cNvSpPr txBox="1"/>
          <p:nvPr/>
        </p:nvSpPr>
        <p:spPr>
          <a:xfrm>
            <a:off x="548640" y="2852928"/>
            <a:ext cx="2485568" cy="1371600"/>
          </a:xfrm>
          <a:prstGeom prst="rect">
            <a:avLst/>
          </a:prstGeom>
          <a:noFill/>
          <a:ln/>
        </p:spPr>
        <p:txBody>
          <a:bodyPr wrap="square" lIns="0" tIns="0" rIns="0" bIns="0" rtlCol="0" anchor="t"/>
          <a:lstStyle/>
          <a:p>
            <a:pPr indent="0" marL="0">
              <a:buNone/>
            </a:pPr>
            <a:r>
              <a:rPr lang="en-US" sz="1500" dirty="0">
                <a:solidFill>
                  <a:schemeClr val="tx1"/>
                </a:solidFill>
              </a:rPr>
              <a:t>Reglas del Kanban, historias, ramas y Pull Requests</a:t>
            </a:r>
            <a:endParaRPr lang="en-US" sz="1500" dirty="0"/>
          </a:p>
        </p:txBody>
      </p:sp>
      <p:sp>
        <p:nvSpPr>
          <p:cNvPr id="9" name="paso-1415"/>
          <p:cNvSpPr/>
          <p:nvPr/>
        </p:nvSpPr>
        <p:spPr>
          <a:xfrm>
            <a:off x="3418256" y="1847088"/>
            <a:ext cx="2485568" cy="822960"/>
          </a:xfrm>
          <a:prstGeom prst="roundRect">
            <a:avLst>
              <a:gd name="adj" fmla="val 11111"/>
            </a:avLst>
          </a:prstGeom>
          <a:solidFill>
            <a:schemeClr val="tx2"/>
          </a:solidFill>
          <a:ln/>
        </p:spPr>
      </p:sp>
      <p:sp>
        <p:nvSpPr>
          <p:cNvPr id="10" name="paso-t-1416"/>
          <p:cNvSpPr txBox="1"/>
          <p:nvPr/>
        </p:nvSpPr>
        <p:spPr>
          <a:xfrm>
            <a:off x="3491408"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Clases 5–6</a:t>
            </a:r>
            <a:endParaRPr lang="en-US" sz="1600" dirty="0"/>
          </a:p>
        </p:txBody>
      </p:sp>
      <p:sp>
        <p:nvSpPr>
          <p:cNvPr id="11" name="flecha-1417"/>
          <p:cNvSpPr/>
          <p:nvPr/>
        </p:nvSpPr>
        <p:spPr>
          <a:xfrm>
            <a:off x="5967832" y="2139696"/>
            <a:ext cx="256032" cy="237744"/>
          </a:xfrm>
          <a:prstGeom prst="rightArrow">
            <a:avLst/>
          </a:prstGeom>
          <a:solidFill>
            <a:schemeClr val="accent5"/>
          </a:solidFill>
          <a:ln/>
        </p:spPr>
      </p:sp>
      <p:sp>
        <p:nvSpPr>
          <p:cNvPr id="12" name="paso-d-1418"/>
          <p:cNvSpPr txBox="1"/>
          <p:nvPr/>
        </p:nvSpPr>
        <p:spPr>
          <a:xfrm>
            <a:off x="3418256" y="2852928"/>
            <a:ext cx="2485568" cy="1371600"/>
          </a:xfrm>
          <a:prstGeom prst="rect">
            <a:avLst/>
          </a:prstGeom>
          <a:noFill/>
          <a:ln/>
        </p:spPr>
        <p:txBody>
          <a:bodyPr wrap="square" lIns="0" tIns="0" rIns="0" bIns="0" rtlCol="0" anchor="t"/>
          <a:lstStyle/>
          <a:p>
            <a:pPr indent="0" marL="0">
              <a:buNone/>
            </a:pPr>
            <a:r>
              <a:rPr lang="en-US" sz="1500" dirty="0">
                <a:solidFill>
                  <a:schemeClr val="tx1"/>
                </a:solidFill>
              </a:rPr>
              <a:t>Pruebas con PostgreSQL, concurrencia y refactorización</a:t>
            </a:r>
            <a:endParaRPr lang="en-US" sz="1500" dirty="0"/>
          </a:p>
        </p:txBody>
      </p:sp>
      <p:sp>
        <p:nvSpPr>
          <p:cNvPr id="13" name="paso-1419"/>
          <p:cNvSpPr/>
          <p:nvPr/>
        </p:nvSpPr>
        <p:spPr>
          <a:xfrm>
            <a:off x="6287872" y="1847088"/>
            <a:ext cx="2485568" cy="822960"/>
          </a:xfrm>
          <a:prstGeom prst="roundRect">
            <a:avLst>
              <a:gd name="adj" fmla="val 11111"/>
            </a:avLst>
          </a:prstGeom>
          <a:solidFill>
            <a:schemeClr val="tx2"/>
          </a:solidFill>
          <a:ln/>
        </p:spPr>
      </p:sp>
      <p:sp>
        <p:nvSpPr>
          <p:cNvPr id="14" name="paso-t-1420"/>
          <p:cNvSpPr txBox="1"/>
          <p:nvPr/>
        </p:nvSpPr>
        <p:spPr>
          <a:xfrm>
            <a:off x="6361024"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Clases 7–8</a:t>
            </a:r>
            <a:endParaRPr lang="en-US" sz="1600" dirty="0"/>
          </a:p>
        </p:txBody>
      </p:sp>
      <p:sp>
        <p:nvSpPr>
          <p:cNvPr id="15" name="flecha-1421"/>
          <p:cNvSpPr/>
          <p:nvPr/>
        </p:nvSpPr>
        <p:spPr>
          <a:xfrm>
            <a:off x="8837447" y="2139696"/>
            <a:ext cx="256032" cy="237744"/>
          </a:xfrm>
          <a:prstGeom prst="rightArrow">
            <a:avLst/>
          </a:prstGeom>
          <a:solidFill>
            <a:schemeClr val="accent5"/>
          </a:solidFill>
          <a:ln/>
        </p:spPr>
      </p:sp>
      <p:sp>
        <p:nvSpPr>
          <p:cNvPr id="16" name="paso-d-1422"/>
          <p:cNvSpPr txBox="1"/>
          <p:nvPr/>
        </p:nvSpPr>
        <p:spPr>
          <a:xfrm>
            <a:off x="6287872" y="2852928"/>
            <a:ext cx="2485568" cy="1371600"/>
          </a:xfrm>
          <a:prstGeom prst="rect">
            <a:avLst/>
          </a:prstGeom>
          <a:noFill/>
          <a:ln/>
        </p:spPr>
        <p:txBody>
          <a:bodyPr wrap="square" lIns="0" tIns="0" rIns="0" bIns="0" rtlCol="0" anchor="t"/>
          <a:lstStyle/>
          <a:p>
            <a:pPr indent="0" marL="0">
              <a:buNone/>
            </a:pPr>
            <a:r>
              <a:rPr lang="en-US" sz="1500" dirty="0">
                <a:solidFill>
                  <a:schemeClr val="tx1"/>
                </a:solidFill>
              </a:rPr>
              <a:t>Seguridad, integración continua y contenedores</a:t>
            </a:r>
            <a:endParaRPr lang="en-US" sz="1500" dirty="0"/>
          </a:p>
        </p:txBody>
      </p:sp>
      <p:sp>
        <p:nvSpPr>
          <p:cNvPr id="17" name="paso-1423"/>
          <p:cNvSpPr/>
          <p:nvPr/>
        </p:nvSpPr>
        <p:spPr>
          <a:xfrm>
            <a:off x="9157487" y="1847088"/>
            <a:ext cx="2485568" cy="822960"/>
          </a:xfrm>
          <a:prstGeom prst="roundRect">
            <a:avLst>
              <a:gd name="adj" fmla="val 11111"/>
            </a:avLst>
          </a:prstGeom>
          <a:solidFill>
            <a:schemeClr val="accent1"/>
          </a:solidFill>
          <a:ln/>
        </p:spPr>
      </p:sp>
      <p:sp>
        <p:nvSpPr>
          <p:cNvPr id="18" name="paso-t-1424"/>
          <p:cNvSpPr txBox="1"/>
          <p:nvPr/>
        </p:nvSpPr>
        <p:spPr>
          <a:xfrm>
            <a:off x="9230639" y="1847088"/>
            <a:ext cx="2339264" cy="822960"/>
          </a:xfrm>
          <a:prstGeom prst="rect">
            <a:avLst/>
          </a:prstGeom>
          <a:noFill/>
          <a:ln/>
        </p:spPr>
        <p:txBody>
          <a:bodyPr wrap="square" lIns="0" tIns="0" rIns="0" bIns="0" rtlCol="0" anchor="ctr">
            <a:normAutofit/>
          </a:bodyPr>
          <a:lstStyle/>
          <a:p>
            <a:pPr algn="ctr" indent="0" marL="0">
              <a:buNone/>
            </a:pPr>
            <a:r>
              <a:rPr lang="en-US" sz="1600" b="1" dirty="0">
                <a:solidFill>
                  <a:schemeClr val="bg1"/>
                </a:solidFill>
              </a:rPr>
              <a:t>Clases 9–10</a:t>
            </a:r>
            <a:endParaRPr lang="en-US" sz="1600" dirty="0"/>
          </a:p>
        </p:txBody>
      </p:sp>
      <p:sp>
        <p:nvSpPr>
          <p:cNvPr id="19" name="paso-d-1425"/>
          <p:cNvSpPr txBox="1"/>
          <p:nvPr/>
        </p:nvSpPr>
        <p:spPr>
          <a:xfrm>
            <a:off x="9157487" y="2852928"/>
            <a:ext cx="2485568" cy="1371600"/>
          </a:xfrm>
          <a:prstGeom prst="rect">
            <a:avLst/>
          </a:prstGeom>
          <a:noFill/>
          <a:ln/>
        </p:spPr>
        <p:txBody>
          <a:bodyPr wrap="square" lIns="0" tIns="0" rIns="0" bIns="0" rtlCol="0" anchor="t"/>
          <a:lstStyle/>
          <a:p>
            <a:pPr indent="0" marL="0">
              <a:buNone/>
            </a:pPr>
            <a:r>
              <a:rPr lang="en-US" sz="1500" dirty="0">
                <a:solidFill>
                  <a:schemeClr val="tx1"/>
                </a:solidFill>
              </a:rPr>
              <a:t>Despliegue, operación, restauración y demostración final</a:t>
            </a:r>
            <a:endParaRPr lang="en-US" sz="1500" dirty="0"/>
          </a:p>
        </p:txBody>
      </p:sp>
      <p:sp>
        <p:nvSpPr>
          <p:cNvPr id="20" name="destacado-1426"/>
          <p:cNvSpPr/>
          <p:nvPr/>
        </p:nvSpPr>
        <p:spPr>
          <a:xfrm>
            <a:off x="548640" y="4937760"/>
            <a:ext cx="11094415" cy="566928"/>
          </a:xfrm>
          <a:prstGeom prst="roundRect">
            <a:avLst>
              <a:gd name="adj" fmla="val 12903"/>
            </a:avLst>
          </a:prstGeom>
          <a:solidFill>
            <a:schemeClr val="tx2"/>
          </a:solidFill>
          <a:ln/>
        </p:spPr>
      </p:sp>
      <p:sp>
        <p:nvSpPr>
          <p:cNvPr id="21" name="destacado-t-1427"/>
          <p:cNvSpPr txBox="1"/>
          <p:nvPr/>
        </p:nvSpPr>
        <p:spPr>
          <a:xfrm>
            <a:off x="822960" y="4937760"/>
            <a:ext cx="10545775" cy="566928"/>
          </a:xfrm>
          <a:prstGeom prst="rect">
            <a:avLst/>
          </a:prstGeom>
          <a:noFill/>
          <a:ln/>
        </p:spPr>
        <p:txBody>
          <a:bodyPr wrap="square" lIns="0" tIns="0" rIns="0" bIns="0" rtlCol="0" anchor="ctr"/>
          <a:lstStyle/>
          <a:p>
            <a:pPr indent="0" marL="0">
              <a:buNone/>
            </a:pPr>
            <a:r>
              <a:rPr lang="en-US" sz="1600" dirty="0">
                <a:solidFill>
                  <a:schemeClr val="bg1"/>
                </a:solidFill>
              </a:rPr>
              <a:t>No cargar una sola clase con cloud, seguridad y Clean Architecture a la vez.</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RUTA DEL CURSO</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Qué sumar al proyecto, en orden</a:t>
            </a:r>
            <a:endParaRPr lang="en-US" sz="3400" dirty="0"/>
          </a:p>
        </p:txBody>
      </p:sp>
      <p:sp>
        <p:nvSpPr>
          <p:cNvPr id="5" name="tarjeta-1428"/>
          <p:cNvSpPr/>
          <p:nvPr/>
        </p:nvSpPr>
        <p:spPr>
          <a:xfrm>
            <a:off x="548640" y="1481328"/>
            <a:ext cx="3515258" cy="2208276"/>
          </a:xfrm>
          <a:prstGeom prst="roundRect">
            <a:avLst>
              <a:gd name="adj" fmla="val 4141"/>
            </a:avLst>
          </a:prstGeom>
          <a:solidFill>
            <a:schemeClr val="bg2"/>
          </a:solidFill>
          <a:ln/>
        </p:spPr>
      </p:sp>
      <p:sp>
        <p:nvSpPr>
          <p:cNvPr id="6" name="circulo-1429"/>
          <p:cNvSpPr/>
          <p:nvPr/>
        </p:nvSpPr>
        <p:spPr>
          <a:xfrm>
            <a:off x="749808" y="1682496"/>
            <a:ext cx="438912" cy="438912"/>
          </a:xfrm>
          <a:prstGeom prst="ellipse">
            <a:avLst/>
          </a:prstGeom>
          <a:solidFill>
            <a:schemeClr val="accent1"/>
          </a:solidFill>
          <a:ln/>
        </p:spPr>
      </p:sp>
      <p:sp>
        <p:nvSpPr>
          <p:cNvPr id="7" name="num-1430"/>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1431"/>
          <p:cNvSpPr txBox="1"/>
          <p:nvPr/>
        </p:nvSpPr>
        <p:spPr>
          <a:xfrm>
            <a:off x="1325880"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Transiciones explícitas</a:t>
            </a:r>
            <a:endParaRPr lang="en-US" sz="1700" dirty="0"/>
          </a:p>
        </p:txBody>
      </p:sp>
      <p:sp>
        <p:nvSpPr>
          <p:cNvPr id="9" name="desc-1432"/>
          <p:cNvSpPr txBox="1"/>
          <p:nvPr/>
        </p:nvSpPr>
        <p:spPr>
          <a:xfrm>
            <a:off x="777240"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Refactor del ordinal con 9 pruebas parametrizadas.</a:t>
            </a:r>
            <a:endParaRPr lang="en-US" sz="1600" dirty="0"/>
          </a:p>
        </p:txBody>
      </p:sp>
      <p:sp>
        <p:nvSpPr>
          <p:cNvPr id="10" name="tarjeta-1433"/>
          <p:cNvSpPr/>
          <p:nvPr/>
        </p:nvSpPr>
        <p:spPr>
          <a:xfrm>
            <a:off x="4338218" y="1481328"/>
            <a:ext cx="3515258" cy="2208276"/>
          </a:xfrm>
          <a:prstGeom prst="roundRect">
            <a:avLst>
              <a:gd name="adj" fmla="val 4141"/>
            </a:avLst>
          </a:prstGeom>
          <a:solidFill>
            <a:schemeClr val="bg2"/>
          </a:solidFill>
          <a:ln/>
        </p:spPr>
      </p:sp>
      <p:sp>
        <p:nvSpPr>
          <p:cNvPr id="11" name="circulo-1434"/>
          <p:cNvSpPr/>
          <p:nvPr/>
        </p:nvSpPr>
        <p:spPr>
          <a:xfrm>
            <a:off x="4539386" y="1682496"/>
            <a:ext cx="438912" cy="438912"/>
          </a:xfrm>
          <a:prstGeom prst="ellipse">
            <a:avLst/>
          </a:prstGeom>
          <a:solidFill>
            <a:schemeClr val="accent2"/>
          </a:solidFill>
          <a:ln/>
        </p:spPr>
      </p:sp>
      <p:sp>
        <p:nvSpPr>
          <p:cNvPr id="12" name="num-1435"/>
          <p:cNvSpPr txBox="1"/>
          <p:nvPr/>
        </p:nvSpPr>
        <p:spPr>
          <a:xfrm>
            <a:off x="453938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1436"/>
          <p:cNvSpPr txBox="1"/>
          <p:nvPr/>
        </p:nvSpPr>
        <p:spPr>
          <a:xfrm>
            <a:off x="5115458"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GitHub Actions</a:t>
            </a:r>
            <a:endParaRPr lang="en-US" sz="1700" dirty="0"/>
          </a:p>
        </p:txBody>
      </p:sp>
      <p:sp>
        <p:nvSpPr>
          <p:cNvPr id="14" name="desc-1437"/>
          <p:cNvSpPr txBox="1"/>
          <p:nvPr/>
        </p:nvSpPr>
        <p:spPr>
          <a:xfrm>
            <a:off x="4566818"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mvnw verify y ng test en cada push y PR.</a:t>
            </a:r>
            <a:endParaRPr lang="en-US" sz="1600" dirty="0"/>
          </a:p>
        </p:txBody>
      </p:sp>
      <p:sp>
        <p:nvSpPr>
          <p:cNvPr id="15" name="tarjeta-1438"/>
          <p:cNvSpPr/>
          <p:nvPr/>
        </p:nvSpPr>
        <p:spPr>
          <a:xfrm>
            <a:off x="8127797" y="1481328"/>
            <a:ext cx="3515258" cy="2208276"/>
          </a:xfrm>
          <a:prstGeom prst="roundRect">
            <a:avLst>
              <a:gd name="adj" fmla="val 4141"/>
            </a:avLst>
          </a:prstGeom>
          <a:solidFill>
            <a:schemeClr val="bg2"/>
          </a:solidFill>
          <a:ln/>
        </p:spPr>
      </p:sp>
      <p:sp>
        <p:nvSpPr>
          <p:cNvPr id="16" name="circulo-1439"/>
          <p:cNvSpPr/>
          <p:nvPr/>
        </p:nvSpPr>
        <p:spPr>
          <a:xfrm>
            <a:off x="8328965" y="1682496"/>
            <a:ext cx="438912" cy="438912"/>
          </a:xfrm>
          <a:prstGeom prst="ellipse">
            <a:avLst/>
          </a:prstGeom>
          <a:solidFill>
            <a:schemeClr val="accent3"/>
          </a:solidFill>
          <a:ln/>
        </p:spPr>
      </p:sp>
      <p:sp>
        <p:nvSpPr>
          <p:cNvPr id="17" name="num-1440"/>
          <p:cNvSpPr txBox="1"/>
          <p:nvPr/>
        </p:nvSpPr>
        <p:spPr>
          <a:xfrm>
            <a:off x="8328965"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1441"/>
          <p:cNvSpPr txBox="1"/>
          <p:nvPr/>
        </p:nvSpPr>
        <p:spPr>
          <a:xfrm>
            <a:off x="8905037" y="1664208"/>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Docker Compose</a:t>
            </a:r>
            <a:endParaRPr lang="en-US" sz="1700" dirty="0"/>
          </a:p>
        </p:txBody>
      </p:sp>
      <p:sp>
        <p:nvSpPr>
          <p:cNvPr id="19" name="desc-1442"/>
          <p:cNvSpPr txBox="1"/>
          <p:nvPr/>
        </p:nvSpPr>
        <p:spPr>
          <a:xfrm>
            <a:off x="8356397" y="2267712"/>
            <a:ext cx="3058058" cy="1293876"/>
          </a:xfrm>
          <a:prstGeom prst="rect">
            <a:avLst/>
          </a:prstGeom>
          <a:noFill/>
          <a:ln/>
        </p:spPr>
        <p:txBody>
          <a:bodyPr wrap="square" lIns="0" tIns="0" rIns="0" bIns="0" rtlCol="0" anchor="t"/>
          <a:lstStyle/>
          <a:p>
            <a:pPr indent="0" marL="0">
              <a:buNone/>
            </a:pPr>
            <a:r>
              <a:rPr lang="en-US" sz="1600" dirty="0">
                <a:solidFill>
                  <a:schemeClr val="tx1"/>
                </a:solidFill>
              </a:rPr>
              <a:t>Base y backend con un solo comando.</a:t>
            </a:r>
            <a:endParaRPr lang="en-US" sz="1600" dirty="0"/>
          </a:p>
        </p:txBody>
      </p:sp>
      <p:sp>
        <p:nvSpPr>
          <p:cNvPr id="20" name="tarjeta-1443"/>
          <p:cNvSpPr/>
          <p:nvPr/>
        </p:nvSpPr>
        <p:spPr>
          <a:xfrm>
            <a:off x="548640" y="3963924"/>
            <a:ext cx="3515258" cy="2208276"/>
          </a:xfrm>
          <a:prstGeom prst="roundRect">
            <a:avLst>
              <a:gd name="adj" fmla="val 4141"/>
            </a:avLst>
          </a:prstGeom>
          <a:solidFill>
            <a:schemeClr val="bg2"/>
          </a:solidFill>
          <a:ln/>
        </p:spPr>
      </p:sp>
      <p:sp>
        <p:nvSpPr>
          <p:cNvPr id="21" name="circulo-1444"/>
          <p:cNvSpPr/>
          <p:nvPr/>
        </p:nvSpPr>
        <p:spPr>
          <a:xfrm>
            <a:off x="749808" y="4165092"/>
            <a:ext cx="438912" cy="438912"/>
          </a:xfrm>
          <a:prstGeom prst="ellipse">
            <a:avLst/>
          </a:prstGeom>
          <a:solidFill>
            <a:schemeClr val="accent4"/>
          </a:solidFill>
          <a:ln/>
        </p:spPr>
      </p:sp>
      <p:sp>
        <p:nvSpPr>
          <p:cNvPr id="22" name="num-1445"/>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1446"/>
          <p:cNvSpPr txBox="1"/>
          <p:nvPr/>
        </p:nvSpPr>
        <p:spPr>
          <a:xfrm>
            <a:off x="1325880"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Testcontainers</a:t>
            </a:r>
            <a:endParaRPr lang="en-US" sz="1700" dirty="0"/>
          </a:p>
        </p:txBody>
      </p:sp>
      <p:sp>
        <p:nvSpPr>
          <p:cNvPr id="24" name="desc-1447"/>
          <p:cNvSpPr txBox="1"/>
          <p:nvPr/>
        </p:nvSpPr>
        <p:spPr>
          <a:xfrm>
            <a:off x="777240"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Pruebas de integración contra PostgreSQL real.</a:t>
            </a:r>
            <a:endParaRPr lang="en-US" sz="1600" dirty="0"/>
          </a:p>
        </p:txBody>
      </p:sp>
      <p:sp>
        <p:nvSpPr>
          <p:cNvPr id="25" name="tarjeta-1448"/>
          <p:cNvSpPr/>
          <p:nvPr/>
        </p:nvSpPr>
        <p:spPr>
          <a:xfrm>
            <a:off x="4338218" y="3963924"/>
            <a:ext cx="3515258" cy="2208276"/>
          </a:xfrm>
          <a:prstGeom prst="roundRect">
            <a:avLst>
              <a:gd name="adj" fmla="val 4141"/>
            </a:avLst>
          </a:prstGeom>
          <a:solidFill>
            <a:schemeClr val="bg2"/>
          </a:solidFill>
          <a:ln/>
        </p:spPr>
      </p:sp>
      <p:sp>
        <p:nvSpPr>
          <p:cNvPr id="26" name="circulo-1449"/>
          <p:cNvSpPr/>
          <p:nvPr/>
        </p:nvSpPr>
        <p:spPr>
          <a:xfrm>
            <a:off x="4539386" y="4165092"/>
            <a:ext cx="438912" cy="438912"/>
          </a:xfrm>
          <a:prstGeom prst="ellipse">
            <a:avLst/>
          </a:prstGeom>
          <a:solidFill>
            <a:schemeClr val="accent6"/>
          </a:solidFill>
          <a:ln/>
        </p:spPr>
      </p:sp>
      <p:sp>
        <p:nvSpPr>
          <p:cNvPr id="27" name="num-1450"/>
          <p:cNvSpPr txBox="1"/>
          <p:nvPr/>
        </p:nvSpPr>
        <p:spPr>
          <a:xfrm>
            <a:off x="453938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itulo-1451"/>
          <p:cNvSpPr txBox="1"/>
          <p:nvPr/>
        </p:nvSpPr>
        <p:spPr>
          <a:xfrm>
            <a:off x="5115458"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Concurrencia del cupo</a:t>
            </a:r>
            <a:endParaRPr lang="en-US" sz="1700" dirty="0"/>
          </a:p>
        </p:txBody>
      </p:sp>
      <p:sp>
        <p:nvSpPr>
          <p:cNvPr id="29" name="desc-1452"/>
          <p:cNvSpPr txBox="1"/>
          <p:nvPr/>
        </p:nvSpPr>
        <p:spPr>
          <a:xfrm>
            <a:off x="4566818"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Bloqueo de fila o SERIALIZABLE, con prueba concurrente.</a:t>
            </a:r>
            <a:endParaRPr lang="en-US" sz="1600" dirty="0"/>
          </a:p>
        </p:txBody>
      </p:sp>
      <p:sp>
        <p:nvSpPr>
          <p:cNvPr id="30" name="tarjeta-1453"/>
          <p:cNvSpPr/>
          <p:nvPr/>
        </p:nvSpPr>
        <p:spPr>
          <a:xfrm>
            <a:off x="8127797" y="3963924"/>
            <a:ext cx="3515258" cy="2208276"/>
          </a:xfrm>
          <a:prstGeom prst="roundRect">
            <a:avLst>
              <a:gd name="adj" fmla="val 4141"/>
            </a:avLst>
          </a:prstGeom>
          <a:solidFill>
            <a:schemeClr val="bg2"/>
          </a:solidFill>
          <a:ln/>
        </p:spPr>
      </p:sp>
      <p:sp>
        <p:nvSpPr>
          <p:cNvPr id="31" name="circulo-1454"/>
          <p:cNvSpPr/>
          <p:nvPr/>
        </p:nvSpPr>
        <p:spPr>
          <a:xfrm>
            <a:off x="8328965" y="4165092"/>
            <a:ext cx="438912" cy="438912"/>
          </a:xfrm>
          <a:prstGeom prst="ellipse">
            <a:avLst/>
          </a:prstGeom>
          <a:solidFill>
            <a:schemeClr val="accent5"/>
          </a:solidFill>
          <a:ln/>
        </p:spPr>
      </p:sp>
      <p:sp>
        <p:nvSpPr>
          <p:cNvPr id="32" name="num-1455"/>
          <p:cNvSpPr txBox="1"/>
          <p:nvPr/>
        </p:nvSpPr>
        <p:spPr>
          <a:xfrm>
            <a:off x="8328965"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itulo-1456"/>
          <p:cNvSpPr txBox="1"/>
          <p:nvPr/>
        </p:nvSpPr>
        <p:spPr>
          <a:xfrm>
            <a:off x="8905037" y="4146804"/>
            <a:ext cx="255513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Spring Security</a:t>
            </a:r>
            <a:endParaRPr lang="en-US" sz="1700" dirty="0"/>
          </a:p>
        </p:txBody>
      </p:sp>
      <p:sp>
        <p:nvSpPr>
          <p:cNvPr id="34" name="desc-1457"/>
          <p:cNvSpPr txBox="1"/>
          <p:nvPr/>
        </p:nvSpPr>
        <p:spPr>
          <a:xfrm>
            <a:off x="8356397" y="4750308"/>
            <a:ext cx="3058058" cy="1293876"/>
          </a:xfrm>
          <a:prstGeom prst="rect">
            <a:avLst/>
          </a:prstGeom>
          <a:noFill/>
          <a:ln/>
        </p:spPr>
        <p:txBody>
          <a:bodyPr wrap="square" lIns="0" tIns="0" rIns="0" bIns="0" rtlCol="0" anchor="t"/>
          <a:lstStyle/>
          <a:p>
            <a:pPr indent="0" marL="0">
              <a:buNone/>
            </a:pPr>
            <a:r>
              <a:rPr lang="en-US" sz="1600" dirty="0">
                <a:solidFill>
                  <a:schemeClr val="tx1"/>
                </a:solidFill>
              </a:rPr>
              <a:t>Login y autorización por tablero.</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EVALUACIÓN</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Evaluación por evidencias</a:t>
            </a:r>
            <a:endParaRPr lang="en-US" sz="3400" dirty="0"/>
          </a:p>
        </p:txBody>
      </p:sp>
      <p:sp>
        <p:nvSpPr>
          <p:cNvPr id="5" name="cifra-1458"/>
          <p:cNvSpPr txBox="1"/>
          <p:nvPr/>
        </p:nvSpPr>
        <p:spPr>
          <a:xfrm>
            <a:off x="548640" y="1481328"/>
            <a:ext cx="2560320" cy="1005840"/>
          </a:xfrm>
          <a:prstGeom prst="rect">
            <a:avLst/>
          </a:prstGeom>
          <a:noFill/>
          <a:ln/>
        </p:spPr>
        <p:txBody>
          <a:bodyPr wrap="square" lIns="0" tIns="0" rIns="0" bIns="0" rtlCol="0" anchor="ctr"/>
          <a:lstStyle/>
          <a:p>
            <a:pPr indent="0" marL="0">
              <a:buNone/>
            </a:pPr>
            <a:r>
              <a:rPr lang="en-US" sz="6000" b="1" dirty="0">
                <a:solidFill>
                  <a:schemeClr val="accent1"/>
                </a:solidFill>
              </a:rPr>
              <a:t>40%</a:t>
            </a:r>
            <a:endParaRPr lang="en-US" sz="6000" dirty="0"/>
          </a:p>
        </p:txBody>
      </p:sp>
      <p:sp>
        <p:nvSpPr>
          <p:cNvPr id="6" name="cifra-t-1459"/>
          <p:cNvSpPr txBox="1"/>
          <p:nvPr/>
        </p:nvSpPr>
        <p:spPr>
          <a:xfrm>
            <a:off x="548640" y="2487168"/>
            <a:ext cx="2560320" cy="822960"/>
          </a:xfrm>
          <a:prstGeom prst="rect">
            <a:avLst/>
          </a:prstGeom>
          <a:noFill/>
          <a:ln/>
        </p:spPr>
        <p:txBody>
          <a:bodyPr wrap="square" lIns="0" tIns="0" rIns="0" bIns="0" rtlCol="0" anchor="t"/>
          <a:lstStyle/>
          <a:p>
            <a:pPr indent="0" marL="0">
              <a:buNone/>
            </a:pPr>
            <a:r>
              <a:rPr lang="en-US" sz="1500" dirty="0">
                <a:solidFill>
                  <a:schemeClr val="tx1"/>
                </a:solidFill>
              </a:rPr>
              <a:t>Comportamiento y criterios de aceptación</a:t>
            </a:r>
            <a:endParaRPr lang="en-US" sz="1500" dirty="0"/>
          </a:p>
        </p:txBody>
      </p:sp>
      <p:sp>
        <p:nvSpPr>
          <p:cNvPr id="7" name="cifra-1460"/>
          <p:cNvSpPr txBox="1"/>
          <p:nvPr/>
        </p:nvSpPr>
        <p:spPr>
          <a:xfrm>
            <a:off x="3383280" y="1481328"/>
            <a:ext cx="2560320" cy="1005840"/>
          </a:xfrm>
          <a:prstGeom prst="rect">
            <a:avLst/>
          </a:prstGeom>
          <a:noFill/>
          <a:ln/>
        </p:spPr>
        <p:txBody>
          <a:bodyPr wrap="square" lIns="0" tIns="0" rIns="0" bIns="0" rtlCol="0" anchor="ctr"/>
          <a:lstStyle/>
          <a:p>
            <a:pPr indent="0" marL="0">
              <a:buNone/>
            </a:pPr>
            <a:r>
              <a:rPr lang="en-US" sz="6000" b="1" dirty="0">
                <a:solidFill>
                  <a:schemeClr val="accent2"/>
                </a:solidFill>
              </a:rPr>
              <a:t>25%</a:t>
            </a:r>
            <a:endParaRPr lang="en-US" sz="6000" dirty="0"/>
          </a:p>
        </p:txBody>
      </p:sp>
      <p:sp>
        <p:nvSpPr>
          <p:cNvPr id="8" name="cifra-t-1461"/>
          <p:cNvSpPr txBox="1"/>
          <p:nvPr/>
        </p:nvSpPr>
        <p:spPr>
          <a:xfrm>
            <a:off x="3383280" y="2487168"/>
            <a:ext cx="2560320" cy="822960"/>
          </a:xfrm>
          <a:prstGeom prst="rect">
            <a:avLst/>
          </a:prstGeom>
          <a:noFill/>
          <a:ln/>
        </p:spPr>
        <p:txBody>
          <a:bodyPr wrap="square" lIns="0" tIns="0" rIns="0" bIns="0" rtlCol="0" anchor="t"/>
          <a:lstStyle/>
          <a:p>
            <a:pPr indent="0" marL="0">
              <a:buNone/>
            </a:pPr>
            <a:r>
              <a:rPr lang="en-US" sz="1500" dirty="0">
                <a:solidFill>
                  <a:schemeClr val="tx1"/>
                </a:solidFill>
              </a:rPr>
              <a:t>Pruebas y calidad del código</a:t>
            </a:r>
            <a:endParaRPr lang="en-US" sz="1500" dirty="0"/>
          </a:p>
        </p:txBody>
      </p:sp>
      <p:sp>
        <p:nvSpPr>
          <p:cNvPr id="9" name="cifra-1462"/>
          <p:cNvSpPr txBox="1"/>
          <p:nvPr/>
        </p:nvSpPr>
        <p:spPr>
          <a:xfrm>
            <a:off x="6217920" y="1481328"/>
            <a:ext cx="2560320" cy="1005840"/>
          </a:xfrm>
          <a:prstGeom prst="rect">
            <a:avLst/>
          </a:prstGeom>
          <a:noFill/>
          <a:ln/>
        </p:spPr>
        <p:txBody>
          <a:bodyPr wrap="square" lIns="0" tIns="0" rIns="0" bIns="0" rtlCol="0" anchor="ctr"/>
          <a:lstStyle/>
          <a:p>
            <a:pPr indent="0" marL="0">
              <a:buNone/>
            </a:pPr>
            <a:r>
              <a:rPr lang="en-US" sz="6000" b="1" dirty="0">
                <a:solidFill>
                  <a:schemeClr val="accent3"/>
                </a:solidFill>
              </a:rPr>
              <a:t>20%</a:t>
            </a:r>
            <a:endParaRPr lang="en-US" sz="6000" dirty="0"/>
          </a:p>
        </p:txBody>
      </p:sp>
      <p:sp>
        <p:nvSpPr>
          <p:cNvPr id="10" name="cifra-t-1463"/>
          <p:cNvSpPr txBox="1"/>
          <p:nvPr/>
        </p:nvSpPr>
        <p:spPr>
          <a:xfrm>
            <a:off x="6217920" y="2487168"/>
            <a:ext cx="2560320" cy="822960"/>
          </a:xfrm>
          <a:prstGeom prst="rect">
            <a:avLst/>
          </a:prstGeom>
          <a:noFill/>
          <a:ln/>
        </p:spPr>
        <p:txBody>
          <a:bodyPr wrap="square" lIns="0" tIns="0" rIns="0" bIns="0" rtlCol="0" anchor="t"/>
          <a:lstStyle/>
          <a:p>
            <a:pPr indent="0" marL="0">
              <a:buNone/>
            </a:pPr>
            <a:r>
              <a:rPr lang="en-US" sz="1500" dirty="0">
                <a:solidFill>
                  <a:schemeClr val="tx1"/>
                </a:solidFill>
              </a:rPr>
              <a:t>Colaboración y revisión de cambios</a:t>
            </a:r>
            <a:endParaRPr lang="en-US" sz="1500" dirty="0"/>
          </a:p>
        </p:txBody>
      </p:sp>
      <p:sp>
        <p:nvSpPr>
          <p:cNvPr id="11" name="cifra-1464"/>
          <p:cNvSpPr txBox="1"/>
          <p:nvPr/>
        </p:nvSpPr>
        <p:spPr>
          <a:xfrm>
            <a:off x="9052560" y="1481328"/>
            <a:ext cx="2560320" cy="1005840"/>
          </a:xfrm>
          <a:prstGeom prst="rect">
            <a:avLst/>
          </a:prstGeom>
          <a:noFill/>
          <a:ln/>
        </p:spPr>
        <p:txBody>
          <a:bodyPr wrap="square" lIns="0" tIns="0" rIns="0" bIns="0" rtlCol="0" anchor="ctr"/>
          <a:lstStyle/>
          <a:p>
            <a:pPr indent="0" marL="0">
              <a:buNone/>
            </a:pPr>
            <a:r>
              <a:rPr lang="en-US" sz="6000" b="1" dirty="0">
                <a:solidFill>
                  <a:schemeClr val="accent4"/>
                </a:solidFill>
              </a:rPr>
              <a:t>15%</a:t>
            </a:r>
            <a:endParaRPr lang="en-US" sz="6000" dirty="0"/>
          </a:p>
        </p:txBody>
      </p:sp>
      <p:sp>
        <p:nvSpPr>
          <p:cNvPr id="12" name="cifra-t-1465"/>
          <p:cNvSpPr txBox="1"/>
          <p:nvPr/>
        </p:nvSpPr>
        <p:spPr>
          <a:xfrm>
            <a:off x="9052560" y="2487168"/>
            <a:ext cx="2560320" cy="822960"/>
          </a:xfrm>
          <a:prstGeom prst="rect">
            <a:avLst/>
          </a:prstGeom>
          <a:noFill/>
          <a:ln/>
        </p:spPr>
        <p:txBody>
          <a:bodyPr wrap="square" lIns="0" tIns="0" rIns="0" bIns="0" rtlCol="0" anchor="t"/>
          <a:lstStyle/>
          <a:p>
            <a:pPr indent="0" marL="0">
              <a:buNone/>
            </a:pPr>
            <a:r>
              <a:rPr lang="en-US" sz="1500" dirty="0">
                <a:solidFill>
                  <a:schemeClr val="tx1"/>
                </a:solidFill>
              </a:rPr>
              <a:t>Demostración y explicación de decisiones</a:t>
            </a:r>
            <a:endParaRPr lang="en-US" sz="1500" dirty="0"/>
          </a:p>
        </p:txBody>
      </p:sp>
      <p:graphicFrame>
        <p:nvGraphicFramePr>
          <p:cNvPr id="115" name="tabla-1466"/>
          <p:cNvGraphicFramePr>
            <a:graphicFrameLocks noGrp="1"/>
          </p:cNvGraphicFramePr>
          <p:nvPr>
            <p:extLst>
              <p:ext uri="{D42A27DB-BD31-4B8C-83A1-F6EECF244321}">
                <p14:modId xmlns:p14="http://schemas.microsoft.com/office/powerpoint/2010/main" val="1579011935"/>
              </p:ext>
            </p:extLst>
          </p:nvPr>
        </p:nvGraphicFramePr>
        <p:xfrm>
          <a:off x="548640" y="3611880"/>
          <a:ext cx="11094415" cy="914400"/>
        </p:xfrm>
        <a:graphic>
          <a:graphicData uri="http://schemas.openxmlformats.org/drawingml/2006/table">
            <a:tbl>
              <a:tblPr/>
              <a:tblGrid>
                <a:gridCol w="2194560"/>
                <a:gridCol w="4206240"/>
                <a:gridCol w="4690872"/>
              </a:tblGrid>
              <a:tr h="512064">
                <a:tc>
                  <a:txBody>
                    <a:bodyPr/>
                    <a:lstStyle/>
                    <a:p>
                      <a:pPr indent="0" marL="0">
                        <a:buNone/>
                      </a:pPr>
                      <a:r>
                        <a:rPr lang="en-US" sz="1400" b="1" dirty="0">
                          <a:solidFill>
                            <a:schemeClr val="bg1"/>
                          </a:solidFill>
                        </a:rPr>
                        <a:t>Dimensión</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Evidencia mínima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Pregunta al estudiante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tx1"/>
                          </a:solidFill>
                        </a:rPr>
                        <a:t>Requisito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Criterio y caso alternativo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¿Qué necesidad resuelve?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Diseño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Diagrama coherente con el código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¿Por qué esta responsabilidad aquí?</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Calidad</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Pruebas de éxito y de rechazo</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¿Qué riesgo todavía no cubres?</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Entrega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README y configuración reproducible</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¿Cómo lo ejecuta otra persona?</a:t>
                      </a:r>
                      <a:endParaRPr lang="en-US" sz="1400" dirty="0"/>
                    </a:p>
                  </a:txBody>
                  <a:tcPr marL="109728" marR="109728" marT="45720" marB="45720"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CIERRE</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Qué debe poder explicar cada estudiante</a:t>
            </a:r>
            <a:endParaRPr lang="en-US" sz="3400" dirty="0"/>
          </a:p>
        </p:txBody>
      </p:sp>
      <p:sp>
        <p:nvSpPr>
          <p:cNvPr id="5" name="tarjeta-1467"/>
          <p:cNvSpPr/>
          <p:nvPr/>
        </p:nvSpPr>
        <p:spPr>
          <a:xfrm>
            <a:off x="548640" y="1481328"/>
            <a:ext cx="5410048" cy="2208276"/>
          </a:xfrm>
          <a:prstGeom prst="roundRect">
            <a:avLst>
              <a:gd name="adj" fmla="val 4141"/>
            </a:avLst>
          </a:prstGeom>
          <a:solidFill>
            <a:schemeClr val="bg2"/>
          </a:solidFill>
          <a:ln/>
        </p:spPr>
      </p:sp>
      <p:sp>
        <p:nvSpPr>
          <p:cNvPr id="6" name="circulo-1468"/>
          <p:cNvSpPr/>
          <p:nvPr/>
        </p:nvSpPr>
        <p:spPr>
          <a:xfrm>
            <a:off x="749808" y="1682496"/>
            <a:ext cx="438912" cy="438912"/>
          </a:xfrm>
          <a:prstGeom prst="ellipse">
            <a:avLst/>
          </a:prstGeom>
          <a:solidFill>
            <a:schemeClr val="accent1"/>
          </a:solidFill>
          <a:ln/>
        </p:spPr>
      </p:sp>
      <p:sp>
        <p:nvSpPr>
          <p:cNvPr id="7" name="num-1469"/>
          <p:cNvSpPr txBox="1"/>
          <p:nvPr/>
        </p:nvSpPr>
        <p:spPr>
          <a:xfrm>
            <a:off x="749808"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itulo-1470"/>
          <p:cNvSpPr txBox="1"/>
          <p:nvPr/>
        </p:nvSpPr>
        <p:spPr>
          <a:xfrm>
            <a:off x="1325880" y="1664208"/>
            <a:ext cx="444992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Validación frente a regla</a:t>
            </a:r>
            <a:endParaRPr lang="en-US" sz="1700" dirty="0"/>
          </a:p>
        </p:txBody>
      </p:sp>
      <p:sp>
        <p:nvSpPr>
          <p:cNvPr id="9" name="desc-1471"/>
          <p:cNvSpPr txBox="1"/>
          <p:nvPr/>
        </p:nvSpPr>
        <p:spPr>
          <a:xfrm>
            <a:off x="777240" y="2267712"/>
            <a:ext cx="4952848" cy="1293876"/>
          </a:xfrm>
          <a:prstGeom prst="rect">
            <a:avLst/>
          </a:prstGeom>
          <a:noFill/>
          <a:ln/>
        </p:spPr>
        <p:txBody>
          <a:bodyPr wrap="square" lIns="0" tIns="0" rIns="0" bIns="0" rtlCol="0" anchor="t"/>
          <a:lstStyle/>
          <a:p>
            <a:pPr indent="0" marL="0">
              <a:buNone/>
            </a:pPr>
            <a:r>
              <a:rPr lang="en-US" sz="1600" dirty="0">
                <a:solidFill>
                  <a:schemeClr val="tx1"/>
                </a:solidFill>
              </a:rPr>
              <a:t>Por qué un 400 y un 409 son problemas distintos.</a:t>
            </a:r>
            <a:endParaRPr lang="en-US" sz="1600" dirty="0"/>
          </a:p>
        </p:txBody>
      </p:sp>
      <p:sp>
        <p:nvSpPr>
          <p:cNvPr id="10" name="tarjeta-1472"/>
          <p:cNvSpPr/>
          <p:nvPr/>
        </p:nvSpPr>
        <p:spPr>
          <a:xfrm>
            <a:off x="6233008" y="1481328"/>
            <a:ext cx="5410048" cy="2208276"/>
          </a:xfrm>
          <a:prstGeom prst="roundRect">
            <a:avLst>
              <a:gd name="adj" fmla="val 4141"/>
            </a:avLst>
          </a:prstGeom>
          <a:solidFill>
            <a:schemeClr val="bg2"/>
          </a:solidFill>
          <a:ln/>
        </p:spPr>
      </p:sp>
      <p:sp>
        <p:nvSpPr>
          <p:cNvPr id="11" name="circulo-1473"/>
          <p:cNvSpPr/>
          <p:nvPr/>
        </p:nvSpPr>
        <p:spPr>
          <a:xfrm>
            <a:off x="6434176" y="1682496"/>
            <a:ext cx="438912" cy="438912"/>
          </a:xfrm>
          <a:prstGeom prst="ellipse">
            <a:avLst/>
          </a:prstGeom>
          <a:solidFill>
            <a:schemeClr val="accent2"/>
          </a:solidFill>
          <a:ln/>
        </p:spPr>
      </p:sp>
      <p:sp>
        <p:nvSpPr>
          <p:cNvPr id="12" name="num-1474"/>
          <p:cNvSpPr txBox="1"/>
          <p:nvPr/>
        </p:nvSpPr>
        <p:spPr>
          <a:xfrm>
            <a:off x="6434176" y="168249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itulo-1475"/>
          <p:cNvSpPr txBox="1"/>
          <p:nvPr/>
        </p:nvSpPr>
        <p:spPr>
          <a:xfrm>
            <a:off x="7010248" y="1664208"/>
            <a:ext cx="444992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Dónde vive la regla</a:t>
            </a:r>
            <a:endParaRPr lang="en-US" sz="1700" dirty="0"/>
          </a:p>
        </p:txBody>
      </p:sp>
      <p:sp>
        <p:nvSpPr>
          <p:cNvPr id="14" name="desc-1476"/>
          <p:cNvSpPr txBox="1"/>
          <p:nvPr/>
        </p:nvSpPr>
        <p:spPr>
          <a:xfrm>
            <a:off x="6461608" y="2267712"/>
            <a:ext cx="4952848" cy="1293876"/>
          </a:xfrm>
          <a:prstGeom prst="rect">
            <a:avLst/>
          </a:prstGeom>
          <a:noFill/>
          <a:ln/>
        </p:spPr>
        <p:txBody>
          <a:bodyPr wrap="square" lIns="0" tIns="0" rIns="0" bIns="0" rtlCol="0" anchor="t"/>
          <a:lstStyle/>
          <a:p>
            <a:pPr indent="0" marL="0">
              <a:buNone/>
            </a:pPr>
            <a:r>
              <a:rPr lang="en-US" sz="1600" dirty="0">
                <a:solidFill>
                  <a:schemeClr val="tx1"/>
                </a:solidFill>
              </a:rPr>
              <a:t>Qué capa decide si una tarea puede moverse y por qué la interfaz no basta.</a:t>
            </a:r>
            <a:endParaRPr lang="en-US" sz="1600" dirty="0"/>
          </a:p>
        </p:txBody>
      </p:sp>
      <p:sp>
        <p:nvSpPr>
          <p:cNvPr id="15" name="tarjeta-1477"/>
          <p:cNvSpPr/>
          <p:nvPr/>
        </p:nvSpPr>
        <p:spPr>
          <a:xfrm>
            <a:off x="548640" y="3963924"/>
            <a:ext cx="5410048" cy="2208276"/>
          </a:xfrm>
          <a:prstGeom prst="roundRect">
            <a:avLst>
              <a:gd name="adj" fmla="val 4141"/>
            </a:avLst>
          </a:prstGeom>
          <a:solidFill>
            <a:schemeClr val="bg2"/>
          </a:solidFill>
          <a:ln/>
        </p:spPr>
      </p:sp>
      <p:sp>
        <p:nvSpPr>
          <p:cNvPr id="16" name="circulo-1478"/>
          <p:cNvSpPr/>
          <p:nvPr/>
        </p:nvSpPr>
        <p:spPr>
          <a:xfrm>
            <a:off x="749808" y="4165092"/>
            <a:ext cx="438912" cy="438912"/>
          </a:xfrm>
          <a:prstGeom prst="ellipse">
            <a:avLst/>
          </a:prstGeom>
          <a:solidFill>
            <a:schemeClr val="accent3"/>
          </a:solidFill>
          <a:ln/>
        </p:spPr>
      </p:sp>
      <p:sp>
        <p:nvSpPr>
          <p:cNvPr id="17" name="num-1479"/>
          <p:cNvSpPr txBox="1"/>
          <p:nvPr/>
        </p:nvSpPr>
        <p:spPr>
          <a:xfrm>
            <a:off x="749808"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itulo-1480"/>
          <p:cNvSpPr txBox="1"/>
          <p:nvPr/>
        </p:nvSpPr>
        <p:spPr>
          <a:xfrm>
            <a:off x="1325880" y="4146804"/>
            <a:ext cx="444992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Qué prueba un mock</a:t>
            </a:r>
            <a:endParaRPr lang="en-US" sz="1700" dirty="0"/>
          </a:p>
        </p:txBody>
      </p:sp>
      <p:sp>
        <p:nvSpPr>
          <p:cNvPr id="19" name="desc-1481"/>
          <p:cNvSpPr txBox="1"/>
          <p:nvPr/>
        </p:nvSpPr>
        <p:spPr>
          <a:xfrm>
            <a:off x="777240" y="4750308"/>
            <a:ext cx="4952848" cy="1293876"/>
          </a:xfrm>
          <a:prstGeom prst="rect">
            <a:avLst/>
          </a:prstGeom>
          <a:noFill/>
          <a:ln/>
        </p:spPr>
        <p:txBody>
          <a:bodyPr wrap="square" lIns="0" tIns="0" rIns="0" bIns="0" rtlCol="0" anchor="t"/>
          <a:lstStyle/>
          <a:p>
            <a:pPr indent="0" marL="0">
              <a:buNone/>
            </a:pPr>
            <a:r>
              <a:rPr lang="en-US" sz="1600" dirty="0">
                <a:solidFill>
                  <a:schemeClr val="tx1"/>
                </a:solidFill>
              </a:rPr>
              <a:t>Qué demuestra una prueba con mocks y qué deja pendiente.</a:t>
            </a:r>
            <a:endParaRPr lang="en-US" sz="1600" dirty="0"/>
          </a:p>
        </p:txBody>
      </p:sp>
      <p:sp>
        <p:nvSpPr>
          <p:cNvPr id="20" name="tarjeta-1482"/>
          <p:cNvSpPr/>
          <p:nvPr/>
        </p:nvSpPr>
        <p:spPr>
          <a:xfrm>
            <a:off x="6233008" y="3963924"/>
            <a:ext cx="5410048" cy="2208276"/>
          </a:xfrm>
          <a:prstGeom prst="roundRect">
            <a:avLst>
              <a:gd name="adj" fmla="val 4141"/>
            </a:avLst>
          </a:prstGeom>
          <a:solidFill>
            <a:schemeClr val="bg2"/>
          </a:solidFill>
          <a:ln/>
        </p:spPr>
      </p:sp>
      <p:sp>
        <p:nvSpPr>
          <p:cNvPr id="21" name="circulo-1483"/>
          <p:cNvSpPr/>
          <p:nvPr/>
        </p:nvSpPr>
        <p:spPr>
          <a:xfrm>
            <a:off x="6434176" y="4165092"/>
            <a:ext cx="438912" cy="438912"/>
          </a:xfrm>
          <a:prstGeom prst="ellipse">
            <a:avLst/>
          </a:prstGeom>
          <a:solidFill>
            <a:schemeClr val="accent4"/>
          </a:solidFill>
          <a:ln/>
        </p:spPr>
      </p:sp>
      <p:sp>
        <p:nvSpPr>
          <p:cNvPr id="22" name="num-1484"/>
          <p:cNvSpPr txBox="1"/>
          <p:nvPr/>
        </p:nvSpPr>
        <p:spPr>
          <a:xfrm>
            <a:off x="6434176" y="4165092"/>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itulo-1485"/>
          <p:cNvSpPr txBox="1"/>
          <p:nvPr/>
        </p:nvSpPr>
        <p:spPr>
          <a:xfrm>
            <a:off x="7010248" y="4146804"/>
            <a:ext cx="4449928" cy="475488"/>
          </a:xfrm>
          <a:prstGeom prst="rect">
            <a:avLst/>
          </a:prstGeom>
          <a:noFill/>
          <a:ln/>
        </p:spPr>
        <p:txBody>
          <a:bodyPr wrap="square" lIns="0" tIns="0" rIns="0" bIns="0" rtlCol="0" anchor="ctr">
            <a:normAutofit/>
          </a:bodyPr>
          <a:lstStyle/>
          <a:p>
            <a:pPr indent="0" marL="0">
              <a:buNone/>
            </a:pPr>
            <a:r>
              <a:rPr lang="en-US" sz="1700" b="1" dirty="0">
                <a:solidFill>
                  <a:schemeClr val="tx2"/>
                </a:solidFill>
              </a:rPr>
              <a:t>Del criterio a la prueba</a:t>
            </a:r>
            <a:endParaRPr lang="en-US" sz="1700" dirty="0"/>
          </a:p>
        </p:txBody>
      </p:sp>
      <p:sp>
        <p:nvSpPr>
          <p:cNvPr id="24" name="desc-1486"/>
          <p:cNvSpPr txBox="1"/>
          <p:nvPr/>
        </p:nvSpPr>
        <p:spPr>
          <a:xfrm>
            <a:off x="6461608" y="4750308"/>
            <a:ext cx="4952848" cy="1293876"/>
          </a:xfrm>
          <a:prstGeom prst="rect">
            <a:avLst/>
          </a:prstGeom>
          <a:noFill/>
          <a:ln/>
        </p:spPr>
        <p:txBody>
          <a:bodyPr wrap="square" lIns="0" tIns="0" rIns="0" bIns="0" rtlCol="0" anchor="t"/>
          <a:lstStyle/>
          <a:p>
            <a:pPr indent="0" marL="0">
              <a:buNone/>
            </a:pPr>
            <a:r>
              <a:rPr lang="en-US" sz="1600" dirty="0">
                <a:solidFill>
                  <a:schemeClr val="tx1"/>
                </a:solidFill>
              </a:rPr>
              <a:t>Cómo un Dado-Cuando-Entonces se convierte en un test.</a:t>
            </a:r>
            <a:endParaRPr lang="en-US" sz="16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FUENTES</a:t>
            </a:r>
            <a:endParaRPr lang="en-US" sz="1200" dirty="0"/>
          </a:p>
        </p:txBody>
      </p:sp>
      <p:sp>
        <p:nvSpPr>
          <p:cNvPr id="3" name="Text 0"/>
          <p:cNvSpPr/>
          <p:nvPr>
            <p:ph idx="101" type="title" hasCustomPrompt="1"/>
          </p:nvPr>
        </p:nvSpPr>
        <p:spPr>
          <a:xfrm>
            <a:off x="548640" y="566928"/>
            <a:ext cx="11094415" cy="749808"/>
          </a:xfrm>
          <a:prstGeom prst="rect">
            <a:avLst/>
          </a:prstGeom>
          <a:noFill/>
          <a:ln/>
        </p:spPr>
        <p:txBody>
          <a:bodyPr wrap="square" lIns="0" tIns="0" rIns="0" bIns="0" rtlCol="0" anchor="t"/>
          <a:lstStyle/>
          <a:p>
            <a:pPr algn="l" indent="0" marL="0">
              <a:buNone/>
            </a:pPr>
            <a:r>
              <a:rPr lang="en-US" sz="3400" b="1" dirty="0">
                <a:solidFill>
                  <a:schemeClr val="tx2"/>
                </a:solidFill>
              </a:rPr>
              <a:t>Referencias</a:t>
            </a:r>
            <a:endParaRPr lang="en-US" sz="3400" dirty="0"/>
          </a:p>
        </p:txBody>
      </p:sp>
      <p:sp>
        <p:nvSpPr>
          <p:cNvPr id="5" name="panel-1487"/>
          <p:cNvSpPr/>
          <p:nvPr/>
        </p:nvSpPr>
        <p:spPr>
          <a:xfrm>
            <a:off x="548640" y="1481328"/>
            <a:ext cx="3566160" cy="4690872"/>
          </a:xfrm>
          <a:prstGeom prst="roundRect">
            <a:avLst>
              <a:gd name="adj" fmla="val 2564"/>
            </a:avLst>
          </a:prstGeom>
          <a:solidFill>
            <a:schemeClr val="bg2"/>
          </a:solidFill>
          <a:ln/>
        </p:spPr>
      </p:sp>
      <p:sp>
        <p:nvSpPr>
          <p:cNvPr id="6" name="panel-cab-1488"/>
          <p:cNvSpPr/>
          <p:nvPr/>
        </p:nvSpPr>
        <p:spPr>
          <a:xfrm>
            <a:off x="777240" y="1709928"/>
            <a:ext cx="3108960" cy="548640"/>
          </a:xfrm>
          <a:prstGeom prst="roundRect">
            <a:avLst>
              <a:gd name="adj" fmla="val 13333"/>
            </a:avLst>
          </a:prstGeom>
          <a:solidFill>
            <a:schemeClr val="tx2"/>
          </a:solidFill>
          <a:ln/>
        </p:spPr>
      </p:sp>
      <p:sp>
        <p:nvSpPr>
          <p:cNvPr id="7" name="panel-t-1489"/>
          <p:cNvSpPr txBox="1"/>
          <p:nvPr/>
        </p:nvSpPr>
        <p:spPr>
          <a:xfrm>
            <a:off x="868680" y="1709928"/>
            <a:ext cx="2926080" cy="548640"/>
          </a:xfrm>
          <a:prstGeom prst="rect">
            <a:avLst/>
          </a:prstGeom>
          <a:noFill/>
          <a:ln/>
        </p:spPr>
        <p:txBody>
          <a:bodyPr wrap="square" lIns="0" tIns="0" rIns="0" bIns="0" rtlCol="0" anchor="ctr"/>
          <a:lstStyle/>
          <a:p>
            <a:pPr indent="0" marL="0">
              <a:buNone/>
            </a:pPr>
            <a:r>
              <a:rPr lang="en-US" sz="1800" b="1" dirty="0">
                <a:solidFill>
                  <a:schemeClr val="bg1"/>
                </a:solidFill>
              </a:rPr>
              <a:t>Ingeniería y diseño</a:t>
            </a:r>
            <a:endParaRPr lang="en-US" sz="1800" dirty="0"/>
          </a:p>
        </p:txBody>
      </p:sp>
      <p:sp>
        <p:nvSpPr>
          <p:cNvPr id="8" name="lista-1490"/>
          <p:cNvSpPr txBox="1"/>
          <p:nvPr/>
        </p:nvSpPr>
        <p:spPr>
          <a:xfrm>
            <a:off x="868680" y="2441448"/>
            <a:ext cx="2926080" cy="3547872"/>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SWEBOK · swebokwiki.org</a:t>
            </a:r>
            <a:endParaRPr lang="en-US" sz="1400" dirty="0"/>
          </a:p>
          <a:p>
            <a:pPr marL="228600" indent="-228600">
              <a:spcAft>
                <a:spcPts val="800"/>
              </a:spcAft>
              <a:buSzPct val="100000"/>
              <a:buChar char="•"/>
            </a:pPr>
            <a:r>
              <a:rPr lang="en-US" sz="1400" dirty="0">
                <a:solidFill>
                  <a:schemeClr val="tx1"/>
                </a:solidFill>
              </a:rPr>
              <a:t>UML 2.5.1 · omg.org/spec/UML</a:t>
            </a:r>
            <a:endParaRPr lang="en-US" sz="1400" dirty="0"/>
          </a:p>
          <a:p>
            <a:pPr marL="228600" indent="-228600">
              <a:spcAft>
                <a:spcPts val="800"/>
              </a:spcAft>
              <a:buSzPct val="100000"/>
              <a:buChar char="•"/>
            </a:pPr>
            <a:r>
              <a:rPr lang="en-US" sz="1400" dirty="0">
                <a:solidFill>
                  <a:schemeClr val="tx1"/>
                </a:solidFill>
              </a:rPr>
              <a:t>Modelo C4 · c4model.com</a:t>
            </a:r>
            <a:endParaRPr lang="en-US" sz="1400" dirty="0"/>
          </a:p>
          <a:p>
            <a:pPr marL="228600" indent="-228600">
              <a:spcAft>
                <a:spcPts val="800"/>
              </a:spcAft>
              <a:buSzPct val="100000"/>
              <a:buChar char="•"/>
            </a:pPr>
            <a:r>
              <a:rPr lang="en-US" sz="1400" dirty="0">
                <a:solidFill>
                  <a:schemeClr val="tx1"/>
                </a:solidFill>
              </a:rPr>
              <a:t>Hexagonal · alistair.cockburn.us</a:t>
            </a:r>
            <a:endParaRPr lang="en-US" sz="1400" dirty="0"/>
          </a:p>
          <a:p>
            <a:pPr marL="228600" indent="-228600">
              <a:spcAft>
                <a:spcPts val="800"/>
              </a:spcAft>
              <a:buSzPct val="100000"/>
              <a:buChar char="•"/>
            </a:pPr>
            <a:r>
              <a:rPr lang="en-US" sz="1400" dirty="0">
                <a:solidFill>
                  <a:schemeClr val="tx1"/>
                </a:solidFill>
              </a:rPr>
              <a:t>Patrones · martinfowler.com/eaaCatalog</a:t>
            </a:r>
            <a:endParaRPr lang="en-US" sz="1400" dirty="0"/>
          </a:p>
          <a:p>
            <a:pPr marL="228600" indent="-228600">
              <a:spcAft>
                <a:spcPts val="800"/>
              </a:spcAft>
              <a:buSzPct val="100000"/>
              <a:buChar char="•"/>
            </a:pPr>
            <a:r>
              <a:rPr lang="en-US" sz="1400" dirty="0">
                <a:solidFill>
                  <a:schemeClr val="tx1"/>
                </a:solidFill>
              </a:rPr>
              <a:t>Twelve-Factor App · 12factor.net</a:t>
            </a:r>
            <a:endParaRPr lang="en-US" sz="1400" dirty="0"/>
          </a:p>
        </p:txBody>
      </p:sp>
      <p:sp>
        <p:nvSpPr>
          <p:cNvPr id="9" name="panel-1491"/>
          <p:cNvSpPr/>
          <p:nvPr/>
        </p:nvSpPr>
        <p:spPr>
          <a:xfrm>
            <a:off x="4315968" y="1481328"/>
            <a:ext cx="3566160" cy="4690872"/>
          </a:xfrm>
          <a:prstGeom prst="roundRect">
            <a:avLst>
              <a:gd name="adj" fmla="val 2564"/>
            </a:avLst>
          </a:prstGeom>
          <a:solidFill>
            <a:schemeClr val="bg2"/>
          </a:solidFill>
          <a:ln/>
        </p:spPr>
      </p:sp>
      <p:sp>
        <p:nvSpPr>
          <p:cNvPr id="10" name="panel-cab-1492"/>
          <p:cNvSpPr/>
          <p:nvPr/>
        </p:nvSpPr>
        <p:spPr>
          <a:xfrm>
            <a:off x="4544568" y="1709928"/>
            <a:ext cx="3108960" cy="548640"/>
          </a:xfrm>
          <a:prstGeom prst="roundRect">
            <a:avLst>
              <a:gd name="adj" fmla="val 13333"/>
            </a:avLst>
          </a:prstGeom>
          <a:solidFill>
            <a:schemeClr val="accent2"/>
          </a:solidFill>
          <a:ln/>
        </p:spPr>
      </p:sp>
      <p:sp>
        <p:nvSpPr>
          <p:cNvPr id="11" name="panel-t-1493"/>
          <p:cNvSpPr txBox="1"/>
          <p:nvPr/>
        </p:nvSpPr>
        <p:spPr>
          <a:xfrm>
            <a:off x="4636008" y="1709928"/>
            <a:ext cx="2926080" cy="548640"/>
          </a:xfrm>
          <a:prstGeom prst="rect">
            <a:avLst/>
          </a:prstGeom>
          <a:noFill/>
          <a:ln/>
        </p:spPr>
        <p:txBody>
          <a:bodyPr wrap="square" lIns="0" tIns="0" rIns="0" bIns="0" rtlCol="0" anchor="ctr"/>
          <a:lstStyle/>
          <a:p>
            <a:pPr indent="0" marL="0">
              <a:buNone/>
            </a:pPr>
            <a:r>
              <a:rPr lang="en-US" sz="1800" b="1" dirty="0">
                <a:solidFill>
                  <a:schemeClr val="bg1"/>
                </a:solidFill>
              </a:rPr>
              <a:t>Proceso y equipo</a:t>
            </a:r>
            <a:endParaRPr lang="en-US" sz="1800" dirty="0"/>
          </a:p>
        </p:txBody>
      </p:sp>
      <p:sp>
        <p:nvSpPr>
          <p:cNvPr id="12" name="lista-1494"/>
          <p:cNvSpPr txBox="1"/>
          <p:nvPr/>
        </p:nvSpPr>
        <p:spPr>
          <a:xfrm>
            <a:off x="4636008" y="2441448"/>
            <a:ext cx="2926080" cy="3547872"/>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Manifiesto Ágil · agilemanifesto.org</a:t>
            </a:r>
            <a:endParaRPr lang="en-US" sz="1400" dirty="0"/>
          </a:p>
          <a:p>
            <a:pPr marL="228600" indent="-228600">
              <a:spcAft>
                <a:spcPts val="800"/>
              </a:spcAft>
              <a:buSzPct val="100000"/>
              <a:buChar char="•"/>
            </a:pPr>
            <a:r>
              <a:rPr lang="en-US" sz="1400" dirty="0">
                <a:solidFill>
                  <a:schemeClr val="tx1"/>
                </a:solidFill>
              </a:rPr>
              <a:t>Scrum Guide · scrumguides.org</a:t>
            </a:r>
            <a:endParaRPr lang="en-US" sz="1400" dirty="0"/>
          </a:p>
          <a:p>
            <a:pPr marL="228600" indent="-228600">
              <a:spcAft>
                <a:spcPts val="800"/>
              </a:spcAft>
              <a:buSzPct val="100000"/>
              <a:buChar char="•"/>
            </a:pPr>
            <a:r>
              <a:rPr lang="en-US" sz="1400" dirty="0">
                <a:solidFill>
                  <a:schemeClr val="tx1"/>
                </a:solidFill>
              </a:rPr>
              <a:t>Kanban Guide · kanbanguides.org</a:t>
            </a:r>
            <a:endParaRPr lang="en-US" sz="1400" dirty="0"/>
          </a:p>
          <a:p>
            <a:pPr marL="228600" indent="-228600">
              <a:spcAft>
                <a:spcPts val="800"/>
              </a:spcAft>
              <a:buSzPct val="100000"/>
              <a:buChar char="•"/>
            </a:pPr>
            <a:r>
              <a:rPr lang="en-US" sz="1400" dirty="0">
                <a:solidFill>
                  <a:schemeClr val="tx1"/>
                </a:solidFill>
              </a:rPr>
              <a:t>Conventional Commits · conventionalcommits.org</a:t>
            </a:r>
            <a:endParaRPr lang="en-US" sz="1400" dirty="0"/>
          </a:p>
          <a:p>
            <a:pPr marL="228600" indent="-228600">
              <a:spcAft>
                <a:spcPts val="800"/>
              </a:spcAft>
              <a:buSzPct val="100000"/>
              <a:buChar char="•"/>
            </a:pPr>
            <a:r>
              <a:rPr lang="en-US" sz="1400" dirty="0">
                <a:solidFill>
                  <a:schemeClr val="tx1"/>
                </a:solidFill>
              </a:rPr>
              <a:t>SemVer · semver.org</a:t>
            </a:r>
            <a:endParaRPr lang="en-US" sz="1400" dirty="0"/>
          </a:p>
        </p:txBody>
      </p:sp>
      <p:sp>
        <p:nvSpPr>
          <p:cNvPr id="13" name="panel-1495"/>
          <p:cNvSpPr/>
          <p:nvPr/>
        </p:nvSpPr>
        <p:spPr>
          <a:xfrm>
            <a:off x="8083296" y="1481328"/>
            <a:ext cx="3566160" cy="4690872"/>
          </a:xfrm>
          <a:prstGeom prst="roundRect">
            <a:avLst>
              <a:gd name="adj" fmla="val 2564"/>
            </a:avLst>
          </a:prstGeom>
          <a:solidFill>
            <a:schemeClr val="bg2"/>
          </a:solidFill>
          <a:ln/>
        </p:spPr>
      </p:sp>
      <p:sp>
        <p:nvSpPr>
          <p:cNvPr id="14" name="panel-cab-1496"/>
          <p:cNvSpPr/>
          <p:nvPr/>
        </p:nvSpPr>
        <p:spPr>
          <a:xfrm>
            <a:off x="8311896" y="1709928"/>
            <a:ext cx="3108960" cy="548640"/>
          </a:xfrm>
          <a:prstGeom prst="roundRect">
            <a:avLst>
              <a:gd name="adj" fmla="val 13333"/>
            </a:avLst>
          </a:prstGeom>
          <a:solidFill>
            <a:schemeClr val="accent1"/>
          </a:solidFill>
          <a:ln/>
        </p:spPr>
      </p:sp>
      <p:sp>
        <p:nvSpPr>
          <p:cNvPr id="15" name="panel-t-1497"/>
          <p:cNvSpPr txBox="1"/>
          <p:nvPr/>
        </p:nvSpPr>
        <p:spPr>
          <a:xfrm>
            <a:off x="8403336" y="1709928"/>
            <a:ext cx="2926080" cy="548640"/>
          </a:xfrm>
          <a:prstGeom prst="rect">
            <a:avLst/>
          </a:prstGeom>
          <a:noFill/>
          <a:ln/>
        </p:spPr>
        <p:txBody>
          <a:bodyPr wrap="square" lIns="0" tIns="0" rIns="0" bIns="0" rtlCol="0" anchor="ctr"/>
          <a:lstStyle/>
          <a:p>
            <a:pPr indent="0" marL="0">
              <a:buNone/>
            </a:pPr>
            <a:r>
              <a:rPr lang="en-US" sz="1800" b="1" dirty="0">
                <a:solidFill>
                  <a:schemeClr val="bg1"/>
                </a:solidFill>
              </a:rPr>
              <a:t>Tecnología y plataformas</a:t>
            </a:r>
            <a:endParaRPr lang="en-US" sz="1800" dirty="0"/>
          </a:p>
        </p:txBody>
      </p:sp>
      <p:sp>
        <p:nvSpPr>
          <p:cNvPr id="16" name="lista-1498"/>
          <p:cNvSpPr txBox="1"/>
          <p:nvPr/>
        </p:nvSpPr>
        <p:spPr>
          <a:xfrm>
            <a:off x="8403336" y="2441448"/>
            <a:ext cx="2926080" cy="3547872"/>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OWASP Top 10 · owasp.org/Top10</a:t>
            </a:r>
            <a:endParaRPr lang="en-US" sz="1400" dirty="0"/>
          </a:p>
          <a:p>
            <a:pPr marL="228600" indent="-228600">
              <a:spcAft>
                <a:spcPts val="800"/>
              </a:spcAft>
              <a:buSzPct val="100000"/>
              <a:buChar char="•"/>
            </a:pPr>
            <a:r>
              <a:rPr lang="en-US" sz="1400" dirty="0">
                <a:solidFill>
                  <a:schemeClr val="tx1"/>
                </a:solidFill>
              </a:rPr>
              <a:t>PostgreSQL: aislamiento · postgresql.org/docs</a:t>
            </a:r>
            <a:endParaRPr lang="en-US" sz="1400" dirty="0"/>
          </a:p>
          <a:p>
            <a:pPr marL="228600" indent="-228600">
              <a:spcAft>
                <a:spcPts val="800"/>
              </a:spcAft>
              <a:buSzPct val="100000"/>
              <a:buChar char="•"/>
            </a:pPr>
            <a:r>
              <a:rPr lang="en-US" sz="1400" dirty="0">
                <a:solidFill>
                  <a:schemeClr val="tx1"/>
                </a:solidFill>
              </a:rPr>
              <a:t>GitHub Actions · docs.github.com</a:t>
            </a:r>
            <a:endParaRPr lang="en-US" sz="1400" dirty="0"/>
          </a:p>
          <a:p>
            <a:pPr marL="228600" indent="-228600">
              <a:spcAft>
                <a:spcPts val="800"/>
              </a:spcAft>
              <a:buSzPct val="100000"/>
              <a:buChar char="•"/>
            </a:pPr>
            <a:r>
              <a:rPr lang="en-US" sz="1400" dirty="0">
                <a:solidFill>
                  <a:schemeClr val="tx1"/>
                </a:solidFill>
              </a:rPr>
              <a:t>Spring · docs.spring.io</a:t>
            </a:r>
            <a:endParaRPr lang="en-US" sz="1400" dirty="0"/>
          </a:p>
          <a:p>
            <a:pPr marL="228600" indent="-228600">
              <a:spcAft>
                <a:spcPts val="800"/>
              </a:spcAft>
              <a:buSzPct val="100000"/>
              <a:buChar char="•"/>
            </a:pPr>
            <a:r>
              <a:rPr lang="en-US" sz="1400" dirty="0">
                <a:solidFill>
                  <a:schemeClr val="tx1"/>
                </a:solidFill>
              </a:rPr>
              <a:t>Vercel · Supabase · DigitalOcean (documentación y precios)</a:t>
            </a:r>
            <a:endParaRPr lang="en-US" sz="1400" dirty="0"/>
          </a:p>
        </p:txBody>
      </p:sp>
      <p:sp>
        <p:nvSpPr>
          <p:cNvPr id="25" name="Slide Number Placeholder 0"/>
          <p:cNvSpPr>
            <a:spLocks noGrp="1"/>
          </p:cNvSpPr>
          <p:nvPr>
            <p:ph type="sldNum" sz="quarter" idx="4294967295"/>
          </p:nvPr>
        </p:nvSpPr>
        <p:spPr>
          <a:xfrm>
            <a:off x="1110996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11094415" cy="411480"/>
          </a:xfrm>
          <a:prstGeom prst="rect">
            <a:avLst/>
          </a:prstGeom>
          <a:noFill/>
          <a:ln/>
        </p:spPr>
        <p:txBody>
          <a:bodyPr wrap="square" rtlCol="0"/>
          <a:lstStyle/>
          <a:p>
            <a:pPr indent="0" marL="0">
              <a:buNone/>
            </a:pPr>
            <a:r>
              <a:rPr lang="en-US" sz="1600" b="1" spc="200" kern="0" dirty="0">
                <a:solidFill>
                  <a:schemeClr val="accent1"/>
                </a:solidFill>
              </a:rPr>
              <a:t>DESARROLLO DE SOFTWARE II</a:t>
            </a:r>
            <a:endParaRPr lang="en-US" sz="1600" dirty="0"/>
          </a:p>
        </p:txBody>
      </p:sp>
      <p:sp>
        <p:nvSpPr>
          <p:cNvPr id="3" name="Text 0"/>
          <p:cNvSpPr/>
          <p:nvPr>
            <p:ph idx="101" type="title" hasCustomPrompt="1"/>
          </p:nvPr>
        </p:nvSpPr>
        <p:spPr>
          <a:xfrm>
            <a:off x="548640" y="1874520"/>
            <a:ext cx="8595360" cy="1737360"/>
          </a:xfrm>
          <a:prstGeom prst="rect">
            <a:avLst/>
          </a:prstGeom>
          <a:noFill/>
          <a:ln/>
        </p:spPr>
        <p:txBody>
          <a:bodyPr wrap="square" rtlCol="0" anchor="t"/>
          <a:lstStyle/>
          <a:p>
            <a:pPr algn="l" indent="0" marL="0">
              <a:buNone/>
            </a:pPr>
            <a:r>
              <a:rPr lang="en-US" sz="5400" b="1" dirty="0">
                <a:solidFill>
                  <a:schemeClr val="bg1"/>
                </a:solidFill>
              </a:rPr>
              <a:t>Preguntas</a:t>
            </a:r>
            <a:endParaRPr lang="en-US" sz="5400" dirty="0"/>
          </a:p>
        </p:txBody>
      </p:sp>
      <p:sp>
        <p:nvSpPr>
          <p:cNvPr id="4" name="Text 0"/>
          <p:cNvSpPr/>
          <p:nvPr>
            <p:ph idx="102" type="body" hasCustomPrompt="1"/>
          </p:nvPr>
        </p:nvSpPr>
        <p:spPr>
          <a:xfrm>
            <a:off x="548640" y="3749040"/>
            <a:ext cx="9601200" cy="1463040"/>
          </a:xfrm>
          <a:prstGeom prst="rect">
            <a:avLst/>
          </a:prstGeom>
          <a:noFill/>
          <a:ln/>
        </p:spPr>
        <p:txBody>
          <a:bodyPr wrap="square" rtlCol="0" anchor="t"/>
          <a:lstStyle/>
          <a:p>
            <a:pPr indent="0" marL="0">
              <a:buNone/>
            </a:pPr>
            <a:r>
              <a:rPr lang="en-US" sz="2200" dirty="0">
                <a:solidFill>
                  <a:srgbClr val="D6DEEA"/>
                </a:solidFill>
              </a:rPr>
              <a:t>El código está en clase-03-crud · Guías en docs/</a:t>
            </a:r>
            <a:endParaRPr lang="en-US" sz="2200" dirty="0"/>
          </a:p>
          <a:p>
            <a:pPr indent="0" marL="0">
              <a:buNone/>
            </a:pPr>
            <a:r>
              <a:rPr lang="en-US" sz="2200" dirty="0">
                <a:solidFill>
                  <a:srgbClr val="D6DEEA"/>
                </a:solidFill>
              </a:rPr>
              <a:t>Primero lo general, luego el proyecto: cada tema deja una evidencia</a:t>
            </a:r>
            <a:endParaRPr lang="en-US" sz="2200" dirty="0"/>
          </a:p>
        </p:txBody>
      </p:sp>
      <p:sp>
        <p:nvSpPr>
          <p:cNvPr id="5" name="motivo-1499"/>
          <p:cNvSpPr/>
          <p:nvPr/>
        </p:nvSpPr>
        <p:spPr>
          <a:xfrm>
            <a:off x="9464040" y="548640"/>
            <a:ext cx="640080" cy="1737360"/>
          </a:xfrm>
          <a:prstGeom prst="roundRect">
            <a:avLst>
              <a:gd name="adj" fmla="val 11429"/>
            </a:avLst>
          </a:prstGeom>
          <a:solidFill>
            <a:schemeClr val="accent1"/>
          </a:solidFill>
          <a:ln/>
        </p:spPr>
      </p:sp>
      <p:sp>
        <p:nvSpPr>
          <p:cNvPr id="6" name="motivo-1500"/>
          <p:cNvSpPr/>
          <p:nvPr/>
        </p:nvSpPr>
        <p:spPr>
          <a:xfrm>
            <a:off x="10241280" y="548640"/>
            <a:ext cx="640080" cy="1325880"/>
          </a:xfrm>
          <a:prstGeom prst="roundRect">
            <a:avLst>
              <a:gd name="adj" fmla="val 11429"/>
            </a:avLst>
          </a:prstGeom>
          <a:solidFill>
            <a:schemeClr val="accent2"/>
          </a:solidFill>
          <a:ln/>
        </p:spPr>
      </p:sp>
      <p:sp>
        <p:nvSpPr>
          <p:cNvPr id="7" name="motivo-1501"/>
          <p:cNvSpPr/>
          <p:nvPr/>
        </p:nvSpPr>
        <p:spPr>
          <a:xfrm>
            <a:off x="11018520" y="548640"/>
            <a:ext cx="640080" cy="914400"/>
          </a:xfrm>
          <a:prstGeom prst="roundRect">
            <a:avLst>
              <a:gd name="adj" fmla="val 11429"/>
            </a:avLst>
          </a:prstGeom>
          <a:solidFill>
            <a:schemeClr val="accent3"/>
          </a:solidFill>
          <a:ln/>
        </p:spPr>
      </p:sp>
    </p:spTree>
  </p:cSld>
  <p:clrMapOvr>
    <a:masterClrMapping/>
  </p:clrMapOvr>
</p:sld>
</file>

<file path=ppt/theme/theme1.xml><?xml version="1.0" encoding="utf-8"?>
<a:theme xmlns:a="http://schemas.openxmlformats.org/drawingml/2006/main" name="IPSS Desarrollo de Software">
  <a:themeElements>
    <a:clrScheme name="IPSS Desarrollo de Software">
      <a:dk1>
        <a:srgbClr val="1B2433"/>
      </a:dk1>
      <a:lt1>
        <a:srgbClr val="FFFFFF"/>
      </a:lt1>
      <a:dk2>
        <a:srgbClr val="14213D"/>
      </a:dk2>
      <a:lt2>
        <a:srgbClr val="EEF2F8"/>
      </a:lt2>
      <a:accent1>
        <a:srgbClr val="E63946"/>
      </a:accent1>
      <a:accent2>
        <a:srgbClr val="2A9D8F"/>
      </a:accent2>
      <a:accent3>
        <a:srgbClr val="E9A23B"/>
      </a:accent3>
      <a:accent4>
        <a:srgbClr val="457B9D"/>
      </a:accent4>
      <a:accent5>
        <a:srgbClr val="6B7385"/>
      </a:accent5>
      <a:accent6>
        <a:srgbClr val="7B6CB0"/>
      </a:accent6>
      <a:hlink>
        <a:srgbClr val="457B9D"/>
      </a:hlink>
      <a:folHlink>
        <a:srgbClr val="7B6CB0"/>
      </a:folHlink>
    </a:clrScheme>
    <a:fontScheme name="IPSS Desarrollo de Softwa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117</Slides>
  <Notes>117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117</vt:i4>
      </vt:variant>
    </vt:vector>
  </HeadingPairs>
  <TitlesOfParts>
    <vt:vector size="1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Desarrollo de software: teoría, práctica y proyecto Kanban</dc:title>
  <dc:subject>PptxGenJS Presentation</dc:subject>
  <dc:creator>Desarrollo de Software II · IPSS</dc:creator>
  <cp:lastModifiedBy>Desarrollo de Software II · IPSS</cp:lastModifiedBy>
  <cp:revision>1</cp:revision>
  <dcterms:created xsi:type="dcterms:W3CDTF">2026-10-26T05:30:01Z</dcterms:created>
  <dcterms:modified xsi:type="dcterms:W3CDTF">2026-10-26T05:30:01Z</dcterms:modified>
</cp:coreProperties>
</file>